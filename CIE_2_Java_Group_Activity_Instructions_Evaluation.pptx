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CIE–2: Group Activity – Java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Skill Development Laboratory using Java | SE IT A &amp; B | 20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Course: Skill Development Laboratory using Java</a:t>
            </a:r>
          </a:p>
          <a:p>
            <a:pPr>
              <a:spcAft>
                <a:spcPts val="800"/>
              </a:spcAft>
              <a:defRPr sz="2100"/>
            </a:pPr>
            <a:r>
              <a:t>CIE–2 is based on Unit III &amp; Unit IV</a:t>
            </a:r>
          </a:p>
          <a:p>
            <a:pPr>
              <a:spcAft>
                <a:spcPts val="800"/>
              </a:spcAft>
              <a:defRPr sz="2100"/>
            </a:pPr>
            <a:r>
              <a:t>Assessment mode: Group activity + Program demonstration + Individual Viva</a:t>
            </a:r>
          </a:p>
          <a:p>
            <a:pPr>
              <a:spcAft>
                <a:spcPts val="800"/>
              </a:spcAft>
              <a:defRPr sz="2100"/>
            </a:pPr>
            <a:r>
              <a:t>Group size: 4–5 students</a:t>
            </a:r>
          </a:p>
          <a:p>
            <a:pPr>
              <a:spcAft>
                <a:spcPts val="800"/>
              </a:spcAft>
              <a:defRPr sz="2100"/>
            </a:pPr>
            <a:r>
              <a:t>Total marks: 20</a:t>
            </a:r>
          </a:p>
          <a:p>
            <a:pPr>
              <a:spcAft>
                <a:spcPts val="800"/>
              </a:spcAft>
              <a:defRPr sz="2100"/>
            </a:pPr>
            <a:r>
              <a:t>Focus: Apply Java concepts to solve a practical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Students Have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Form a group of 4–5 students.</a:t>
            </a:r>
          </a:p>
          <a:p>
            <a:pPr>
              <a:spcAft>
                <a:spcPts val="800"/>
              </a:spcAft>
              <a:defRPr sz="2000"/>
            </a:pPr>
            <a:r>
              <a:t>Select one practical problem/application suitable for Java.</a:t>
            </a:r>
          </a:p>
          <a:p>
            <a:pPr>
              <a:spcAft>
                <a:spcPts val="800"/>
              </a:spcAft>
              <a:defRPr sz="2000"/>
            </a:pPr>
            <a:r>
              <a:t>Design the solution using concepts from Unit III &amp; IV.</a:t>
            </a:r>
          </a:p>
          <a:p>
            <a:pPr>
              <a:spcAft>
                <a:spcPts val="800"/>
              </a:spcAft>
              <a:defRPr sz="2000"/>
            </a:pPr>
            <a:r>
              <a:t>Implement a working Java program/application.</a:t>
            </a:r>
          </a:p>
          <a:p>
            <a:pPr>
              <a:spcAft>
                <a:spcPts val="800"/>
              </a:spcAft>
              <a:defRPr sz="2000"/>
            </a:pPr>
            <a:r>
              <a:t>Demonstrate the application before the faculty.</a:t>
            </a:r>
          </a:p>
          <a:p>
            <a:pPr>
              <a:spcAft>
                <a:spcPts val="800"/>
              </a:spcAft>
              <a:defRPr sz="2000"/>
            </a:pPr>
            <a:r>
              <a:t>Explain the code, logic and Java concepts used.</a:t>
            </a:r>
          </a:p>
          <a:p>
            <a:pPr>
              <a:spcAft>
                <a:spcPts val="800"/>
              </a:spcAft>
              <a:defRPr sz="2000"/>
            </a:pPr>
            <a:r>
              <a:t>Every member must understand the complete project because individual viva will be conducted.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Mandatory Java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Polymorphism – method overloading / method overriding</a:t>
            </a:r>
          </a:p>
          <a:p>
            <a:pPr>
              <a:spcAft>
                <a:spcPts val="800"/>
              </a:spcAft>
              <a:defRPr sz="2000"/>
            </a:pPr>
            <a:r>
              <a:t>Interfaces – define common behaviour and implement it</a:t>
            </a:r>
          </a:p>
          <a:p>
            <a:pPr>
              <a:spcAft>
                <a:spcPts val="800"/>
              </a:spcAft>
              <a:defRPr sz="2000"/>
            </a:pPr>
            <a:r>
              <a:t>Abstract classes – common structure + abstract methods</a:t>
            </a:r>
          </a:p>
          <a:p>
            <a:pPr>
              <a:spcAft>
                <a:spcPts val="800"/>
              </a:spcAft>
              <a:defRPr sz="2000"/>
            </a:pPr>
            <a:r>
              <a:t>Exception Handling – try, catch, finally, throw/throws</a:t>
            </a:r>
          </a:p>
          <a:p>
            <a:pPr>
              <a:spcAft>
                <a:spcPts val="800"/>
              </a:spcAft>
              <a:defRPr sz="2000"/>
            </a:pPr>
            <a:r>
              <a:t>Students should use concepts meaningfully, not just add them artificially.</a:t>
            </a:r>
          </a:p>
          <a:p>
            <a:pPr>
              <a:spcAft>
                <a:spcPts val="800"/>
              </a:spcAft>
              <a:defRPr sz="2000"/>
            </a:pPr>
            <a:r>
              <a:t>The application should demonstrate a clear problem-solving approach.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Suggested Problem Statements – Examples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Application /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Possible Java Concepts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Bank Account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Inheritance, overriding, interface, exceptions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Student Result &amp; Grade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Polymorphism, abstract class, exceptions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Library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Interface, polymorphism, exception handling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Online Shopping / Cart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Interfaces, overriding, exceptions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Hospital / Patient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Abstract class, interface, exceptions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Vehicle Rental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Inheritance, polymorphism, interface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Employee Payroll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Abstract class, overriding, exception handling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Quiz / Examination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Interface, polymorphism, input validation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Example: Bank Account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Problem: Develop a Java application to manage Savings and Current accounts.</a:t>
            </a:r>
          </a:p>
          <a:p>
            <a:pPr>
              <a:spcAft>
                <a:spcPts val="800"/>
              </a:spcAft>
              <a:defRPr sz="1800"/>
            </a:pPr>
            <a:r>
              <a:t>Abstract class: Account → common account details and operations.</a:t>
            </a:r>
          </a:p>
          <a:p>
            <a:pPr>
              <a:spcAft>
                <a:spcPts val="800"/>
              </a:spcAft>
              <a:defRPr sz="1800"/>
            </a:pPr>
            <a:r>
              <a:t>Inheritance: SavingsAccount and CurrentAccount extend Account.</a:t>
            </a:r>
          </a:p>
          <a:p>
            <a:pPr>
              <a:spcAft>
                <a:spcPts val="800"/>
              </a:spcAft>
              <a:defRPr sz="1800"/>
            </a:pPr>
            <a:r>
              <a:t>Polymorphism: override calculateInterest() or withdraw() according to account type.</a:t>
            </a:r>
          </a:p>
          <a:p>
            <a:pPr>
              <a:spcAft>
                <a:spcPts val="800"/>
              </a:spcAft>
              <a:defRPr sz="1800"/>
            </a:pPr>
            <a:r>
              <a:t>Interface: TransactionOperations → deposit(), withdraw(), transfer().</a:t>
            </a:r>
          </a:p>
          <a:p>
            <a:pPr>
              <a:spcAft>
                <a:spcPts val="800"/>
              </a:spcAft>
              <a:defRPr sz="1800"/>
            </a:pPr>
            <a:r>
              <a:t>Exception handling: insufficient balance, invalid amount and invalid account number.</a:t>
            </a:r>
          </a:p>
          <a:p>
            <a:pPr>
              <a:spcAft>
                <a:spcPts val="800"/>
              </a:spcAft>
              <a:defRPr sz="1800"/>
            </a:pPr>
            <a:r>
              <a:t>Demonstration: create account → deposit → withdraw → transfer → display balance.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Example: Student Result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Input student details and marks for multiple subjects.</a:t>
            </a:r>
          </a:p>
          <a:p>
            <a:pPr>
              <a:spcAft>
                <a:spcPts val="800"/>
              </a:spcAft>
              <a:defRPr sz="1800"/>
            </a:pPr>
            <a:r>
              <a:t>Abstract class StudentResult contains common result operations.</a:t>
            </a:r>
          </a:p>
          <a:p>
            <a:pPr>
              <a:spcAft>
                <a:spcPts val="800"/>
              </a:spcAft>
              <a:defRPr sz="1800"/>
            </a:pPr>
            <a:r>
              <a:t>Interface GradeCalculator defines calculateGrade().</a:t>
            </a:r>
          </a:p>
          <a:p>
            <a:pPr>
              <a:spcAft>
                <a:spcPts val="800"/>
              </a:spcAft>
              <a:defRPr sz="1800"/>
            </a:pPr>
            <a:r>
              <a:t>Polymorphism: different grading rules can be implemented for UG/PG or different categories.</a:t>
            </a:r>
          </a:p>
          <a:p>
            <a:pPr>
              <a:spcAft>
                <a:spcPts val="800"/>
              </a:spcAft>
              <a:defRPr sz="1800"/>
            </a:pPr>
            <a:r>
              <a:t>Exception handling: marks below 0 or above 100 should generate an appropriate exception.</a:t>
            </a:r>
          </a:p>
          <a:p>
            <a:pPr>
              <a:spcAft>
                <a:spcPts val="800"/>
              </a:spcAft>
              <a:defRPr sz="1800"/>
            </a:pPr>
            <a:r>
              <a:t>Output: total, percentage, grade and pass/fail status.</a:t>
            </a:r>
          </a:p>
          <a:p>
            <a:pPr>
              <a:spcAft>
                <a:spcPts val="800"/>
              </a:spcAft>
              <a:defRPr sz="1800"/>
            </a:pPr>
            <a:r>
              <a:t>This is only an example; groups may select another approved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Student Instructions – Before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Discuss the problem within the group and clearly define the objective.</a:t>
            </a:r>
          </a:p>
          <a:p>
            <a:pPr>
              <a:spcAft>
                <a:spcPts val="800"/>
              </a:spcAft>
              <a:defRPr sz="1900"/>
            </a:pPr>
            <a:r>
              <a:t>Prepare a short problem statement and list functional requirements.</a:t>
            </a:r>
          </a:p>
          <a:p>
            <a:pPr>
              <a:spcAft>
                <a:spcPts val="800"/>
              </a:spcAft>
              <a:defRPr sz="1900"/>
            </a:pPr>
            <a:r>
              <a:t>Identify where abstract class, interface, polymorphism and exception handling will be used.</a:t>
            </a:r>
          </a:p>
          <a:p>
            <a:pPr>
              <a:spcAft>
                <a:spcPts val="800"/>
              </a:spcAft>
              <a:defRPr sz="1900"/>
            </a:pPr>
            <a:r>
              <a:t>Prepare class/interface design before coding.</a:t>
            </a:r>
          </a:p>
          <a:p>
            <a:pPr>
              <a:spcAft>
                <a:spcPts val="800"/>
              </a:spcAft>
              <a:defRPr sz="1900"/>
            </a:pPr>
            <a:r>
              <a:t>Divide work among members, but ensure everyone understands the complete program.</a:t>
            </a:r>
          </a:p>
          <a:p>
            <a:pPr>
              <a:spcAft>
                <a:spcPts val="800"/>
              </a:spcAft>
              <a:defRPr sz="1900"/>
            </a:pPr>
            <a:r>
              <a:t>Use meaningful class, method and variable names.</a:t>
            </a:r>
          </a:p>
          <a:p>
            <a:pPr>
              <a:spcAft>
                <a:spcPts val="800"/>
              </a:spcAft>
              <a:defRPr sz="1900"/>
            </a:pPr>
            <a:r>
              <a:t>Do not copy a complete project from the Internet. Be ready to explain every part of your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to Submit / Bring for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Problem statement – 1 short paragraph</a:t>
            </a:r>
          </a:p>
          <a:p>
            <a:pPr>
              <a:spcAft>
                <a:spcPts val="800"/>
              </a:spcAft>
              <a:defRPr sz="1800"/>
            </a:pPr>
            <a:r>
              <a:t>2. List of group members with roll numbers</a:t>
            </a:r>
          </a:p>
          <a:p>
            <a:pPr>
              <a:spcAft>
                <a:spcPts val="800"/>
              </a:spcAft>
              <a:defRPr sz="1800"/>
            </a:pPr>
            <a:r>
              <a:t>3. Objectives of the application</a:t>
            </a:r>
          </a:p>
          <a:p>
            <a:pPr>
              <a:spcAft>
                <a:spcPts val="800"/>
              </a:spcAft>
              <a:defRPr sz="1800"/>
            </a:pPr>
            <a:r>
              <a:t>4. Class / interface design or simple UML/class diagram</a:t>
            </a:r>
          </a:p>
          <a:p>
            <a:pPr>
              <a:spcAft>
                <a:spcPts val="800"/>
              </a:spcAft>
              <a:defRPr sz="1800"/>
            </a:pPr>
            <a:r>
              <a:t>5. Java source code</a:t>
            </a:r>
          </a:p>
          <a:p>
            <a:pPr>
              <a:spcAft>
                <a:spcPts val="800"/>
              </a:spcAft>
              <a:defRPr sz="1800"/>
            </a:pPr>
            <a:r>
              <a:t>6. Sample input and output / screenshots</a:t>
            </a:r>
          </a:p>
          <a:p>
            <a:pPr>
              <a:spcAft>
                <a:spcPts val="800"/>
              </a:spcAft>
              <a:defRPr sz="1800"/>
            </a:pPr>
            <a:r>
              <a:t>7. Short explanation of concepts used</a:t>
            </a:r>
          </a:p>
          <a:p>
            <a:pPr>
              <a:spcAft>
                <a:spcPts val="800"/>
              </a:spcAft>
              <a:defRPr sz="1800"/>
            </a:pPr>
            <a:r>
              <a:t>8. Working program for live demonstration</a:t>
            </a:r>
          </a:p>
          <a:p>
            <a:pPr>
              <a:spcAft>
                <a:spcPts val="800"/>
              </a:spcAft>
              <a:defRPr sz="1800"/>
            </a:pPr>
            <a:r>
              <a:t>9. Each student should be prepared for individual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Demonstration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Maximum recommended demonstration time: 8–10 minutes per group.</a:t>
            </a:r>
          </a:p>
          <a:p>
            <a:pPr>
              <a:spcAft>
                <a:spcPts val="800"/>
              </a:spcAft>
              <a:defRPr sz="1800"/>
            </a:pPr>
            <a:r>
              <a:t>Start with problem statement and objective.</a:t>
            </a:r>
          </a:p>
          <a:p>
            <a:pPr>
              <a:spcAft>
                <a:spcPts val="800"/>
              </a:spcAft>
              <a:defRPr sz="1800"/>
            </a:pPr>
            <a:r>
              <a:t>Briefly explain the design and Java concepts used.</a:t>
            </a:r>
          </a:p>
          <a:p>
            <a:pPr>
              <a:spcAft>
                <a:spcPts val="800"/>
              </a:spcAft>
              <a:defRPr sz="1800"/>
            </a:pPr>
            <a:r>
              <a:t>Run the program with valid input.</a:t>
            </a:r>
          </a:p>
          <a:p>
            <a:pPr>
              <a:spcAft>
                <a:spcPts val="800"/>
              </a:spcAft>
              <a:defRPr sz="1800"/>
            </a:pPr>
            <a:r>
              <a:t>Show at least one invalid-input/exception scenario where applicable.</a:t>
            </a:r>
          </a:p>
          <a:p>
            <a:pPr>
              <a:spcAft>
                <a:spcPts val="800"/>
              </a:spcAft>
              <a:defRPr sz="1800"/>
            </a:pPr>
            <a:r>
              <a:t>Demonstrate the important features rather than reading the entire code.</a:t>
            </a:r>
          </a:p>
          <a:p>
            <a:pPr>
              <a:spcAft>
                <a:spcPts val="800"/>
              </a:spcAft>
              <a:defRPr sz="1800"/>
            </a:pPr>
            <a:r>
              <a:t>Faculty may ask any member to explain any class, method or concept.</a:t>
            </a:r>
          </a:p>
          <a:p>
            <a:pPr>
              <a:spcAft>
                <a:spcPts val="800"/>
              </a:spcAft>
              <a:defRPr sz="1800"/>
            </a:pPr>
            <a:r>
              <a:t>Individual viva performance will be considered for individual contribution.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Criteria – 20 Marks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44582">
                <a:tc>
                  <a:txBody>
                    <a:bodyPr/>
                    <a:lstStyle/>
                    <a:p>
                      <a:pPr algn="ctr">
                        <a:defRPr b="1" sz="1300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300"/>
                      </a:pPr>
                      <a:r>
                        <a:t>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300"/>
                      </a:pPr>
                      <a:r>
                        <a:t>What will be checked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Problem understanding &amp;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Clarity, relevance and defined requirements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 of Java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Polymorphism, interfaces, abstract class, exception handling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Program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Correctness, logic, functionality and output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Demonstration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Working application and explanation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Individual Viva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Conceptual understanding and individual contribution</a:t>
                      </a:r>
                    </a:p>
                  </a:txBody>
                  <a:tcPr/>
                </a:tc>
              </a:tr>
              <a:tr h="74458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 quality /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Readability, naming, structure and brief documentation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Rubric: Use of Java Concepts – 6 Marks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Marks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Concepts are correctly implemented, well integrated and clearly explained.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5–6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Most required concepts are correctly implemented with minor issues.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3–4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Needs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Limited/incorrect use of concepts; weak explanation.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1–2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Not Demonstrated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Required concepts are absent or student cannot explain them.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Individual Viva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Why did you use an abstract class in your application?</a:t>
            </a:r>
          </a:p>
          <a:p>
            <a:pPr>
              <a:spcAft>
                <a:spcPts val="800"/>
              </a:spcAft>
              <a:defRPr sz="1800"/>
            </a:pPr>
            <a:r>
              <a:t>Where is polymorphism used? Explain with the relevant method/class.</a:t>
            </a:r>
          </a:p>
          <a:p>
            <a:pPr>
              <a:spcAft>
                <a:spcPts val="800"/>
              </a:spcAft>
              <a:defRPr sz="1800"/>
            </a:pPr>
            <a:r>
              <a:t>What is the difference between an interface and an abstract class?</a:t>
            </a:r>
          </a:p>
          <a:p>
            <a:pPr>
              <a:spcAft>
                <a:spcPts val="800"/>
              </a:spcAft>
              <a:defRPr sz="1800"/>
            </a:pPr>
            <a:r>
              <a:t>Why did you create this interface?</a:t>
            </a:r>
          </a:p>
          <a:p>
            <a:pPr>
              <a:spcAft>
                <a:spcPts val="800"/>
              </a:spcAft>
              <a:defRPr sz="1800"/>
            </a:pPr>
            <a:r>
              <a:t>What exception can occur in your application and how is it handled?</a:t>
            </a:r>
          </a:p>
          <a:p>
            <a:pPr>
              <a:spcAft>
                <a:spcPts val="800"/>
              </a:spcAft>
              <a:defRPr sz="1800"/>
            </a:pPr>
            <a:r>
              <a:t>What is the purpose of try, catch and finally?</a:t>
            </a:r>
          </a:p>
          <a:p>
            <a:pPr>
              <a:spcAft>
                <a:spcPts val="800"/>
              </a:spcAft>
              <a:defRPr sz="1800"/>
            </a:pPr>
            <a:r>
              <a:t>Which part of the program did you implement?</a:t>
            </a:r>
          </a:p>
          <a:p>
            <a:pPr>
              <a:spcAft>
                <a:spcPts val="800"/>
              </a:spcAft>
              <a:defRPr sz="1800"/>
            </a:pPr>
            <a:r>
              <a:t>If one requirement changes, which class/method would you modify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Do's and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DO: Write your own code and understand every line you submit.</a:t>
            </a:r>
          </a:p>
          <a:p>
            <a:pPr>
              <a:spcAft>
                <a:spcPts val="800"/>
              </a:spcAft>
              <a:defRPr sz="1800"/>
            </a:pPr>
            <a:r>
              <a:t>DO: Test the application before demonstration.</a:t>
            </a:r>
          </a:p>
          <a:p>
            <a:pPr>
              <a:spcAft>
                <a:spcPts val="800"/>
              </a:spcAft>
              <a:defRPr sz="1800"/>
            </a:pPr>
            <a:r>
              <a:t>DO: Keep backup of source code and presentation/material.</a:t>
            </a:r>
          </a:p>
          <a:p>
            <a:pPr>
              <a:spcAft>
                <a:spcPts val="800"/>
              </a:spcAft>
              <a:defRPr sz="1800"/>
            </a:pPr>
            <a:r>
              <a:t>DO: Ensure every group member participates.</a:t>
            </a:r>
          </a:p>
          <a:p>
            <a:pPr>
              <a:spcAft>
                <a:spcPts val="800"/>
              </a:spcAft>
              <a:defRPr sz="1800"/>
            </a:pPr>
            <a:r>
              <a:t>DO: Use meaningful examples and realistic input.</a:t>
            </a:r>
          </a:p>
          <a:p>
            <a:pPr>
              <a:spcAft>
                <a:spcPts val="800"/>
              </a:spcAft>
              <a:defRPr sz="1800"/>
            </a:pPr>
            <a:r>
              <a:t>DON'T: Submit copied code that you cannot explain.</a:t>
            </a:r>
          </a:p>
          <a:p>
            <a:pPr>
              <a:spcAft>
                <a:spcPts val="800"/>
              </a:spcAft>
              <a:defRPr sz="1800"/>
            </a:pPr>
            <a:r>
              <a:t>DON'T: Use concepts only for namesake.</a:t>
            </a:r>
          </a:p>
          <a:p>
            <a:pPr>
              <a:spcAft>
                <a:spcPts val="800"/>
              </a:spcAft>
              <a:defRPr sz="1800"/>
            </a:pPr>
            <a:r>
              <a:t>DON'T: Allow only one member to do the entire implementation.</a:t>
            </a:r>
          </a:p>
          <a:p>
            <a:pPr>
              <a:spcAft>
                <a:spcPts val="800"/>
              </a:spcAft>
              <a:defRPr sz="1800"/>
            </a:pPr>
            <a:r>
              <a:t>DON'T: Depend on the Internet during viva for basic explanations.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Step 1 → Form group &amp; select problem</a:t>
            </a:r>
          </a:p>
          <a:p>
            <a:pPr>
              <a:spcAft>
                <a:spcPts val="800"/>
              </a:spcAft>
              <a:defRPr sz="2000"/>
            </a:pPr>
            <a:r>
              <a:t>Step 2 → Get problem statement approved</a:t>
            </a:r>
          </a:p>
          <a:p>
            <a:pPr>
              <a:spcAft>
                <a:spcPts val="800"/>
              </a:spcAft>
              <a:defRPr sz="2000"/>
            </a:pPr>
            <a:r>
              <a:t>Step 3 → Identify required Java concepts</a:t>
            </a:r>
          </a:p>
          <a:p>
            <a:pPr>
              <a:spcAft>
                <a:spcPts val="800"/>
              </a:spcAft>
              <a:defRPr sz="2000"/>
            </a:pPr>
            <a:r>
              <a:t>Step 4 → Prepare class/interface design</a:t>
            </a:r>
          </a:p>
          <a:p>
            <a:pPr>
              <a:spcAft>
                <a:spcPts val="800"/>
              </a:spcAft>
              <a:defRPr sz="2000"/>
            </a:pPr>
            <a:r>
              <a:t>Step 5 → Implement and test</a:t>
            </a:r>
          </a:p>
          <a:p>
            <a:pPr>
              <a:spcAft>
                <a:spcPts val="800"/>
              </a:spcAft>
              <a:defRPr sz="2000"/>
            </a:pPr>
            <a:r>
              <a:t>Step 6 → Prepare demonstration &amp; sample outputs</a:t>
            </a:r>
          </a:p>
          <a:p>
            <a:pPr>
              <a:spcAft>
                <a:spcPts val="800"/>
              </a:spcAft>
              <a:defRPr sz="2000"/>
            </a:pPr>
            <a:r>
              <a:t>Step 7 → Rehearse individual explanations</a:t>
            </a:r>
          </a:p>
          <a:p>
            <a:pPr>
              <a:spcAft>
                <a:spcPts val="800"/>
              </a:spcAft>
              <a:defRPr sz="2000"/>
            </a:pPr>
            <a:r>
              <a:t>Step 8 → Final demonstration +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Message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/>
            </a:pPr>
            <a:r>
              <a:t>This is not only a coding activity—it is an application of Java concepts to a real problem.</a:t>
            </a:r>
          </a:p>
          <a:p>
            <a:pPr>
              <a:spcAft>
                <a:spcPts val="800"/>
              </a:spcAft>
              <a:defRPr sz="2300"/>
            </a:pPr>
            <a:r>
              <a:t>Marks will be based on both the group's application and each student's individual understanding.</a:t>
            </a:r>
          </a:p>
          <a:p>
            <a:pPr>
              <a:spcAft>
                <a:spcPts val="800"/>
              </a:spcAft>
              <a:defRPr sz="2300"/>
            </a:pPr>
            <a:r>
              <a:t>Every student must be able to explain the design, code and Java concepts used.</a:t>
            </a:r>
          </a:p>
          <a:p>
            <a:pPr>
              <a:spcAft>
                <a:spcPts val="800"/>
              </a:spcAft>
              <a:defRPr sz="2300"/>
            </a:pPr>
            <a:r>
              <a:t>Focus on: Correctness + Concept Application + Demonstration + Viva</a:t>
            </a:r>
          </a:p>
          <a:p>
            <a:pPr>
              <a:spcAft>
                <a:spcPts val="800"/>
              </a:spcAft>
              <a:defRPr sz="2300"/>
            </a:pPr>
            <a:r>
              <a:t>Prepare well and demonstrate confidently!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/>
            </a:pPr>
            <a:r>
              <a:t>Army Institute of Technology, Pune | Department of Information Technology | CIE–2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