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B365D"/>
                </a:solidFill>
                <a:latin typeface="Arial"/>
              </a:defRPr>
            </a:pPr>
            <a:r>
              <a:t>ARMY INSTITUTE OF TECHNOLOGY (AIT), PUNE • DEPARTMENT OF IT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Skill Development Laboratory using Java (BIT25434A0X) | Continuous Internal Evaluation 2 (CIE-2)</a:t>
            </a:r>
          </a:p>
        </p:txBody>
      </p:sp>
      <p:pic>
        <p:nvPicPr>
          <p:cNvPr id="5" name="Picture 4" descr="ait_ba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411480"/>
            <a:ext cx="960120" cy="960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71600"/>
            <a:ext cx="10728655" cy="14630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182880"/>
          <a:lstStyle/>
          <a:p>
            <a:pPr algn="ctr">
              <a:defRPr sz="2600" b="1">
                <a:solidFill>
                  <a:srgbClr val="FFFFFF"/>
                </a:solidFill>
                <a:latin typeface="Arial"/>
              </a:defRPr>
            </a:pPr>
            <a:r>
              <a:t>ONLINE QUIZ MANAGEMENT SYSTEM</a:t>
            </a:r>
          </a:p>
          <a:p>
            <a:pPr>
              <a:spcAft>
                <a:spcPts val="4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A Fault-Tolerant, Dual-Grading Academic Assessment Platform in Java SE &amp; Glassmorphism Web UI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Class: SE IT B  •  Course In-charge / Examiner: Mrs. Trupti Najan  •  Academic Year: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71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B365D"/>
                </a:solidFill>
                <a:latin typeface="Arial"/>
              </a:defRPr>
            </a:pPr>
            <a:r>
              <a:t>PROJECT TEAM MEMBERS &amp; WORK DISTRIBUTION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37560"/>
            <a:ext cx="2542032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46304"/>
          <a:lstStyle/>
          <a:p>
            <a:pPr algn="ctr">
              <a:spcAft>
                <a:spcPts val="200"/>
              </a:spcAft>
              <a:defRPr sz="850" b="1">
                <a:solidFill>
                  <a:srgbClr val="EA580C"/>
                </a:solidFill>
                <a:latin typeface="Arial"/>
              </a:defRPr>
            </a:pPr>
            <a:r>
              <a:t>GROUP LEADER</a:t>
            </a:r>
          </a:p>
          <a:p>
            <a:pPr>
              <a:defRPr sz="1300" b="1">
                <a:solidFill>
                  <a:srgbClr val="1B365D"/>
                </a:solidFill>
                <a:latin typeface="Arial"/>
              </a:defRPr>
            </a:pPr>
            <a:r>
              <a:t>Aditya Yadav</a:t>
            </a:r>
          </a:p>
          <a:p>
            <a:pPr>
              <a:spcAft>
                <a:spcPts val="500"/>
              </a:spcAft>
              <a:defRPr sz="950" b="1">
                <a:solidFill>
                  <a:srgbClr val="64748B"/>
                </a:solidFill>
                <a:latin typeface="Arial"/>
              </a:defRPr>
            </a:pPr>
            <a:r>
              <a:t>Roll No: 8108 • SE IT B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Role: </a:t>
            </a:r>
            <a:r>
              <a:rPr sz="850">
                <a:solidFill>
                  <a:srgbClr val="334155"/>
                </a:solidFill>
                <a:latin typeface="Arial"/>
              </a:rPr>
              <a:t>System Architect &amp; Integration Lead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Interfaces: </a:t>
            </a:r>
            <a:r>
              <a:rPr sz="850">
                <a:solidFill>
                  <a:srgbClr val="334155"/>
                </a:solidFill>
                <a:latin typeface="Arial"/>
              </a:rPr>
              <a:t>QuizOperations &amp; QuizEvaluator contracts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Patterns: </a:t>
            </a:r>
            <a:r>
              <a:rPr sz="850">
                <a:solidFill>
                  <a:srgbClr val="334155"/>
                </a:solidFill>
                <a:latin typeface="Arial"/>
              </a:rPr>
              <a:t>Strategy Pattern &amp; Polymorphic binding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Coordination: </a:t>
            </a:r>
            <a:r>
              <a:rPr sz="850">
                <a:solidFill>
                  <a:srgbClr val="334155"/>
                </a:solidFill>
                <a:latin typeface="Arial"/>
              </a:rPr>
              <a:t>Submission alignment &amp; Rubric compliance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3337560"/>
            <a:ext cx="2542032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46304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CORE DEVELOPER</a:t>
            </a:r>
          </a:p>
          <a:p>
            <a:pPr>
              <a:defRPr sz="1300" b="1">
                <a:solidFill>
                  <a:srgbClr val="1B365D"/>
                </a:solidFill>
                <a:latin typeface="Arial"/>
              </a:defRPr>
            </a:pPr>
            <a:r>
              <a:t>Abhishekh Singh</a:t>
            </a:r>
          </a:p>
          <a:p>
            <a:pPr>
              <a:spcAft>
                <a:spcPts val="500"/>
              </a:spcAft>
              <a:defRPr sz="950" b="1">
                <a:solidFill>
                  <a:srgbClr val="64748B"/>
                </a:solidFill>
                <a:latin typeface="Arial"/>
              </a:defRPr>
            </a:pPr>
            <a:r>
              <a:t>Roll No: 8104 • SE IT B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Role: </a:t>
            </a:r>
            <a:r>
              <a:rPr sz="850">
                <a:solidFill>
                  <a:srgbClr val="334155"/>
                </a:solidFill>
                <a:latin typeface="Arial"/>
              </a:rPr>
              <a:t>OOP &amp; Custom Exceptions Lead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Abstract Classes: </a:t>
            </a:r>
            <a:r>
              <a:rPr sz="850">
                <a:solidFill>
                  <a:srgbClr val="334155"/>
                </a:solidFill>
                <a:latin typeface="Arial"/>
              </a:rPr>
              <a:t>Question &amp; User base hierarchies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Exception Tree: </a:t>
            </a:r>
            <a:r>
              <a:rPr sz="850">
                <a:solidFill>
                  <a:srgbClr val="334155"/>
                </a:solidFill>
                <a:latin typeface="Arial"/>
              </a:rPr>
              <a:t>5-tier checked QuizException hierarchy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Archetypes: </a:t>
            </a:r>
            <a:r>
              <a:rPr sz="850">
                <a:solidFill>
                  <a:srgbClr val="334155"/>
                </a:solidFill>
                <a:latin typeface="Arial"/>
              </a:rPr>
              <a:t>MCQ, True/False &amp; Numeric questions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3337560"/>
            <a:ext cx="2542032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46304"/>
          <a:lstStyle/>
          <a:p>
            <a:pPr algn="ctr">
              <a:spcAft>
                <a:spcPts val="200"/>
              </a:spcAft>
              <a:defRPr sz="850" b="1">
                <a:solidFill>
                  <a:srgbClr val="9333EA"/>
                </a:solidFill>
                <a:latin typeface="Arial"/>
              </a:defRPr>
            </a:pPr>
            <a:r>
              <a:t>WEB DEVELOPER</a:t>
            </a:r>
          </a:p>
          <a:p>
            <a:pPr>
              <a:defRPr sz="1300" b="1">
                <a:solidFill>
                  <a:srgbClr val="1B365D"/>
                </a:solidFill>
                <a:latin typeface="Arial"/>
              </a:defRPr>
            </a:pPr>
            <a:r>
              <a:t>Priyam Raj</a:t>
            </a:r>
          </a:p>
          <a:p>
            <a:pPr>
              <a:spcAft>
                <a:spcPts val="500"/>
              </a:spcAft>
              <a:defRPr sz="950" b="1">
                <a:solidFill>
                  <a:srgbClr val="64748B"/>
                </a:solidFill>
                <a:latin typeface="Arial"/>
              </a:defRPr>
            </a:pPr>
            <a:r>
              <a:t>Roll No: 8134 • SE IT B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Role: </a:t>
            </a:r>
            <a:r>
              <a:rPr sz="850">
                <a:solidFill>
                  <a:srgbClr val="334155"/>
                </a:solidFill>
                <a:latin typeface="Arial"/>
              </a:rPr>
              <a:t>Full-Stack Web &amp; REST Engineer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Server: </a:t>
            </a:r>
            <a:r>
              <a:rPr sz="850">
                <a:solidFill>
                  <a:srgbClr val="334155"/>
                </a:solidFill>
                <a:latin typeface="Arial"/>
              </a:rPr>
              <a:t>Embedded Java HttpServer on port 8080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Client UI: </a:t>
            </a:r>
            <a:r>
              <a:rPr sz="850">
                <a:solidFill>
                  <a:srgbClr val="334155"/>
                </a:solidFill>
                <a:latin typeface="Arial"/>
              </a:rPr>
              <a:t>Responsive Glassmorphism Web App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Timer &amp; JSON: </a:t>
            </a:r>
            <a:r>
              <a:rPr sz="850">
                <a:solidFill>
                  <a:srgbClr val="334155"/>
                </a:solidFill>
                <a:latin typeface="Arial"/>
              </a:rPr>
              <a:t>Live 10-min countdown &amp; REST APIs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3337560"/>
            <a:ext cx="2542032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46304"/>
          <a:lstStyle/>
          <a:p>
            <a:pPr algn="ctr">
              <a:spcAft>
                <a:spcPts val="200"/>
              </a:spcAft>
              <a:defRPr sz="850" b="1">
                <a:solidFill>
                  <a:srgbClr val="16A34A"/>
                </a:solidFill>
                <a:latin typeface="Arial"/>
              </a:defRPr>
            </a:pPr>
            <a:r>
              <a:t>QA &amp; TESTING</a:t>
            </a:r>
          </a:p>
          <a:p>
            <a:pPr>
              <a:defRPr sz="1300" b="1">
                <a:solidFill>
                  <a:srgbClr val="1B365D"/>
                </a:solidFill>
                <a:latin typeface="Arial"/>
              </a:defRPr>
            </a:pPr>
            <a:r>
              <a:t>Utkarsh Chauhan</a:t>
            </a:r>
          </a:p>
          <a:p>
            <a:pPr>
              <a:spcAft>
                <a:spcPts val="500"/>
              </a:spcAft>
              <a:defRPr sz="950" b="1">
                <a:solidFill>
                  <a:srgbClr val="64748B"/>
                </a:solidFill>
                <a:latin typeface="Arial"/>
              </a:defRPr>
            </a:pPr>
            <a:r>
              <a:t>Roll No: 8154 • SE IT B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Role: </a:t>
            </a:r>
            <a:r>
              <a:rPr sz="850">
                <a:solidFill>
                  <a:srgbClr val="334155"/>
                </a:solidFill>
                <a:latin typeface="Arial"/>
              </a:rPr>
              <a:t>Quality Assurance &amp; Evaluation Lead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Test Suite: </a:t>
            </a:r>
            <a:r>
              <a:rPr sz="850">
                <a:solidFill>
                  <a:srgbClr val="334155"/>
                </a:solidFill>
                <a:latin typeface="Arial"/>
              </a:rPr>
              <a:t>Automated CIE-2 viva demonstration harness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Validation: </a:t>
            </a:r>
            <a:r>
              <a:rPr sz="850">
                <a:solidFill>
                  <a:srgbClr val="334155"/>
                </a:solidFill>
                <a:latin typeface="Arial"/>
              </a:rPr>
              <a:t>Standard vs 25% Negative Marking verification</a:t>
            </a:r>
          </a:p>
          <a:p>
            <a:pPr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Defensive Code: </a:t>
            </a:r>
            <a:r>
              <a:rPr sz="850">
                <a:solidFill>
                  <a:srgbClr val="334155"/>
                </a:solidFill>
                <a:latin typeface="Arial"/>
              </a:rPr>
              <a:t>Zero-crash input interceptors &amp; recovery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035040"/>
            <a:ext cx="107286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🌐 Live Interactive Portal: https://abhisheksinghapsb-gif.github.io/Online-Quiz-Management-System/   |   💻 GitHub: abhisheksinghapsb-gif/Online-Quiz-Management-System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365D"/>
                </a:solidFill>
                <a:latin typeface="Arial"/>
              </a:defRPr>
            </a:pPr>
            <a:r>
              <a:t>INTRODUCTION: PROBLEM CONTEXT &amp; ARCHITECTURAL VISION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ACADEMIC MOTIVATION, SYSTEM OBJECTIVES &amp; 4 CORE JAVA PILLARS</a:t>
            </a:r>
          </a:p>
        </p:txBody>
      </p:sp>
      <p:pic>
        <p:nvPicPr>
          <p:cNvPr id="5" name="Picture 4" descr="ait_ba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Slide 2 of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29184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PROBLEM FORMULATION</a:t>
            </a:r>
          </a:p>
          <a:p>
            <a:pPr>
              <a:spcAft>
                <a:spcPts val="400"/>
              </a:spcAft>
              <a:defRPr sz="1150" b="1">
                <a:solidFill>
                  <a:srgbClr val="1B365D"/>
                </a:solidFill>
                <a:latin typeface="Arial"/>
              </a:defRPr>
            </a:pPr>
            <a:r>
              <a:t>The Academic Challenge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Paper Exam Burden: </a:t>
            </a:r>
            <a:r>
              <a:rPr>
                <a:solidFill>
                  <a:srgbClr val="334155"/>
                </a:solidFill>
              </a:rPr>
              <a:t>Manual test administration causes 15+ hours of grading overhead per exam.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Turnaround Latency: </a:t>
            </a:r>
            <a:r>
              <a:rPr>
                <a:solidFill>
                  <a:srgbClr val="334155"/>
                </a:solidFill>
              </a:rPr>
              <a:t>Students wait 3 to 7 days before receiving marks and actionable feedback.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Human Scoring Errors: </a:t>
            </a:r>
            <a:r>
              <a:rPr>
                <a:solidFill>
                  <a:srgbClr val="334155"/>
                </a:solidFill>
              </a:rPr>
              <a:t>Subjective evaluation leads to mathematical calculation discrepancies.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Rigid Software Tools: </a:t>
            </a:r>
            <a:r>
              <a:rPr>
                <a:solidFill>
                  <a:srgbClr val="334155"/>
                </a:solidFill>
              </a:rPr>
              <a:t>Traditional applications lack negative marking and crash on typographical input errors.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32918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CORE INNOVATION</a:t>
            </a:r>
          </a:p>
          <a:p>
            <a:pPr>
              <a:spcAft>
                <a:spcPts val="400"/>
              </a:spcAft>
              <a:defRPr sz="1150" b="1">
                <a:solidFill>
                  <a:srgbClr val="1B365D"/>
                </a:solidFill>
                <a:latin typeface="Arial"/>
              </a:defRPr>
            </a:pPr>
            <a:r>
              <a:t>Our Solution: Online Quiz System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Zero-Crash Architecture: </a:t>
            </a:r>
            <a:r>
              <a:rPr>
                <a:solidFill>
                  <a:srgbClr val="334155"/>
                </a:solidFill>
              </a:rPr>
              <a:t>5-tier custom checked exception tree intercepts typos without fatal crashes.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Dual Grading Strategies: </a:t>
            </a:r>
            <a:r>
              <a:rPr>
                <a:solidFill>
                  <a:srgbClr val="334155"/>
                </a:solidFill>
              </a:rPr>
              <a:t>Instant runtime switch between Standard Linear and 25% Negative Marking.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Automated Scorecards: </a:t>
            </a:r>
            <a:r>
              <a:rPr>
                <a:solidFill>
                  <a:srgbClr val="334155"/>
                </a:solidFill>
              </a:rPr>
              <a:t>Immediate objective score computation, percentages, and letter grades.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Multi-Age Repositories: </a:t>
            </a:r>
            <a:r>
              <a:rPr>
                <a:solidFill>
                  <a:srgbClr val="334155"/>
                </a:solidFill>
              </a:rPr>
              <a:t>9 pre-loaded quizzes across 4 age demographics (Kids, Teens, College, Pro).</a:t>
            </a:r>
          </a:p>
        </p:txBody>
      </p:sp>
      <p:pic>
        <p:nvPicPr>
          <p:cNvPr id="9" name="Picture 8" descr="quiz_core_innov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463040"/>
            <a:ext cx="3749039" cy="47548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138160" y="1463040"/>
            <a:ext cx="3322015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UNIT III &amp; IV COMPLIANCE</a:t>
            </a:r>
          </a:p>
          <a:p>
            <a:pPr>
              <a:spcAft>
                <a:spcPts val="400"/>
              </a:spcAft>
              <a:defRPr sz="1150" b="1">
                <a:solidFill>
                  <a:srgbClr val="1B365D"/>
                </a:solidFill>
                <a:latin typeface="Arial"/>
              </a:defRPr>
            </a:pPr>
            <a:r>
              <a:t>The 4 Mandatory Java Concepts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1. Abstract Classes (Unit III): </a:t>
            </a:r>
            <a:r>
              <a:rPr>
                <a:solidFill>
                  <a:srgbClr val="334155"/>
                </a:solidFill>
              </a:rPr>
              <a:t>Question &amp; User base hierarchies encapsulate shared fields (id, marks, topic) while forcing subclasses to implement specialized display and validation logic.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2. Interfaces &amp; Strategy (Unit III): </a:t>
            </a:r>
            <a:r>
              <a:rPr>
                <a:solidFill>
                  <a:srgbClr val="334155"/>
                </a:solidFill>
              </a:rPr>
              <a:t>QuizEvaluator interface decouples scoring algorithms, enabling StandardGradingPolicy vs NegativeMarkingGradingPolicy without touching runner code.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3. Polymorphism in Action (Unit III): </a:t>
            </a:r>
            <a:r>
              <a:rPr>
                <a:solidFill>
                  <a:srgbClr val="334155"/>
                </a:solidFill>
              </a:rPr>
              <a:t>Runtime Dynamic Method Dispatch resolves MCQ, True/False, and Numeric questions on the fly. Compile-time Method Overloading provides multi-criteria search.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4. Custom Exception Tree (Unit IV): </a:t>
            </a:r>
            <a:r>
              <a:rPr>
                <a:solidFill>
                  <a:srgbClr val="334155"/>
                </a:solidFill>
              </a:rPr>
              <a:t>5-tier checked hierarchy (QuizException, QuizNotFound, DuplicateQuiz, InvalidOption, InvalidQuestion, EmptyQuiz) guarantees bulletproof crash immunity.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365D"/>
                </a:solidFill>
                <a:latin typeface="Arial"/>
              </a:defRPr>
            </a:pPr>
            <a:r>
              <a:t>SYSTEM WORKING: EXECUTION LIFECYCLE &amp; ARCHITECTURE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5-STAGE ASSESSMENT PIPELINE, DYNAMIC DISPATCH &amp; TRIPLE DELIVERY MODES</a:t>
            </a:r>
          </a:p>
        </p:txBody>
      </p:sp>
      <p:pic>
        <p:nvPicPr>
          <p:cNvPr id="5" name="Picture 4" descr="ait_ba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Slide 3 of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4592"/>
          <a:lstStyle/>
          <a:p>
            <a:pPr algn="ctr">
              <a:spcAft>
                <a:spcPts val="600"/>
              </a:spcAft>
              <a:defRPr b="1" sz="1150">
                <a:solidFill>
                  <a:srgbClr val="1B365D"/>
                </a:solidFill>
              </a:defRPr>
            </a:pPr>
            <a:r>
              <a:t>5-STAGE ASSESSMENT LIFECYCLE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2563EB"/>
                </a:solidFill>
              </a:rPr>
              <a:t>[1] </a:t>
            </a:r>
            <a:r>
              <a:rPr b="1" sz="900">
                <a:solidFill>
                  <a:srgbClr val="0F172A"/>
                </a:solidFill>
              </a:rPr>
              <a:t>Multi-Tier Ingestion
</a:t>
            </a:r>
            <a:r>
              <a:rPr sz="800">
                <a:solidFill>
                  <a:srgbClr val="64748B"/>
                </a:solidFill>
              </a:rPr>
              <a:t>     Validates unique Quiz ID, age category (Kids/Teens/College/Pro) &amp; questionCount &gt; 0.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2563EB"/>
                </a:solidFill>
              </a:rPr>
              <a:t>[2] </a:t>
            </a:r>
            <a:r>
              <a:rPr b="1" sz="900">
                <a:solidFill>
                  <a:srgbClr val="0F172A"/>
                </a:solidFill>
              </a:rPr>
              <a:t>Strategy Injection
</a:t>
            </a:r>
            <a:r>
              <a:rPr sz="800">
                <a:solidFill>
                  <a:srgbClr val="64748B"/>
                </a:solidFill>
              </a:rPr>
              <a:t>     Dynamically injects Standard Linear or 25% Competitive Negative Marking policy.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2563EB"/>
                </a:solidFill>
              </a:rPr>
              <a:t>[3] </a:t>
            </a:r>
            <a:r>
              <a:rPr b="1" sz="900">
                <a:solidFill>
                  <a:srgbClr val="0F172A"/>
                </a:solidFill>
              </a:rPr>
              <a:t>Dynamic Dispatch
</a:t>
            </a:r>
            <a:r>
              <a:rPr sz="800">
                <a:solidFill>
                  <a:srgbClr val="64748B"/>
                </a:solidFill>
              </a:rPr>
              <a:t>     Iterates List&lt;Question&gt; polymorphically, delegating to MCQ, TF, or Numeric subclasses.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2563EB"/>
                </a:solidFill>
              </a:rPr>
              <a:t>[4] </a:t>
            </a:r>
            <a:r>
              <a:rPr b="1" sz="900">
                <a:solidFill>
                  <a:srgbClr val="0F172A"/>
                </a:solidFill>
              </a:rPr>
              <a:t>Defensive Interception
</a:t>
            </a:r>
            <a:r>
              <a:rPr sz="800">
                <a:solidFill>
                  <a:srgbClr val="64748B"/>
                </a:solidFill>
              </a:rPr>
              <a:t>     Catches illegal user entries (e.g. typing 'Z') with InvalidOptionException for safe retry.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2563EB"/>
                </a:solidFill>
              </a:rPr>
              <a:t>[5] </a:t>
            </a:r>
            <a:r>
              <a:rPr b="1" sz="900">
                <a:solidFill>
                  <a:srgbClr val="0F172A"/>
                </a:solidFill>
              </a:rPr>
              <a:t>Scorecard &amp; Audit
</a:t>
            </a:r>
            <a:r>
              <a:rPr sz="800">
                <a:solidFill>
                  <a:srgbClr val="64748B"/>
                </a:solidFill>
              </a:rPr>
              <a:t>     Evaluates net scores, percentages, letter grades (A+, A, B, C, F), and logs history.</a:t>
            </a:r>
          </a:p>
        </p:txBody>
      </p:sp>
      <p:pic>
        <p:nvPicPr>
          <p:cNvPr id="8" name="Picture 7" descr="quiz_process_workfl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463040"/>
            <a:ext cx="3931920" cy="30175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297680" y="4617720"/>
            <a:ext cx="3931920" cy="16002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6"/>
          <a:lstStyle/>
          <a:p>
            <a:pPr algn="ctr">
              <a:spcAft>
                <a:spcPts val="300"/>
              </a:spcAft>
              <a:defRPr b="1" sz="1050">
                <a:solidFill>
                  <a:srgbClr val="EA580C"/>
                </a:solidFill>
              </a:defRPr>
            </a:pPr>
            <a:r>
              <a:t>STRATEGY PATTERN (QuizEvaluator)</a:t>
            </a:r>
          </a:p>
          <a:p>
            <a:pPr>
              <a:defRPr sz="850">
                <a:solidFill>
                  <a:srgbClr val="E2E8F0"/>
                </a:solidFill>
              </a:defRPr>
            </a:pPr>
            <a:r>
              <a:t>• Standard Policy: Score = Sum of correct question marks.</a:t>
            </a:r>
            <a:br/>
            <a:r>
              <a:t>• Competitive Policy: Score = Correct - (0.25 * Incorrect Marks).</a:t>
            </a:r>
            <a:br/>
            <a:r>
              <a:t>• Decoupled Architecture: Zero runner modifications required to add new grading rules (Open/Closed Principle).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1463040"/>
            <a:ext cx="3047695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MODE 1</a:t>
            </a:r>
          </a:p>
          <a:p>
            <a:pPr>
              <a:spcAft>
                <a:spcPts val="400"/>
              </a:spcAft>
              <a:defRPr sz="1150" b="1">
                <a:solidFill>
                  <a:srgbClr val="1B365D"/>
                </a:solidFill>
                <a:latin typeface="Arial"/>
              </a:defRPr>
            </a:pPr>
            <a:r>
              <a:t>Terminal CLI (run.bat)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Pure Core Java: </a:t>
            </a:r>
            <a:r>
              <a:rPr>
                <a:solidFill>
                  <a:srgbClr val="334155"/>
                </a:solidFill>
              </a:rPr>
              <a:t>Works directly in Windows Command Prompt without external dependencies.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Interactive Menus: </a:t>
            </a:r>
            <a:r>
              <a:rPr>
                <a:solidFill>
                  <a:srgbClr val="334155"/>
                </a:solidFill>
              </a:rPr>
              <a:t>Student &amp; Faculty dashboards with formatted ASCII table views.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Zero-Crash Recovery: </a:t>
            </a:r>
            <a:r>
              <a:rPr>
                <a:solidFill>
                  <a:srgbClr val="334155"/>
                </a:solidFill>
              </a:rPr>
              <a:t>Entering 'Z' triggers safe retry without terminating application.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3063240"/>
            <a:ext cx="3047695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MODE 2</a:t>
            </a:r>
          </a:p>
          <a:p>
            <a:pPr>
              <a:spcAft>
                <a:spcPts val="400"/>
              </a:spcAft>
              <a:defRPr sz="1150" b="1">
                <a:solidFill>
                  <a:srgbClr val="1B365D"/>
                </a:solidFill>
                <a:latin typeface="Arial"/>
              </a:defRPr>
            </a:pPr>
            <a:r>
              <a:t>Modern Web UI (run_web.bat)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Embedded Server: </a:t>
            </a:r>
            <a:r>
              <a:rPr>
                <a:solidFill>
                  <a:srgbClr val="334155"/>
                </a:solidFill>
              </a:rPr>
              <a:t>Lightweight Java HttpServer on port 8080 with zero external JARs.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Live Countdown: </a:t>
            </a:r>
            <a:r>
              <a:rPr>
                <a:solidFill>
                  <a:srgbClr val="334155"/>
                </a:solidFill>
              </a:rPr>
              <a:t>10-minute automated quiz timer with radio options &amp; score modals.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GitHub Pages: </a:t>
            </a:r>
            <a:r>
              <a:rPr>
                <a:solidFill>
                  <a:srgbClr val="334155"/>
                </a:solidFill>
              </a:rPr>
              <a:t>Hosted live online for instant browser access without setup.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663440"/>
            <a:ext cx="3047695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MODE 3</a:t>
            </a:r>
          </a:p>
          <a:p>
            <a:pPr>
              <a:spcAft>
                <a:spcPts val="400"/>
              </a:spcAft>
              <a:defRPr sz="1150" b="1">
                <a:solidFill>
                  <a:srgbClr val="1B365D"/>
                </a:solidFill>
                <a:latin typeface="Arial"/>
              </a:defRPr>
            </a:pPr>
            <a:r>
              <a:t>Automated Viva Harness (run_tests.bat)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60-Second Proof: </a:t>
            </a:r>
            <a:r>
              <a:rPr>
                <a:solidFill>
                  <a:srgbClr val="334155"/>
                </a:solidFill>
              </a:rPr>
              <a:t>Specially designed for the 8-10 minute CIE-2 viva demonstration.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All 4 Concepts: </a:t>
            </a:r>
            <a:r>
              <a:rPr>
                <a:solidFill>
                  <a:srgbClr val="334155"/>
                </a:solidFill>
              </a:rPr>
              <a:t>Tests dynamic dispatch, strategy swapping, and overloaded searches.</a:t>
            </a:r>
          </a:p>
          <a:p>
            <a:pPr>
              <a:spcAft>
                <a:spcPts val="250"/>
              </a:spcAft>
              <a:defRPr sz="80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Exception Traces: </a:t>
            </a:r>
            <a:r>
              <a:rPr>
                <a:solidFill>
                  <a:srgbClr val="334155"/>
                </a:solidFill>
              </a:rPr>
              <a:t>Deliberately triggers and catches all 5 exceptions with finally blocks.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B365D"/>
                </a:solidFill>
                <a:latin typeface="Arial"/>
              </a:defRPr>
            </a:pPr>
            <a:r>
              <a:t>EXPLAINING THE WEBSITE UI: ARCHITECTURE &amp; USER EXPERIENCE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INTERACTIVE GLASSMORPHISM DASHBOARD, REAL-TIME TIMER &amp; COMPONENT BREAKDOWN</a:t>
            </a:r>
          </a:p>
        </p:txBody>
      </p:sp>
      <p:pic>
        <p:nvPicPr>
          <p:cNvPr id="5" name="Picture 4" descr="ait_ba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Slide 4 of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504895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HEADER &amp; NAVIGATION</a:t>
            </a:r>
          </a:p>
          <a:p>
            <a:pPr>
              <a:spcAft>
                <a:spcPts val="400"/>
              </a:spcAft>
              <a:defRPr sz="1150" b="1">
                <a:solidFill>
                  <a:srgbClr val="1B365D"/>
                </a:solidFill>
                <a:latin typeface="Arial"/>
              </a:defRPr>
            </a:pPr>
            <a:r>
              <a:t>1. Institution Header &amp; Navigation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Branding Crest: </a:t>
            </a:r>
            <a:r>
              <a:rPr>
                <a:solidFill>
                  <a:srgbClr val="334155"/>
                </a:solidFill>
              </a:rPr>
              <a:t>AIT Pune crest &amp; Department of IT badge with active CIE-2 examination status.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Persistent Nav Bar: </a:t>
            </a:r>
            <a:r>
              <a:rPr>
                <a:solidFill>
                  <a:srgbClr val="334155"/>
                </a:solidFill>
              </a:rPr>
              <a:t>5-tab navigation: Quizzes, Active Quiz, Score History, Faculty, and Viva Guide.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Portal Branding: </a:t>
            </a:r>
            <a:r>
              <a:rPr>
                <a:solidFill>
                  <a:srgbClr val="334155"/>
                </a:solidFill>
              </a:rPr>
              <a:t>Clean, modern institutional branding with persistent top-level navigation.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63040"/>
            <a:ext cx="3504895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SEARCH &amp; FILTERING</a:t>
            </a:r>
          </a:p>
          <a:p>
            <a:pPr>
              <a:spcAft>
                <a:spcPts val="400"/>
              </a:spcAft>
              <a:defRPr sz="1150" b="1">
                <a:solidFill>
                  <a:srgbClr val="1B365D"/>
                </a:solidFill>
                <a:latin typeface="Arial"/>
              </a:defRPr>
            </a:pPr>
            <a:r>
              <a:t>2. Interactive Filter &amp; Search Bar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Live Topic Search: </a:t>
            </a:r>
            <a:r>
              <a:rPr>
                <a:solidFill>
                  <a:srgbClr val="334155"/>
                </a:solidFill>
              </a:rPr>
              <a:t>Real-time debounced search by academic keyword (e.g. 'OOP', 'Exceptions').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Difficulty Filter: </a:t>
            </a:r>
            <a:r>
              <a:rPr>
                <a:solidFill>
                  <a:srgbClr val="334155"/>
                </a:solidFill>
              </a:rPr>
              <a:t>Dropdown filter for All Levels, Easy, Medium, and Hard assessments.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Age Group Selector: </a:t>
            </a:r>
            <a:r>
              <a:rPr>
                <a:solidFill>
                  <a:srgbClr val="334155"/>
                </a:solidFill>
              </a:rPr>
              <a:t>Dynamic filter for Kids (8-12), Teens (13-17), College (18-22), and Pro (20+).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1463040"/>
            <a:ext cx="3504895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QUIZ REPOSITORY GRID</a:t>
            </a:r>
          </a:p>
          <a:p>
            <a:pPr>
              <a:spcAft>
                <a:spcPts val="400"/>
              </a:spcAft>
              <a:defRPr sz="1150" b="1">
                <a:solidFill>
                  <a:srgbClr val="1B365D"/>
                </a:solidFill>
                <a:latin typeface="Arial"/>
              </a:defRPr>
            </a:pPr>
            <a:r>
              <a:t>3. Glassmorphism Quiz Cards Grid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Multi-Card Layout: </a:t>
            </a:r>
            <a:r>
              <a:rPr>
                <a:solidFill>
                  <a:srgbClr val="334155"/>
                </a:solidFill>
              </a:rPr>
              <a:t>Responsive CSS grid presenting preloaded and instructor-authored assessments.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Color Badges: </a:t>
            </a:r>
            <a:r>
              <a:rPr>
                <a:solidFill>
                  <a:srgbClr val="334155"/>
                </a:solidFill>
              </a:rPr>
              <a:t>Visual tags for difficulty and colored age badges (pink, cyan, indigo, amber).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Action Button: </a:t>
            </a:r>
            <a:r>
              <a:rPr>
                <a:solidFill>
                  <a:srgbClr val="334155"/>
                </a:solidFill>
              </a:rPr>
              <a:t>Displays question count, total marks, and 1-click 'Start Assessment ✍️' trigger.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3504895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ACTIVE ASSESSMENT ENGINE</a:t>
            </a:r>
          </a:p>
          <a:p>
            <a:pPr>
              <a:spcAft>
                <a:spcPts val="400"/>
              </a:spcAft>
              <a:defRPr sz="1150" b="1">
                <a:solidFill>
                  <a:srgbClr val="1B365D"/>
                </a:solidFill>
                <a:latin typeface="Arial"/>
              </a:defRPr>
            </a:pPr>
            <a:r>
              <a:t>4. Active Quiz Runner &amp; Countdown Timer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10-Minute Timer: </a:t>
            </a:r>
            <a:r>
              <a:rPr>
                <a:solidFill>
                  <a:srgbClr val="334155"/>
                </a:solidFill>
              </a:rPr>
              <a:t>Live countdown ticker in header with automated submission upon time expiry.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Grading Strategy Switch: </a:t>
            </a:r>
            <a:r>
              <a:rPr>
                <a:solidFill>
                  <a:srgbClr val="334155"/>
                </a:solidFill>
              </a:rPr>
              <a:t>Student selector to attempt quiz under Standard or 25% Negative Marking.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Polymorphic Inputs: </a:t>
            </a:r>
            <a:r>
              <a:rPr>
                <a:solidFill>
                  <a:srgbClr val="334155"/>
                </a:solidFill>
              </a:rPr>
              <a:t>Renders radio buttons for MCQs, binary toggles for T/F, text fields for Numeric.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3931920"/>
            <a:ext cx="3504895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SCORECARD &amp; ANALYTICS</a:t>
            </a:r>
          </a:p>
          <a:p>
            <a:pPr>
              <a:spcAft>
                <a:spcPts val="400"/>
              </a:spcAft>
              <a:defRPr sz="1150" b="1">
                <a:solidFill>
                  <a:srgbClr val="1B365D"/>
                </a:solidFill>
                <a:latin typeface="Arial"/>
              </a:defRPr>
            </a:pPr>
            <a:r>
              <a:t>5. Instant Scorecard Modal &amp; History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Instant Feedback: </a:t>
            </a:r>
            <a:r>
              <a:rPr>
                <a:solidFill>
                  <a:srgbClr val="334155"/>
                </a:solidFill>
              </a:rPr>
              <a:t>Modal dialog pop-up calculating net marks, percentage, and letter grade (A+, A, B, F).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Question Audit: </a:t>
            </a:r>
            <a:r>
              <a:rPr>
                <a:solidFill>
                  <a:srgbClr val="334155"/>
                </a:solidFill>
              </a:rPr>
              <a:t>Color-coded item-by-item breakdown highlighting student choice vs correct answer.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Submissions Log: </a:t>
            </a:r>
            <a:r>
              <a:rPr>
                <a:solidFill>
                  <a:srgbClr val="334155"/>
                </a:solidFill>
              </a:rPr>
              <a:t>Tabulated history preserving all student attempt timestamps and scores.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3931920"/>
            <a:ext cx="3504895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FACULTY &amp; AUTHORING PORTAL</a:t>
            </a:r>
          </a:p>
          <a:p>
            <a:pPr>
              <a:spcAft>
                <a:spcPts val="400"/>
              </a:spcAft>
              <a:defRPr sz="1150" b="1">
                <a:solidFill>
                  <a:srgbClr val="1B365D"/>
                </a:solidFill>
                <a:latin typeface="Arial"/>
              </a:defRPr>
            </a:pPr>
            <a:r>
              <a:t>6. Faculty Management &amp; Question Authoring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Quiz Authoring Modal: </a:t>
            </a:r>
            <a:r>
              <a:rPr>
                <a:solidFill>
                  <a:srgbClr val="334155"/>
                </a:solidFill>
              </a:rPr>
              <a:t>Allows instructors to create custom quizzes and append polymorphic questions.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Dynamic Schema Control: </a:t>
            </a:r>
            <a:r>
              <a:rPr>
                <a:solidFill>
                  <a:srgbClr val="334155"/>
                </a:solidFill>
              </a:rPr>
              <a:t>Add multiple choice, true/false, or numeric questions with custom marking.</a:t>
            </a:r>
          </a:p>
          <a:p>
            <a:pPr>
              <a:spcAft>
                <a:spcPts val="250"/>
              </a:spcAft>
              <a:defRPr sz="850">
                <a:latin typeface="Arial"/>
              </a:defRPr>
            </a:pPr>
            <a:r>
              <a:rPr b="1">
                <a:solidFill>
                  <a:srgbClr val="0F172A"/>
                </a:solidFill>
              </a:rPr>
              <a:t>• Submissions Audit Matrix: </a:t>
            </a:r>
            <a:r>
              <a:rPr>
                <a:solidFill>
                  <a:srgbClr val="334155"/>
                </a:solidFill>
              </a:rPr>
              <a:t>Comprehensive gradebook table tracking attempts, grading policies, and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