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94A3B8"/>
                </a:solidFill>
                <a:latin typeface="Arial"/>
              </a:defRPr>
            </a:pPr>
            <a:r>
              <a:t>ARMY INSTITUTE OF TECHNOLOGY, PUNE</a:t>
            </a:r>
          </a:p>
          <a:p>
            <a:pPr>
              <a:spcAft>
                <a:spcPts val="1400"/>
              </a:spcAft>
              <a:defRPr sz="1300" b="1">
                <a:solidFill>
                  <a:srgbClr val="60A5FA"/>
                </a:solidFill>
                <a:latin typeface="Arial"/>
              </a:defRPr>
            </a:pPr>
            <a:r>
              <a:t>DEPARTMENT OF INFORMATION TECHNOLOGY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Online Quiz Management System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CIE–2: Practical Problem Solving in Java (Unit III &amp; Unit IV) | Class: SE IT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65760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94A3B8"/>
                </a:solidFill>
              </a:defRPr>
            </a:pPr>
            <a:r>
              <a:t>UNDER THE GUIDANCE OF</a:t>
            </a:r>
          </a:p>
          <a:p>
            <a:pPr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Mrs. Trupti Najan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</a:t>
            </a:r>
            <a:br/>
            <a:r>
              <a:t>Department of Information Technology</a:t>
            </a:r>
            <a:br/>
            <a:r>
              <a:t>Army Institute of Technology, Pune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676656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spcAft>
                <a:spcPts val="1000"/>
              </a:spcAft>
              <a:defRPr sz="1100" b="1">
                <a:solidFill>
                  <a:srgbClr val="94A3B8"/>
                </a:solidFill>
              </a:defRPr>
            </a:pPr>
            <a:r>
              <a:t>PROJECT TEAM MEMBERS (CLASS: IT B)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• Aditya Yadav (Roll No: 8108) — </a:t>
            </a:r>
            <a:r>
              <a:rPr sz="1050">
                <a:solidFill>
                  <a:srgbClr val="94A3B8"/>
                </a:solidFill>
              </a:rPr>
              <a:t>System Architecture, Abstract Models &amp; Aggregation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• Abhishekh Singh (Roll No: 8104) — </a:t>
            </a:r>
            <a:r>
              <a:rPr sz="1050">
                <a:solidFill>
                  <a:srgbClr val="94A3B8"/>
                </a:solidFill>
              </a:rPr>
              <a:t>Polymorphic Question Archetypes &amp; Dynamic Binding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• Priyam Raj (Roll No: 8134) — </a:t>
            </a:r>
            <a:r>
              <a:rPr sz="1050">
                <a:solidFill>
                  <a:srgbClr val="94A3B8"/>
                </a:solidFill>
              </a:rPr>
              <a:t>Interfaces &amp; Pluggable Scoring Strategy Policies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FFFF"/>
                </a:solidFill>
              </a:rPr>
              <a:t>• Utkarsh Chauhan (Roll No: 8154) — </a:t>
            </a:r>
            <a:r>
              <a:rPr sz="1050">
                <a:solidFill>
                  <a:srgbClr val="94A3B8"/>
                </a:solidFill>
              </a:rPr>
              <a:t>Custom Checked Exception Hierarchy &amp; Defensive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1 SHORT PARAGRAPH PROBLEM FORMULATION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Formal Problem Statement (As required by CIE-2 Guidelines)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Traditional manual examinations and fragmented testing tools suffer from subjective grading inaccuracies, administrative overhead, and brittle input parsing that crashes during runtime errors.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Online Quiz Management System is an end-to-end, object-oriented assessment engine developed in Core Java. It enables faculty to design, categorize, and administer heterogeneous quizzes (MCQ, True/False, and Numeric questions) while providing students with automated evaluation, dynamic letter grading, and comprehensive performance scorecards under interchangeable scoring models.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• The solution enforces complete domain integrity through custom checked exceptions and polymorphic dispatch, completely eliminating unhandled runtime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THE CHALLENGE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Academic &amp; Practical Challenges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Subjective Scoring Inconsistencies: </a:t>
            </a:r>
            <a:r>
              <a:rPr>
                <a:solidFill>
                  <a:srgbClr val="1E293B"/>
                </a:solidFill>
              </a:rPr>
              <a:t>Difficulty in standardizing linear grading vs competitive negative marking.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Rigid Question Paradigms: </a:t>
            </a:r>
            <a:r>
              <a:rPr>
                <a:solidFill>
                  <a:srgbClr val="1E293B"/>
                </a:solidFill>
              </a:rPr>
              <a:t>Standard systems hardcode single question types rather than supporting polymorphic question sets.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Brittle Console Execution: </a:t>
            </a:r>
            <a:r>
              <a:rPr>
                <a:solidFill>
                  <a:srgbClr val="1E293B"/>
                </a:solidFill>
              </a:rPr>
              <a:t>User typographic errors (e.g. entering non-numeric characters) typically terminate standard programs.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THE SOLUTION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Core Java Problem-Solving Approach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Meaningful OOP Application: </a:t>
            </a:r>
            <a:r>
              <a:rPr>
                <a:solidFill>
                  <a:srgbClr val="1E293B"/>
                </a:solidFill>
              </a:rPr>
              <a:t>Uses Abstract Classes for question models and Interfaces for evaluation strategies.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Strict Defensive Design: </a:t>
            </a:r>
            <a:r>
              <a:rPr>
                <a:solidFill>
                  <a:srgbClr val="1E293B"/>
                </a:solidFill>
              </a:rPr>
              <a:t>A dedicated 5-tier exception hierarchy isolates illegal bounds, options, and duplicate IDs.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Dual Mode Delivery: </a:t>
            </a:r>
            <a:r>
              <a:rPr>
                <a:solidFill>
                  <a:srgbClr val="1E293B"/>
                </a:solidFill>
              </a:rPr>
              <a:t>Operates as both an interactive Terminal CLI and a modern Browser Application via embedded Java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Technical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1. Dynamic Question Archetypes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Polymorphic Model: </a:t>
            </a:r>
            <a:r>
              <a:rPr>
                <a:solidFill>
                  <a:srgbClr val="1E293B"/>
                </a:solidFill>
              </a:rPr>
              <a:t>Implement an abstract base class Question subclassed into MultipleChoiceQuestion, TrueFalseQuestion, and NumericQuestion.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Encapsulated State: </a:t>
            </a:r>
            <a:r>
              <a:rPr>
                <a:solidFill>
                  <a:srgbClr val="1E293B"/>
                </a:solidFill>
              </a:rPr>
              <a:t>Uniformly manage IDs, marks, syllabus topics, and difficulty levels across all question types.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2. Decoupled Service Contracts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Interface Contracts: </a:t>
            </a:r>
            <a:r>
              <a:rPr>
                <a:solidFill>
                  <a:srgbClr val="1E293B"/>
                </a:solidFill>
              </a:rPr>
              <a:t>Define QuizOperations and QuizEvaluator interfaces to isolate presentation from core business logic.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Strategy Design Pattern: </a:t>
            </a:r>
            <a:r>
              <a:rPr>
                <a:solidFill>
                  <a:srgbClr val="1E293B"/>
                </a:solidFill>
              </a:rPr>
              <a:t>Permit runtime switching between Standard Linear Grading and Competitive Negative 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3. Comprehensive Fault Tolerance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Custom Exception Tree: </a:t>
            </a:r>
            <a:r>
              <a:rPr>
                <a:solidFill>
                  <a:srgbClr val="1E293B"/>
                </a:solidFill>
              </a:rPr>
              <a:t>Root all errors under QuizException (QuizNotFoundException, DuplicateQuizException, InvalidOptionException, etc.).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Zero-Crash Guarantee: </a:t>
            </a:r>
            <a:r>
              <a:rPr>
                <a:solidFill>
                  <a:srgbClr val="1E293B"/>
                </a:solidFill>
              </a:rPr>
              <a:t>Intercept typographic mistakes and out-of-bound inputs, prompting user recovery without session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OBJECTIVE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4. Real-Time Feedback &amp; Analytics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Detailed Scorecard: </a:t>
            </a:r>
            <a:r>
              <a:rPr>
                <a:solidFill>
                  <a:srgbClr val="1E293B"/>
                </a:solidFill>
              </a:rPr>
              <a:t>Generate instant audit reports showing earned points, correct answers, net percentages, and letter grades.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Continuous Project Scope: </a:t>
            </a:r>
            <a:r>
              <a:rPr>
                <a:solidFill>
                  <a:srgbClr val="1E293B"/>
                </a:solidFill>
              </a:rPr>
              <a:t>Satisfies CIE-2 Phase 1 prototype and lays foundation for Phase 2/3 persistence and GUI.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Architecture &amp; Package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MODULAR PACKAGE DESIGN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Package Organization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com.ait.quiz.model: </a:t>
            </a:r>
            <a:r>
              <a:rPr>
                <a:solidFill>
                  <a:srgbClr val="1E293B"/>
                </a:solidFill>
              </a:rPr>
              <a:t>Question (Abstract), MultipleChoiceQuestion, TrueFalseQuestion, NumericQuestion, User (Abstract), Student, Instructor, Quiz, QuizAttempt, DifficultyLevel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com.ait.quiz.service: </a:t>
            </a:r>
            <a:r>
              <a:rPr>
                <a:solidFill>
                  <a:srgbClr val="1E293B"/>
                </a:solidFill>
              </a:rPr>
              <a:t>QuizOperations (Interface), QuizEvaluator (Interface), StandardGradingPolicy, NegativeMarkingGradingPolicy, QuizManager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com.ait.quiz.exception: </a:t>
            </a:r>
            <a:r>
              <a:rPr>
                <a:solidFill>
                  <a:srgbClr val="1E293B"/>
                </a:solidFill>
              </a:rPr>
              <a:t>QuizException (Base Checked), QuizNotFoundException, DuplicateQuizException, InvalidOptionException, InvalidQuestionException, EmptyQuizException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com.ait.quiz.util: </a:t>
            </a:r>
            <a:r>
              <a:rPr>
                <a:solidFill>
                  <a:srgbClr val="1E293B"/>
                </a:solidFill>
              </a:rPr>
              <a:t>InputValidator (Defensive scanner), ConsoleUI (Formatting)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com.ait.quiz.main: </a:t>
            </a:r>
            <a:r>
              <a:rPr>
                <a:solidFill>
                  <a:srgbClr val="1E293B"/>
                </a:solidFill>
              </a:rPr>
              <a:t>QuizApplication (Menu &amp; test harness)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com.ait.quiz.web: </a:t>
            </a:r>
            <a:r>
              <a:rPr>
                <a:solidFill>
                  <a:srgbClr val="1E293B"/>
                </a:solidFill>
              </a:rPr>
              <a:t>QuizWebServer (Embedded Java HTTP server)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LAYERED ARCHITECTURE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Multi-Tier Architectural Separation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Presentation Layer: </a:t>
            </a:r>
            <a:r>
              <a:rPr>
                <a:solidFill>
                  <a:srgbClr val="1E293B"/>
                </a:solidFill>
              </a:rPr>
              <a:t>Interactive CLI Console (`QuizApplication`) and Modern Browser UI (`index.html`) communicating over JSON REST endpoints.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Business Service Layer: </a:t>
            </a:r>
            <a:r>
              <a:rPr>
                <a:solidFill>
                  <a:srgbClr val="1E293B"/>
                </a:solidFill>
              </a:rPr>
              <a:t>Encapsulates repository operations via `QuizOperations` and evaluation algorithms via `QuizEvaluator`.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Domain Model Layer: </a:t>
            </a:r>
            <a:r>
              <a:rPr>
                <a:solidFill>
                  <a:srgbClr val="1E293B"/>
                </a:solidFill>
              </a:rPr>
              <a:t>Encapsulates state, integrity constraints, and dynamic question validation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069080"/>
            <a:ext cx="630936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ENGINEERING RIGOR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Core Design Principles Applied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Separation of Concerns: </a:t>
            </a:r>
            <a:r>
              <a:rPr>
                <a:solidFill>
                  <a:srgbClr val="1E293B"/>
                </a:solidFill>
              </a:rPr>
              <a:t>Presentation code never manipulates raw question arrays directly; all workflows pass through interface contracts.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Open / Closed Principle: </a:t>
            </a:r>
            <a:r>
              <a:rPr>
                <a:solidFill>
                  <a:srgbClr val="1E293B"/>
                </a:solidFill>
              </a:rPr>
              <a:t>System is open for extension (e.g. adding FillInTheBlankQuestion or relative grading) without modifying existing code.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Liskov Substitution: </a:t>
            </a:r>
            <a:r>
              <a:rPr>
                <a:solidFill>
                  <a:srgbClr val="1E293B"/>
                </a:solidFill>
              </a:rPr>
              <a:t>Any specialized Question subclass substitutes seamlessly inside a Quiz collection.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Java Unit III: Abstract Classes (Question &amp; User)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CORE DOMAIN ABSTRACTION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Abstract Base Class: Question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Why an Abstract Class?: </a:t>
            </a:r>
            <a:r>
              <a:rPr>
                <a:solidFill>
                  <a:srgbClr val="1E293B"/>
                </a:solidFill>
              </a:rPr>
              <a:t>All questions share identical state (id, questionText, marks, topic, difficulty) but a generic question cannot be displayed or evaluated without specific choice logic.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Encapsulated State: </a:t>
            </a:r>
            <a:r>
              <a:rPr>
                <a:solidFill>
                  <a:srgbClr val="1E293B"/>
                </a:solidFill>
              </a:rPr>
              <a:t>Private fields with public getters/setters and defensive validation constructor.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Concrete Common Method: </a:t>
            </a:r>
            <a:r>
              <a:rPr>
                <a:solidFill>
                  <a:srgbClr val="1E293B"/>
                </a:solidFill>
              </a:rPr>
              <a:t>displayHeader() prints formatted ID, marks badge, topic, and difficulty tag uniformly.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Abstract Method 1: </a:t>
            </a:r>
            <a:r>
              <a:rPr>
                <a:solidFill>
                  <a:srgbClr val="1E293B"/>
                </a:solidFill>
              </a:rPr>
              <a:t>abstract void displayQuestion(); — forces subclasses to render custom choices.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Abstract Method 2: </a:t>
            </a:r>
            <a:r>
              <a:rPr>
                <a:solidFill>
                  <a:srgbClr val="1E293B"/>
                </a:solidFill>
              </a:rPr>
              <a:t>abstract boolean checkAnswer(String ans) throws InvalidOptionException; — executes subclass-specific answer parsing.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Abstract Method 3: </a:t>
            </a:r>
            <a:r>
              <a:rPr>
                <a:solidFill>
                  <a:srgbClr val="1E293B"/>
                </a:solidFill>
              </a:rPr>
              <a:t>abstract String getCorrectAnswerFormatted(); — returns human-readable solution.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Instantiation Guard: </a:t>
            </a:r>
            <a:r>
              <a:rPr>
                <a:solidFill>
                  <a:srgbClr val="1E293B"/>
                </a:solidFill>
              </a:rPr>
              <a:t>Prevents calling 'new Question(...)'; only concrete subclasses can be instantiated.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INHERITANCE &amp; SPECIALIZATION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Concrete Subclasses &amp; User Hierarchy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MultipleChoiceQuestion: </a:t>
            </a:r>
            <a:r>
              <a:rPr>
                <a:solidFill>
                  <a:srgbClr val="1E293B"/>
                </a:solidFill>
              </a:rPr>
              <a:t>Extends Question. Stores List&lt;String&gt; options and correctOptionIndex. Overrides checkAnswer() to parse single-character options (A–D).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TrueFalseQuestion: </a:t>
            </a:r>
            <a:r>
              <a:rPr>
                <a:solidFill>
                  <a:srgbClr val="1E293B"/>
                </a:solidFill>
              </a:rPr>
              <a:t>Extends Question. Stores boolean correctAnswer. Overrides checkAnswer() accepting T/F/True/False input.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NumericQuestion: </a:t>
            </a:r>
            <a:r>
              <a:rPr>
                <a:solidFill>
                  <a:srgbClr val="1E293B"/>
                </a:solidFill>
              </a:rPr>
              <a:t>Extends Question. Stores double correctAnswer and tolerance delta for mathematical floating-point comparisons.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Abstract Class: User: </a:t>
            </a:r>
            <a:r>
              <a:rPr>
                <a:solidFill>
                  <a:srgbClr val="1E293B"/>
                </a:solidFill>
              </a:rPr>
              <a:t>Encapsulates common user identity (userId, name, email). Declares abstract void displayDashboard().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Student (Subclass): </a:t>
            </a:r>
            <a:r>
              <a:rPr>
                <a:solidFill>
                  <a:srgbClr val="1E293B"/>
                </a:solidFill>
              </a:rPr>
              <a:t>Overrides displayDashboard() to render completed quiz count, average score percentage, and attempt history.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Instructor (Subclass): </a:t>
            </a:r>
            <a:r>
              <a:rPr>
                <a:solidFill>
                  <a:srgbClr val="1E293B"/>
                </a:solidFill>
              </a:rPr>
              <a:t>Overrides displayDashboard() displaying faculty designation, department, and authoring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Java Unit III: Interfaces &amp; Pluggable Strategy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CRUD LIFECYCLE CONTRACT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Interface: QuizOperations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Interface Purpose: </a:t>
            </a:r>
            <a:r>
              <a:rPr>
                <a:solidFill>
                  <a:srgbClr val="1E293B"/>
                </a:solidFill>
              </a:rPr>
              <a:t>Defines the complete behavioral contract for managing quizzes and tracking participant attempts without tying to storage.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Lifecycle Contracts: </a:t>
            </a:r>
            <a:r>
              <a:rPr>
                <a:solidFill>
                  <a:srgbClr val="1E293B"/>
                </a:solidFill>
              </a:rPr>
              <a:t>createQuiz(), addQuestionToQuiz(), getQuiz(), deleteQuiz().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Exception Declarations: </a:t>
            </a:r>
            <a:r>
              <a:rPr>
                <a:solidFill>
                  <a:srgbClr val="1E293B"/>
                </a:solidFill>
              </a:rPr>
              <a:t>Declares checked exceptions in signatures (throws QuizNotFoundException, DuplicateQuizException).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Service Realization: </a:t>
            </a:r>
            <a:r>
              <a:rPr>
                <a:solidFill>
                  <a:srgbClr val="1E293B"/>
                </a:solidFill>
              </a:rPr>
              <a:t>Implemented by QuizManager using Collections Framework (LinkedHashMap&lt;String, Quiz&gt; and List&lt;QuizAttempt&gt;).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Future Scalability: </a:t>
            </a:r>
            <a:r>
              <a:rPr>
                <a:solidFill>
                  <a:srgbClr val="1E293B"/>
                </a:solidFill>
              </a:rPr>
              <a:t>Enables writing a DatabaseQuizManager implementing QuizOperations in Phase 3 without altering the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INTERCHANGEABLE GRADING STRATEGIES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Interface: QuizEvaluator (Strategy Pattern)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Strategy Design Pattern: </a:t>
            </a:r>
            <a:r>
              <a:rPr>
                <a:solidFill>
                  <a:srgbClr val="1E293B"/>
                </a:solidFill>
              </a:rPr>
              <a:t>Decouples the test execution engine from scoring algorithms; grading policy is injected at runtime.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Contract Methods: </a:t>
            </a:r>
            <a:r>
              <a:rPr>
                <a:solidFill>
                  <a:srgbClr val="1E293B"/>
                </a:solidFill>
              </a:rPr>
              <a:t>evaluateScore(QuizAttempt), evaluateScore(marks, wrong, penalty), generateGrade(percentage), printDetailedReport().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StandardGradingPolicy: </a:t>
            </a:r>
            <a:r>
              <a:rPr>
                <a:solidFill>
                  <a:srgbClr val="1E293B"/>
                </a:solidFill>
              </a:rPr>
              <a:t>Implements QuizEvaluator. Full marks for correct answers, zero deduction for incorrect answers (University Linear Model).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NegativeMarkingGradingPolicy: </a:t>
            </a:r>
            <a:r>
              <a:rPr>
                <a:solidFill>
                  <a:srgbClr val="1E293B"/>
                </a:solidFill>
              </a:rPr>
              <a:t>Implements QuizEvaluator. Penalizes wrong answers with configurable penalty rate (e.g. 25% negative marking for competitive exams).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Rubric Alignment: </a:t>
            </a:r>
            <a:r>
              <a:rPr>
                <a:solidFill>
                  <a:srgbClr val="1E293B"/>
                </a:solidFill>
              </a:rPr>
              <a:t>Directly fulfills the syllabus requirement for pluggable grading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Java Unit III: Polymorphism (Runtime &amp; Compile-Time)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DYNAMIC BINDING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Runtime Polymorphism (Dynamic Method Dispatch)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Polymorphic Question Iteration: </a:t>
            </a:r>
            <a:r>
              <a:rPr>
                <a:solidFill>
                  <a:srgbClr val="1E293B"/>
                </a:solidFill>
              </a:rPr>
              <a:t>In QuizApplication, questions are stored as List&lt;Question&gt;. When conducting a quiz: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Method Overriding: </a:t>
            </a:r>
            <a:r>
              <a:rPr>
                <a:solidFill>
                  <a:srgbClr val="1E293B"/>
                </a:solidFill>
              </a:rPr>
              <a:t>q.displayQuestion() and q.checkAnswer(ans) dynamically bind at runtime to MCQ, TrueFalse, or Numeric logic without any 'instanceof' or switch checks.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Interface Polymorphism: </a:t>
            </a:r>
            <a:r>
              <a:rPr>
                <a:solidFill>
                  <a:srgbClr val="1E293B"/>
                </a:solidFill>
              </a:rPr>
              <a:t>QuizEvaluator evaluator = (mode == 1) ? new StandardGradingPolicy() : new NegativeMarkingGradingPolicy(); evaluator.evaluateScore(attempt);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Polymorphic Dashboard: </a:t>
            </a:r>
            <a:r>
              <a:rPr>
                <a:solidFill>
                  <a:srgbClr val="1E293B"/>
                </a:solidFill>
              </a:rPr>
              <a:t>User userRef = currentStudent; userRef.displayDashboard(); dynamically resolves to Student's dashboard implementation.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JVM Virtual Method Table: </a:t>
            </a:r>
            <a:r>
              <a:rPr>
                <a:solidFill>
                  <a:srgbClr val="1E293B"/>
                </a:solidFill>
              </a:rPr>
              <a:t>Calls resolve dynamically via JVM vtable based on the actual object on heap.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STATIC BINDING / OVERLOADING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Compile-Time Polymorphism (Method Overloading)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Method Overloading in QuizOperations: </a:t>
            </a:r>
            <a:r>
              <a:rPr>
                <a:solidFill>
                  <a:srgbClr val="1E293B"/>
                </a:solidFill>
              </a:rPr>
              <a:t>Multiple search signatures provide flexible querying options for students: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Overloaded Search 1: </a:t>
            </a:r>
            <a:r>
              <a:rPr>
                <a:solidFill>
                  <a:srgbClr val="1E293B"/>
                </a:solidFill>
              </a:rPr>
              <a:t>List&lt;Quiz&gt; searchQuiz(String topic); — filters quizzes matching a topic keyword.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Overloaded Search 2: </a:t>
            </a:r>
            <a:r>
              <a:rPr>
                <a:solidFill>
                  <a:srgbClr val="1E293B"/>
                </a:solidFill>
              </a:rPr>
              <a:t>List&lt;Quiz&gt; searchQuiz(String topic, DifficultyLevel level); — filters by topic and difficulty level simultaneously.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Method Overloading in InputValidator: </a:t>
            </a:r>
            <a:r>
              <a:rPr>
                <a:solidFill>
                  <a:srgbClr val="1E293B"/>
                </a:solidFill>
              </a:rPr>
              <a:t>readInteger(Scanner sc, String prompt); and readInteger(Scanner sc, String prompt, int min, int max);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Method Overloading in QuizEvaluator: </a:t>
            </a:r>
            <a:r>
              <a:rPr>
                <a:solidFill>
                  <a:srgbClr val="1E293B"/>
                </a:solidFill>
              </a:rPr>
              <a:t>evaluateScore(QuizAttempt attempt); vs evaluateScore(double earnedMarks, int wrongCount, double penalty);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Java Unit IV: Robust Exception Handling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CUSTOM EXCEPTION TREE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Custom Checked Exception Hierarchy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Base Class: QuizException: </a:t>
            </a:r>
            <a:r>
              <a:rPr>
                <a:solidFill>
                  <a:srgbClr val="1E293B"/>
                </a:solidFill>
              </a:rPr>
              <a:t>Extends java.lang.Exception. Root checked exception for domain integrity.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QuizNotFoundException: </a:t>
            </a:r>
            <a:r>
              <a:rPr>
                <a:solidFill>
                  <a:srgbClr val="1E293B"/>
                </a:solidFill>
              </a:rPr>
              <a:t>Thrown when accessing or deleting an unmapped Quiz ID (e.g. 'GHOST-404').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DuplicateQuizException: </a:t>
            </a:r>
            <a:r>
              <a:rPr>
                <a:solidFill>
                  <a:srgbClr val="1E293B"/>
                </a:solidFill>
              </a:rPr>
              <a:t>Thrown when faculty attempts to register a quiz with an existing ID (e.g. 'JAVA-OOP').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InvalidQuestionException: </a:t>
            </a:r>
            <a:r>
              <a:rPr>
                <a:solidFill>
                  <a:srgbClr val="1E293B"/>
                </a:solidFill>
              </a:rPr>
              <a:t>Thrown on constraint failure: blank prompt, marks &lt;= 0, or MCQ options &lt; 2.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InvalidOptionException: </a:t>
            </a:r>
            <a:r>
              <a:rPr>
                <a:solidFill>
                  <a:srgbClr val="1E293B"/>
                </a:solidFill>
              </a:rPr>
              <a:t>Thrown when a student provides an out-of-range option (e.g. 'Z' on MCQ or text in numeric).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EmptyQuizException: </a:t>
            </a:r>
            <a:r>
              <a:rPr>
                <a:solidFill>
                  <a:srgbClr val="1E293B"/>
                </a:solidFill>
              </a:rPr>
              <a:t>Thrown if an attempt is made to conduct a quiz containing zero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FAULT-TOLERANT EXECUTION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Structured Try-Catch-Finally Architecture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'try' Block: </a:t>
            </a:r>
            <a:r>
              <a:rPr>
                <a:solidFill>
                  <a:srgbClr val="1E293B"/>
                </a:solidFill>
              </a:rPr>
              <a:t>Isolates critical operations: reading console inputs, invoking domain services, and validating student answers.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'catch' Block: </a:t>
            </a:r>
            <a:r>
              <a:rPr>
                <a:solidFill>
                  <a:srgbClr val="1E293B"/>
                </a:solidFill>
              </a:rPr>
              <a:t>Intercepts specific checked exceptions, prints clear diagnostic recovery guidance, and re-prompts without terminating.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The 'finally' Block: </a:t>
            </a:r>
            <a:r>
              <a:rPr>
                <a:solidFill>
                  <a:srgbClr val="1E293B"/>
                </a:solidFill>
              </a:rPr>
              <a:t>Guaranteed execution regardless of exception or normal completion: manages graceful resource shutdown and audit completion logs.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Throw &amp; Throws Keywords: </a:t>
            </a:r>
            <a:r>
              <a:rPr>
                <a:solidFill>
                  <a:srgbClr val="1E293B"/>
                </a:solidFill>
              </a:rPr>
              <a:t>Methods declare throws in signatures; business rules explicitly throw exceptions on boundary violations.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Defensive Input Handling: </a:t>
            </a:r>
            <a:r>
              <a:rPr>
                <a:solidFill>
                  <a:srgbClr val="1E293B"/>
                </a:solidFill>
              </a:rPr>
              <a:t>InputValidator wraps NumberFormatException, guaranteeing zero console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UML Class Relationships &amp; Execution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OOP RELATIONSHIPS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UML Structural Class Diagram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Inheritance (Generalization): </a:t>
            </a:r>
            <a:r>
              <a:rPr>
                <a:solidFill>
                  <a:srgbClr val="1E293B"/>
                </a:solidFill>
              </a:rPr>
              <a:t>Question &lt;|-- MultipleChoiceQuestion
Question &lt;|-- TrueFalseQuestion
Question &lt;|-- NumericQuestion
User &lt;|-- Student, User &lt;|-- Instructor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Interface Realization: </a:t>
            </a:r>
            <a:r>
              <a:rPr>
                <a:solidFill>
                  <a:srgbClr val="1E293B"/>
                </a:solidFill>
              </a:rPr>
              <a:t>QuizOperations &lt;|.. QuizManager
QuizEvaluator &lt;|.. StandardGradingPolicy
QuizEvaluator &lt;|.. NegativeMarkingGradingPolicy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Aggregation &amp; Association: </a:t>
            </a:r>
            <a:r>
              <a:rPr>
                <a:solidFill>
                  <a:srgbClr val="1E293B"/>
                </a:solidFill>
              </a:rPr>
              <a:t>Quiz '1' o-- '*' Question (A quiz aggregates polymorphic questions)
QuizManager '1' *-- '*' Quiz
Student '1' *-- '*' QuizAttempt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Exception Dependency: </a:t>
            </a:r>
            <a:r>
              <a:rPr>
                <a:solidFill>
                  <a:srgbClr val="1E293B"/>
                </a:solidFill>
              </a:rPr>
              <a:t>QuizOperations and Question methods declare dependency on QuizException hierarchy.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EXECUTION LIFECYCLE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Runtime Conduction Sequence Flow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1. Launch &amp; Selection: </a:t>
            </a:r>
            <a:r>
              <a:rPr>
                <a:solidFill>
                  <a:srgbClr val="1E293B"/>
                </a:solidFill>
              </a:rPr>
              <a:t>Student chooses quiz ID -&gt; QuizManager validates existence (throws QuizNotFoundException if absent).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2. Readiness Validation: </a:t>
            </a:r>
            <a:r>
              <a:rPr>
                <a:solidFill>
                  <a:srgbClr val="1E293B"/>
                </a:solidFill>
              </a:rPr>
              <a:t>Quiz verifies questionCount &gt; 0 (throws EmptyQuizException if blank).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3. Strategy Binding: </a:t>
            </a:r>
            <a:r>
              <a:rPr>
                <a:solidFill>
                  <a:srgbClr val="1E293B"/>
                </a:solidFill>
              </a:rPr>
              <a:t>Student selects scoring policy -&gt; QuizEvaluator instance created.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4. Polymorphic Iteration: </a:t>
            </a:r>
            <a:r>
              <a:rPr>
                <a:solidFill>
                  <a:srgbClr val="1E293B"/>
                </a:solidFill>
              </a:rPr>
              <a:t>Loop over List&lt;Question&gt; -&gt; q.displayQuestion() -&gt; student inputs choice -&gt; q.checkAnswer().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5. Exception Recovery: </a:t>
            </a:r>
            <a:r>
              <a:rPr>
                <a:solidFill>
                  <a:srgbClr val="1E293B"/>
                </a:solidFill>
              </a:rPr>
              <a:t>If student enters illegal format -&gt; catches InvalidOptionException and re-prompts seamlessly.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6. Report Generation: </a:t>
            </a:r>
            <a:r>
              <a:rPr>
                <a:solidFill>
                  <a:srgbClr val="1E293B"/>
                </a:solidFill>
              </a:rPr>
              <a:t>QuizEvaluator calculates net score -&gt; records QuizAttempt -&gt; prints itemized scorecard.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Dual Mode Implementation &amp;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TERMINAL INTERFACE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Mode 1: Interactive Console CLI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Launcher Script: </a:t>
            </a:r>
            <a:r>
              <a:rPr>
                <a:solidFill>
                  <a:srgbClr val="1E293B"/>
                </a:solidFill>
              </a:rPr>
              <a:t>run.bat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Pure Core Java: </a:t>
            </a:r>
            <a:r>
              <a:rPr>
                <a:solidFill>
                  <a:srgbClr val="1E293B"/>
                </a:solidFill>
              </a:rPr>
              <a:t>Works directly in Windows Command Prompt without external dependencies.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ASCII Boxed Menus: </a:t>
            </a:r>
            <a:r>
              <a:rPr>
                <a:solidFill>
                  <a:srgbClr val="1E293B"/>
                </a:solidFill>
              </a:rPr>
              <a:t>Professional borders, separated student/faculty dashboards.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Graceful Recovery: </a:t>
            </a:r>
            <a:r>
              <a:rPr>
                <a:solidFill>
                  <a:srgbClr val="1E293B"/>
                </a:solidFill>
              </a:rPr>
              <a:t>Try entering 'Z' on MCQ question 1 — system alerts and re-prompts.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Detailed Audit: </a:t>
            </a:r>
            <a:r>
              <a:rPr>
                <a:solidFill>
                  <a:srgbClr val="1E293B"/>
                </a:solidFill>
              </a:rPr>
              <a:t>Generates full item-by-item breakdown with earned marks and letter grades.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BROWSER WEB INTERFACE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Mode 2: Modern Web Application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Launcher Script: </a:t>
            </a:r>
            <a:r>
              <a:rPr>
                <a:solidFill>
                  <a:srgbClr val="1E293B"/>
                </a:solidFill>
              </a:rPr>
              <a:t>run_web.bat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Embedded Server: </a:t>
            </a:r>
            <a:r>
              <a:rPr>
                <a:solidFill>
                  <a:srgbClr val="1E293B"/>
                </a:solidFill>
              </a:rPr>
              <a:t>Custom QuizWebServer built using standard com.sun.net.httpserver.HttpServer.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 External JARs: </a:t>
            </a:r>
            <a:r>
              <a:rPr>
                <a:solidFill>
                  <a:srgbClr val="1E293B"/>
                </a:solidFill>
              </a:rPr>
              <a:t>Runs out-of-the-box on standard JDK on http://localhost:8080.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Interactive UI: </a:t>
            </a:r>
            <a:r>
              <a:rPr>
                <a:solidFill>
                  <a:srgbClr val="1E293B"/>
                </a:solidFill>
              </a:rPr>
              <a:t>10-minute live countdown timer, radio options, instant scorecard modal.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Faculty Panel: </a:t>
            </a:r>
            <a:r>
              <a:rPr>
                <a:solidFill>
                  <a:srgbClr val="1E293B"/>
                </a:solidFill>
              </a:rPr>
              <a:t>Dynamic modals to create quizzes, add questions, and view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AUTOMATED TEST HARNESS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Mode 3: Automated Test Matrix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Launcher Script: </a:t>
            </a:r>
            <a:r>
              <a:rPr>
                <a:solidFill>
                  <a:srgbClr val="1E293B"/>
                </a:solidFill>
              </a:rPr>
              <a:t>run_tests.bat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Examiner Suite: </a:t>
            </a:r>
            <a:r>
              <a:rPr>
                <a:solidFill>
                  <a:srgbClr val="1E293B"/>
                </a:solidFill>
              </a:rPr>
              <a:t>Designed specifically for the 8-10 minute CIE-2 viva demonstration.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Concept Proof 1: </a:t>
            </a:r>
            <a:r>
              <a:rPr>
                <a:solidFill>
                  <a:srgbClr val="1E293B"/>
                </a:solidFill>
              </a:rPr>
              <a:t>Executes runtime polymorphism across MCQ, True/False, and Numeric questions.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Concept Proof 2: </a:t>
            </a:r>
            <a:r>
              <a:rPr>
                <a:solidFill>
                  <a:srgbClr val="1E293B"/>
                </a:solidFill>
              </a:rPr>
              <a:t>Compares Standard vs Negative Marking on identical test attempts.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Concept Proof 3: </a:t>
            </a:r>
            <a:r>
              <a:rPr>
                <a:solidFill>
                  <a:srgbClr val="1E293B"/>
                </a:solidFill>
              </a:rPr>
              <a:t>Systematically triggers and catches all 5 custom exceptions with try-catch-finally traces.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CIE-2: SKILL DEVELOPMENT LABORATORY USING JAVA (BIT25434A0X)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Individual Work Allocation &amp; Team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TEAM MEMBER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Aditya Yadav (Roll No: 8108)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Component: </a:t>
            </a:r>
            <a:r>
              <a:rPr>
                <a:solidFill>
                  <a:srgbClr val="1E293B"/>
                </a:solidFill>
              </a:rPr>
              <a:t>System Architecture &amp; Base Abstractions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Class Ownership: </a:t>
            </a:r>
            <a:r>
              <a:rPr>
                <a:solidFill>
                  <a:srgbClr val="1E293B"/>
                </a:solidFill>
              </a:rPr>
              <a:t>abstract class Question, abstract class User, Quiz aggregation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Key Contributions: </a:t>
            </a:r>
            <a:r>
              <a:rPr>
                <a:solidFill>
                  <a:srgbClr val="1E293B"/>
                </a:solidFill>
              </a:rPr>
              <a:t>Designed core abstract methods (displayQuestion, checkAnswer), validated constructor parameters, and implemented User role hierarchy (Student / Instructor).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Viva Focus: </a:t>
            </a:r>
            <a:r>
              <a:rPr>
                <a:solidFill>
                  <a:srgbClr val="1E293B"/>
                </a:solidFill>
              </a:rPr>
              <a:t>Why use an abstract class? What is the difference between an abstract class and an interface?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TEAM MEMBER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Abhishekh Singh (Roll No: 8104)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Component: </a:t>
            </a:r>
            <a:r>
              <a:rPr>
                <a:solidFill>
                  <a:srgbClr val="1E293B"/>
                </a:solidFill>
              </a:rPr>
              <a:t>Concrete Question Archetypes &amp; Polymorphism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Class Ownership: </a:t>
            </a:r>
            <a:r>
              <a:rPr>
                <a:solidFill>
                  <a:srgbClr val="1E293B"/>
                </a:solidFill>
              </a:rPr>
              <a:t>MultipleChoiceQuestion, TrueFalseQuestion, NumericQuestion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Key Contributions: </a:t>
            </a:r>
            <a:r>
              <a:rPr>
                <a:solidFill>
                  <a:srgbClr val="1E293B"/>
                </a:solidFill>
              </a:rPr>
              <a:t>Implemented specialized option parsing, single-character conversion, boolean input parsing, and floating-point tolerance delta verification.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Viva Focus: </a:t>
            </a:r>
            <a:r>
              <a:rPr>
                <a:solidFill>
                  <a:srgbClr val="1E293B"/>
                </a:solidFill>
              </a:rPr>
              <a:t>Where is runtime polymorphism used? How does dynamic method dispatch resolve question display and answer checking?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690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TEAM MEMBER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Priyam Raj (Roll No: 8134)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Component: </a:t>
            </a:r>
            <a:r>
              <a:rPr>
                <a:solidFill>
                  <a:srgbClr val="1E293B"/>
                </a:solidFill>
              </a:rPr>
              <a:t>Interfaces &amp; Pluggable Scoring Strategy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Class Ownership: </a:t>
            </a:r>
            <a:r>
              <a:rPr>
                <a:solidFill>
                  <a:srgbClr val="1E293B"/>
                </a:solidFill>
              </a:rPr>
              <a:t>QuizOperations, QuizEvaluator, StandardGradingPolicy, NegativeMarkingGradingPolicy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Key Contributions: </a:t>
            </a:r>
            <a:r>
              <a:rPr>
                <a:solidFill>
                  <a:srgbClr val="1E293B"/>
                </a:solidFill>
              </a:rPr>
              <a:t>Architected the Strategy Design Pattern allowing runtime swapping of linear vs 25% negative marking scoring models and letter grade generation.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Viva Focus: </a:t>
            </a:r>
            <a:r>
              <a:rPr>
                <a:solidFill>
                  <a:srgbClr val="1E293B"/>
                </a:solidFill>
              </a:rPr>
              <a:t>Why did you create the QuizEvaluator interface? How does it support the Open/Closed Principle?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690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TEAM MEMBER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Utkarsh Chauhan (Roll No: 8154)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Component: </a:t>
            </a:r>
            <a:r>
              <a:rPr>
                <a:solidFill>
                  <a:srgbClr val="1E293B"/>
                </a:solidFill>
              </a:rPr>
              <a:t>Exception Hierarchy &amp; Defensive Validation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Class Ownership: </a:t>
            </a:r>
            <a:r>
              <a:rPr>
                <a:solidFill>
                  <a:srgbClr val="1E293B"/>
                </a:solidFill>
              </a:rPr>
              <a:t>QuizException tree (5 custom checked exceptions), InputValidator, Test Harness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Key Contributions: </a:t>
            </a:r>
            <a:r>
              <a:rPr>
                <a:solidFill>
                  <a:srgbClr val="1E293B"/>
                </a:solidFill>
              </a:rPr>
              <a:t>Developed domain checked exceptions, try-catch-finally handlers, scanner buffer clearing, and the automated CIE-2 test suite.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Viva Focus: </a:t>
            </a:r>
            <a:r>
              <a:rPr>
                <a:solidFill>
                  <a:srgbClr val="1E293B"/>
                </a:solidFill>
              </a:rPr>
              <a:t>What exceptions can occur and how are they handled? What is the purpose of try, catch, and finally?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Arial"/>
              </a:defRPr>
            </a:pPr>
            <a:r>
              <a:t>CIE-2 SUMMARY, FUTURE SCOPE &amp; CONCLUSION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Project Expansion &amp; Examiner Viva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EXPANSION ROADMAP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Ongoing Mini-Project Roadmap (Phase 2 &amp; 3)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Phase 1 (Completed for CIE-2): </a:t>
            </a:r>
            <a:r>
              <a:rPr>
                <a:solidFill>
                  <a:srgbClr val="1E293B"/>
                </a:solidFill>
              </a:rPr>
              <a:t>Core Java Object-Oriented Prototype demonstrating Abstract Classes, Interfaces, Polymorphism, and Custom Exceptions.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Phase 2: Persistent Storage: </a:t>
            </a:r>
            <a:r>
              <a:rPr>
                <a:solidFill>
                  <a:srgbClr val="1E293B"/>
                </a:solidFill>
              </a:rPr>
              <a:t>Replace in-memory LinkedHashMap with Java Object Serialization or JDBC connectivity to MySQL / PostgreSQL.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Phase 3: GUI &amp; Full Mini-Project: </a:t>
            </a:r>
            <a:r>
              <a:rPr>
                <a:solidFill>
                  <a:srgbClr val="1E293B"/>
                </a:solidFill>
              </a:rPr>
              <a:t>Migrate embedded HTTP server to Spring Boot REST APIs with JWT role-based security (Student/Faculty).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Advanced Assessment Features: </a:t>
            </a:r>
            <a:r>
              <a:rPr>
                <a:solidFill>
                  <a:srgbClr val="1E293B"/>
                </a:solidFill>
              </a:rPr>
              <a:t>Per-question timer countdown using Multithreading (`ScheduledExecutorService`), question shuffling, and exportable PDF certificates.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ctr">
              <a:spcAft>
                <a:spcPts val="2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VIVA DEFENSE READINESS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Summary &amp; Prepared Viva Defenses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100% Syllabus Compliance: </a:t>
            </a:r>
            <a:r>
              <a:rPr>
                <a:solidFill>
                  <a:srgbClr val="1E293B"/>
                </a:solidFill>
              </a:rPr>
              <a:t>Direct, meaningful implementation of Unit III and Unit IV Java concepts without artificial stuffing.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Zero-Crash Reliability: </a:t>
            </a:r>
            <a:r>
              <a:rPr>
                <a:solidFill>
                  <a:srgbClr val="1E293B"/>
                </a:solidFill>
              </a:rPr>
              <a:t>Validated input parsing with complete recovery on illegal student choices.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Individual Viva Readiness: </a:t>
            </a:r>
            <a:r>
              <a:rPr>
                <a:solidFill>
                  <a:srgbClr val="1E293B"/>
                </a:solidFill>
              </a:rPr>
              <a:t>Every member is prepared with model defenses for Mrs. Trupti Najan's CIE-2 evaluation rubric.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Demonstration Ready: </a:t>
            </a:r>
            <a:r>
              <a:rPr>
                <a:solidFill>
                  <a:srgbClr val="1E293B"/>
                </a:solidFill>
              </a:rPr>
              <a:t>Executable via 1-click batch scripts (`run.bat`, `run_web.bat`, `run_tests.bat`).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Thank You!: </a:t>
            </a:r>
            <a:r>
              <a:rPr>
                <a:solidFill>
                  <a:srgbClr val="1E293B"/>
                </a:solidFill>
              </a:rPr>
              <a:t>We welcome questions, suggestions, and feedback from the examiner.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