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601200" cy="731520"/>
          </a:xfrm>
          <a:prstGeom prst="rect">
            <a:avLst/>
          </a:prstGeom>
          <a:noFill/>
        </p:spPr>
        <p:txBody>
          <a:bodyPr wrap="square">
            <a:spAutoFit/>
          </a:bodyPr>
          <a:lstStyle/>
          <a:p>
            <a:pPr>
              <a:defRPr sz="2200" b="1">
                <a:solidFill>
                  <a:srgbClr val="1B365D"/>
                </a:solidFill>
                <a:latin typeface="Arial"/>
              </a:defRPr>
            </a:pPr>
            <a:r>
              <a:t>ARMY INSTITUTE OF TECHNOLOGY, PUNE</a:t>
            </a:r>
          </a:p>
          <a:p>
            <a:pPr>
              <a:defRPr sz="1100" b="1">
                <a:solidFill>
                  <a:srgbClr val="EA580C"/>
                </a:solidFill>
                <a:latin typeface="Arial"/>
              </a:defRPr>
            </a:pPr>
            <a:r>
              <a:t>DEPARTMENT OF INFORMATION TECHNOLOGY • SKILL DEVELOPMENT LAB (BIT25434A0X)</a:t>
            </a:r>
          </a:p>
        </p:txBody>
      </p:sp>
      <p:pic>
        <p:nvPicPr>
          <p:cNvPr id="5" name="Picture 4" descr="ait_official_badge.png"/>
          <p:cNvPicPr>
            <a:picLocks noChangeAspect="1"/>
          </p:cNvPicPr>
          <p:nvPr/>
        </p:nvPicPr>
        <p:blipFill>
          <a:blip r:embed="rId2"/>
          <a:stretch>
            <a:fillRect/>
          </a:stretch>
        </p:blipFill>
        <p:spPr>
          <a:xfrm>
            <a:off x="10515600" y="457200"/>
            <a:ext cx="1097280" cy="1097280"/>
          </a:xfrm>
          <a:prstGeom prst="rect">
            <a:avLst/>
          </a:prstGeom>
        </p:spPr>
      </p:pic>
      <p:sp>
        <p:nvSpPr>
          <p:cNvPr id="6" name="Rounded Rectangle 5"/>
          <p:cNvSpPr/>
          <p:nvPr/>
        </p:nvSpPr>
        <p:spPr>
          <a:xfrm>
            <a:off x="731520" y="1737360"/>
            <a:ext cx="621792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600"/>
              </a:spcAft>
            </a:pPr>
            <a:r>
              <a:rPr b="1" sz="1100">
                <a:solidFill>
                  <a:srgbClr val="1B365D"/>
                </a:solidFill>
              </a:rPr>
              <a:t>• Project Title — </a:t>
            </a:r>
            <a:r>
              <a:rPr sz="1050" b="1">
                <a:solidFill>
                  <a:srgbClr val="2563EB"/>
                </a:solidFill>
              </a:rPr>
              <a:t>ONLINE QUIZ MANAGEMENT SYSTEM</a:t>
            </a:r>
          </a:p>
          <a:p>
            <a:pPr>
              <a:spcAft>
                <a:spcPts val="600"/>
              </a:spcAft>
            </a:pPr>
            <a:r>
              <a:rPr b="1" sz="1100">
                <a:solidFill>
                  <a:srgbClr val="1B365D"/>
                </a:solidFill>
              </a:rPr>
              <a:t>• Assessment &amp; Mode — </a:t>
            </a:r>
            <a:r>
              <a:rPr sz="1050">
                <a:solidFill>
                  <a:srgbClr val="0F172A"/>
                </a:solidFill>
              </a:rPr>
              <a:t>CIE–2: Java Problem Solving (Unit III &amp; IV) | 20 Marks</a:t>
            </a:r>
          </a:p>
          <a:p>
            <a:pPr>
              <a:spcAft>
                <a:spcPts val="600"/>
              </a:spcAft>
            </a:pPr>
            <a:r>
              <a:rPr b="1" sz="1100">
                <a:solidFill>
                  <a:srgbClr val="1B365D"/>
                </a:solidFill>
              </a:rPr>
              <a:t>• Course Name &amp; Code — </a:t>
            </a:r>
            <a:r>
              <a:rPr sz="1050">
                <a:solidFill>
                  <a:srgbClr val="0F172A"/>
                </a:solidFill>
              </a:rPr>
              <a:t>Skill Development Laboratory using Java (BIT25434A0X)</a:t>
            </a:r>
          </a:p>
          <a:p>
            <a:pPr>
              <a:spcAft>
                <a:spcPts val="600"/>
              </a:spcAft>
            </a:pPr>
            <a:r>
              <a:rPr b="1" sz="1100">
                <a:solidFill>
                  <a:srgbClr val="1B365D"/>
                </a:solidFill>
              </a:rPr>
              <a:t>• Class &amp; Division — </a:t>
            </a:r>
            <a:r>
              <a:rPr sz="1050">
                <a:solidFill>
                  <a:srgbClr val="0F172A"/>
                </a:solidFill>
              </a:rPr>
              <a:t>SE IT B (Academic Year 2026–2027)</a:t>
            </a:r>
          </a:p>
          <a:p>
            <a:pPr>
              <a:spcAft>
                <a:spcPts val="600"/>
              </a:spcAft>
            </a:pPr>
            <a:r>
              <a:rPr b="1" sz="1100">
                <a:solidFill>
                  <a:srgbClr val="1B365D"/>
                </a:solidFill>
              </a:rPr>
              <a:t>• Course In-Charge / Examiner — </a:t>
            </a:r>
            <a:r>
              <a:rPr sz="1050">
                <a:solidFill>
                  <a:srgbClr val="0F172A"/>
                </a:solidFill>
              </a:rPr>
              <a:t>Mrs. Trupti Najan (Assistant Professor, Dept of IT)</a:t>
            </a:r>
          </a:p>
          <a:p>
            <a:pPr>
              <a:spcAft>
                <a:spcPts val="600"/>
              </a:spcAft>
            </a:pPr>
            <a:r>
              <a:rPr b="1" sz="1100">
                <a:solidFill>
                  <a:srgbClr val="1B365D"/>
                </a:solidFill>
              </a:rPr>
              <a:t>• Project Team Members (Class: IT B) — </a:t>
            </a:r>
            <a:r>
              <a:rPr sz="1050">
                <a:solidFill>
                  <a:srgbClr val="0F172A"/>
                </a:solidFill>
              </a:rPr>
              <a:t>
      1. Aditya Yadav — Roll No: 8108 (Group Leader &amp; Architect)
      2. Abhishekh Singh — Roll No: 8104 (Polymorphic Questions &amp; Dispatch)
      3. Priyam Raj — Roll No: 8134 (Interfaces &amp; Strategy Pattern)
      4. Utkarsh Chauhan — Roll No: 8154 (Custom Exceptions &amp; QA)</a:t>
            </a:r>
          </a:p>
        </p:txBody>
      </p:sp>
      <p:pic>
        <p:nvPicPr>
          <p:cNvPr id="7" name="Picture 6" descr="quiz_tech_brain.jpg"/>
          <p:cNvPicPr>
            <a:picLocks noChangeAspect="1"/>
          </p:cNvPicPr>
          <p:nvPr/>
        </p:nvPicPr>
        <p:blipFill>
          <a:blip r:embed="rId3"/>
          <a:stretch>
            <a:fillRect/>
          </a:stretch>
        </p:blipFill>
        <p:spPr>
          <a:xfrm>
            <a:off x="7315200" y="1737360"/>
            <a:ext cx="4114800" cy="4114800"/>
          </a:xfrm>
          <a:prstGeom prst="rect">
            <a:avLst/>
          </a:prstGeom>
        </p:spPr>
      </p:pic>
      <p:sp>
        <p:nvSpPr>
          <p:cNvPr id="8" name="TextBox 7"/>
          <p:cNvSpPr txBox="1"/>
          <p:nvPr/>
        </p:nvSpPr>
        <p:spPr>
          <a:xfrm>
            <a:off x="11155680" y="6400800"/>
            <a:ext cx="731520" cy="365760"/>
          </a:xfrm>
          <a:prstGeom prst="rect">
            <a:avLst/>
          </a:prstGeom>
          <a:noFill/>
        </p:spPr>
        <p:txBody>
          <a:bodyPr wrap="none">
            <a:spAutoFit/>
          </a:bodyPr>
          <a:lstStyle/>
          <a:p>
            <a:pPr>
              <a:defRPr sz="1200">
                <a:solidFill>
                  <a:srgbClr val="64748B"/>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ONLINE QUIZ SYSTEM: AUTOMATED &amp; ROBUST ACADEMIC ASSESSMENT</a:t>
            </a:r>
          </a:p>
          <a:p>
            <a:pPr>
              <a:defRPr sz="1100" b="1">
                <a:solidFill>
                  <a:srgbClr val="EA580C"/>
                </a:solidFill>
                <a:latin typeface="Arial"/>
              </a:defRPr>
            </a:pPr>
            <a:r>
              <a:t>PROBLEM STATEMENT, CORE INNOVATION &amp; RISK-SOLUTION MATRIX</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2</a:t>
            </a:r>
          </a:p>
        </p:txBody>
      </p:sp>
      <p:sp>
        <p:nvSpPr>
          <p:cNvPr id="7" name="Rounded Rectangle 6"/>
          <p:cNvSpPr/>
          <p:nvPr/>
        </p:nvSpPr>
        <p:spPr>
          <a:xfrm>
            <a:off x="731520" y="146304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ACADEMIC PROBLEM STATEMENT</a:t>
            </a:r>
          </a:p>
          <a:p>
            <a:pPr>
              <a:spcAft>
                <a:spcPts val="400"/>
              </a:spcAft>
              <a:defRPr sz="1200" b="1">
                <a:solidFill>
                  <a:srgbClr val="1B365D"/>
                </a:solidFill>
                <a:latin typeface="Arial"/>
              </a:defRPr>
            </a:pPr>
            <a:r>
              <a:t>Real-World Problem &amp; Core Solution</a:t>
            </a:r>
          </a:p>
          <a:p>
            <a:pPr>
              <a:spcAft>
                <a:spcPts val="300"/>
              </a:spcAft>
            </a:pPr>
            <a:r>
              <a:rPr b="1" sz="900">
                <a:solidFill>
                  <a:srgbClr val="0F172A"/>
                </a:solidFill>
                <a:latin typeface="Arial"/>
              </a:rPr>
              <a:t>REAL-WORLD ISSUE — </a:t>
            </a:r>
            <a:r>
              <a:rPr sz="900">
                <a:solidFill>
                  <a:srgbClr val="0F172A"/>
                </a:solidFill>
                <a:latin typeface="Arial"/>
              </a:rPr>
              <a:t>Colleges face heavy administrative overhead conducting manual paper tests. Subjective evaluation leads to grading delays, human scoring errors, and lack of immediate student performance analytics.</a:t>
            </a:r>
          </a:p>
          <a:p>
            <a:pPr>
              <a:spcAft>
                <a:spcPts val="300"/>
              </a:spcAft>
            </a:pPr>
            <a:r>
              <a:rPr b="1" sz="900">
                <a:solidFill>
                  <a:srgbClr val="0F172A"/>
                </a:solidFill>
                <a:latin typeface="Arial"/>
              </a:rPr>
              <a:t>WHY IMPORTANT — </a:t>
            </a:r>
            <a:r>
              <a:rPr sz="900">
                <a:solidFill>
                  <a:srgbClr val="0F172A"/>
                </a:solidFill>
                <a:latin typeface="Arial"/>
              </a:rPr>
              <a:t>Faculty spend 15+ hours grading internal tests. Commercial tools fail on rigid formats, lack dual grading strategies (Standard vs Negative), and crash completely on typographic user input errors.</a:t>
            </a:r>
          </a:p>
          <a:p>
            <a:pPr>
              <a:spcAft>
                <a:spcPts val="300"/>
              </a:spcAft>
            </a:pPr>
            <a:r>
              <a:rPr b="1" sz="900">
                <a:solidFill>
                  <a:srgbClr val="0F172A"/>
                </a:solidFill>
                <a:latin typeface="Arial"/>
              </a:rPr>
              <a:t>SOLUTION — </a:t>
            </a:r>
            <a:r>
              <a:rPr sz="900">
                <a:solidFill>
                  <a:srgbClr val="0F172A"/>
                </a:solidFill>
                <a:latin typeface="Arial"/>
              </a:rPr>
              <a:t>A modular Core Java assessment framework incorporating Unit III (Abstract Classes, Interfaces, Polymorphism) and Unit IV (5-tier Custom Checked Exceptions) for zero-crash immunity and instant scorecards.</a:t>
            </a:r>
          </a:p>
        </p:txBody>
      </p:sp>
      <p:pic>
        <p:nvPicPr>
          <p:cNvPr id="8" name="Picture 7" descr="quiz_core_innovation.jpg"/>
          <p:cNvPicPr>
            <a:picLocks noChangeAspect="1"/>
          </p:cNvPicPr>
          <p:nvPr/>
        </p:nvPicPr>
        <p:blipFill>
          <a:blip r:embed="rId3"/>
          <a:stretch>
            <a:fillRect/>
          </a:stretch>
        </p:blipFill>
        <p:spPr>
          <a:xfrm>
            <a:off x="4754880" y="1463040"/>
            <a:ext cx="3931920" cy="4754880"/>
          </a:xfrm>
          <a:prstGeom prst="rect">
            <a:avLst/>
          </a:prstGeom>
        </p:spPr>
      </p:pic>
      <p:sp>
        <p:nvSpPr>
          <p:cNvPr id="9" name="Rounded Rectangle 8"/>
          <p:cNvSpPr/>
          <p:nvPr/>
        </p:nvSpPr>
        <p:spPr>
          <a:xfrm>
            <a:off x="8869680" y="1463040"/>
            <a:ext cx="2560320" cy="47548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OPERATIONAL RISK  ➔  TECHNICAL SOLUTION</a:t>
            </a:r>
          </a:p>
          <a:p>
            <a:pPr>
              <a:spcAft>
                <a:spcPts val="400"/>
              </a:spcAft>
              <a:defRPr sz="1200" b="1">
                <a:solidFill>
                  <a:srgbClr val="1B365D"/>
                </a:solidFill>
                <a:latin typeface="Arial"/>
              </a:defRPr>
            </a:pPr>
            <a:r>
              <a:t>Risk Mitigation Strategy</a:t>
            </a:r>
          </a:p>
          <a:p>
            <a:pPr>
              <a:spcAft>
                <a:spcPts val="300"/>
              </a:spcAft>
            </a:pPr>
            <a:r>
              <a:rPr b="1" sz="800">
                <a:solidFill>
                  <a:srgbClr val="0F172A"/>
                </a:solidFill>
                <a:latin typeface="Arial"/>
              </a:rPr>
              <a:t>Risk: Input Mismatches / Typos — </a:t>
            </a:r>
            <a:r>
              <a:rPr sz="800">
                <a:solidFill>
                  <a:srgbClr val="0F172A"/>
                </a:solidFill>
                <a:latin typeface="Arial"/>
              </a:rPr>
              <a:t>Student enters non-numeric or illegal chars like 'Z' crashing console.
➔ Solution: 5-Tier Custom Exceptions
try-catch InvalidOptionException catches format, prompts retry safely.</a:t>
            </a:r>
          </a:p>
          <a:p>
            <a:pPr>
              <a:spcAft>
                <a:spcPts val="300"/>
              </a:spcAft>
            </a:pPr>
            <a:r>
              <a:rPr b="1" sz="800">
                <a:solidFill>
                  <a:srgbClr val="0F172A"/>
                </a:solidFill>
                <a:latin typeface="Arial"/>
              </a:rPr>
              <a:t>Risk: Rigid Single-Format Que — </a:t>
            </a:r>
            <a:r>
              <a:rPr sz="800">
                <a:solidFill>
                  <a:srgbClr val="0F172A"/>
                </a:solidFill>
                <a:latin typeface="Arial"/>
              </a:rPr>
              <a:t>Traditional apps only allow standard single-type multiple choice.
➔ Solution: Polymorphic Archetypes
Abstract Question extended by MCQ, TrueFalse, and NumericQuestion.</a:t>
            </a:r>
          </a:p>
          <a:p>
            <a:pPr>
              <a:spcAft>
                <a:spcPts val="300"/>
              </a:spcAft>
            </a:pPr>
            <a:r>
              <a:rPr b="1" sz="800">
                <a:solidFill>
                  <a:srgbClr val="0F172A"/>
                </a:solidFill>
                <a:latin typeface="Arial"/>
              </a:rPr>
              <a:t>Risk: Inflexible Scoring Rules — </a:t>
            </a:r>
            <a:r>
              <a:rPr sz="800">
                <a:solidFill>
                  <a:srgbClr val="0F172A"/>
                </a:solidFill>
                <a:latin typeface="Arial"/>
              </a:rPr>
              <a:t>University linear grading vs competitive exams require different math.
➔ Solution: Pluggable Strategy Pattern
QuizEvaluator swaps Standard vs 25% Negative Marking dynamically.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TECHNICAL APPROACH &amp; IMPLEMENTATION METHODOLOGY</a:t>
            </a:r>
          </a:p>
          <a:p>
            <a:pPr>
              <a:defRPr sz="1100" b="1">
                <a:solidFill>
                  <a:srgbClr val="EA580C"/>
                </a:solidFill>
                <a:latin typeface="Arial"/>
              </a:defRPr>
            </a:pPr>
            <a:r>
              <a:t>PROCESS LIFECYCLE, PIPELINE STAGES &amp; ARCHITECTURE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3</a:t>
            </a:r>
          </a:p>
        </p:txBody>
      </p:sp>
      <p:sp>
        <p:nvSpPr>
          <p:cNvPr id="7" name="Rounded Rectangle 6"/>
          <p:cNvSpPr/>
          <p:nvPr/>
        </p:nvSpPr>
        <p:spPr>
          <a:xfrm>
            <a:off x="731520" y="1463040"/>
            <a:ext cx="2926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PIPELINE STAGES</a:t>
            </a:r>
          </a:p>
          <a:p>
            <a:pPr>
              <a:spcAft>
                <a:spcPts val="400"/>
              </a:spcAft>
              <a:defRPr sz="1200" b="1">
                <a:solidFill>
                  <a:srgbClr val="1B365D"/>
                </a:solidFill>
                <a:latin typeface="Arial"/>
              </a:defRPr>
            </a:pPr>
            <a:r>
              <a:t>6-Stage Assessment Pipeline</a:t>
            </a:r>
          </a:p>
          <a:p>
            <a:pPr>
              <a:spcAft>
                <a:spcPts val="300"/>
              </a:spcAft>
            </a:pPr>
            <a:r>
              <a:rPr b="1" sz="850">
                <a:solidFill>
                  <a:srgbClr val="0F172A"/>
                </a:solidFill>
                <a:latin typeface="Arial"/>
              </a:rPr>
              <a:t>[1] Multi-Tier Quiz Ingestion — </a:t>
            </a:r>
            <a:r>
              <a:rPr sz="850">
                <a:solidFill>
                  <a:srgbClr val="0F172A"/>
                </a:solidFill>
                <a:latin typeface="Arial"/>
              </a:rPr>
              <a:t>Validates unique ID, age demographic &amp; questionCount &gt; 0.</a:t>
            </a:r>
          </a:p>
          <a:p>
            <a:pPr>
              <a:spcAft>
                <a:spcPts val="300"/>
              </a:spcAft>
            </a:pPr>
            <a:r>
              <a:rPr b="1" sz="850">
                <a:solidFill>
                  <a:srgbClr val="0F172A"/>
                </a:solidFill>
                <a:latin typeface="Arial"/>
              </a:rPr>
              <a:t>[2] Strategy Configuration — </a:t>
            </a:r>
            <a:r>
              <a:rPr sz="850">
                <a:solidFill>
                  <a:srgbClr val="0F172A"/>
                </a:solidFill>
                <a:latin typeface="Arial"/>
              </a:rPr>
              <a:t>Injects Standard or Competitive 25% negative marking.</a:t>
            </a:r>
          </a:p>
          <a:p>
            <a:pPr>
              <a:spcAft>
                <a:spcPts val="300"/>
              </a:spcAft>
            </a:pPr>
            <a:r>
              <a:rPr b="1" sz="850">
                <a:solidFill>
                  <a:srgbClr val="0F172A"/>
                </a:solidFill>
                <a:latin typeface="Arial"/>
              </a:rPr>
              <a:t>[3] Dynamic Question Dispatch — </a:t>
            </a:r>
            <a:r>
              <a:rPr sz="850">
                <a:solidFill>
                  <a:srgbClr val="0F172A"/>
                </a:solidFill>
                <a:latin typeface="Arial"/>
              </a:rPr>
              <a:t>Iterates List&lt;Question&gt; invoking subclass display.</a:t>
            </a:r>
          </a:p>
          <a:p>
            <a:pPr>
              <a:spcAft>
                <a:spcPts val="300"/>
              </a:spcAft>
            </a:pPr>
            <a:r>
              <a:rPr b="1" sz="850">
                <a:solidFill>
                  <a:srgbClr val="0F172A"/>
                </a:solidFill>
                <a:latin typeface="Arial"/>
              </a:rPr>
              <a:t>[4] Defensive Input Interception — </a:t>
            </a:r>
            <a:r>
              <a:rPr sz="850">
                <a:solidFill>
                  <a:srgbClr val="0F172A"/>
                </a:solidFill>
                <a:latin typeface="Arial"/>
              </a:rPr>
              <a:t>Guards parsing with try-catch InvalidOptionException.</a:t>
            </a:r>
          </a:p>
          <a:p>
            <a:pPr>
              <a:spcAft>
                <a:spcPts val="300"/>
              </a:spcAft>
            </a:pPr>
            <a:r>
              <a:rPr b="1" sz="850">
                <a:solidFill>
                  <a:srgbClr val="0F172A"/>
                </a:solidFill>
                <a:latin typeface="Arial"/>
              </a:rPr>
              <a:t>[5] Strategy Evaluation — </a:t>
            </a:r>
            <a:r>
              <a:rPr sz="850">
                <a:solidFill>
                  <a:srgbClr val="0F172A"/>
                </a:solidFill>
                <a:latin typeface="Arial"/>
              </a:rPr>
              <a:t>Calculates net scores, percentages, and letter grades.</a:t>
            </a:r>
          </a:p>
          <a:p>
            <a:pPr>
              <a:spcAft>
                <a:spcPts val="300"/>
              </a:spcAft>
            </a:pPr>
            <a:r>
              <a:rPr b="1" sz="850">
                <a:solidFill>
                  <a:srgbClr val="0F172A"/>
                </a:solidFill>
                <a:latin typeface="Arial"/>
              </a:rPr>
              <a:t>[6] Scorecard &amp; Audit Generation — </a:t>
            </a:r>
            <a:r>
              <a:rPr sz="850">
                <a:solidFill>
                  <a:srgbClr val="0F172A"/>
                </a:solidFill>
                <a:latin typeface="Arial"/>
              </a:rPr>
              <a:t>Generates detailed question-by-question breakdown.</a:t>
            </a:r>
          </a:p>
        </p:txBody>
      </p:sp>
      <p:pic>
        <p:nvPicPr>
          <p:cNvPr id="8" name="Picture 7" descr="quiz_process_workflow.jpg"/>
          <p:cNvPicPr>
            <a:picLocks noChangeAspect="1"/>
          </p:cNvPicPr>
          <p:nvPr/>
        </p:nvPicPr>
        <p:blipFill>
          <a:blip r:embed="rId3"/>
          <a:stretch>
            <a:fillRect/>
          </a:stretch>
        </p:blipFill>
        <p:spPr>
          <a:xfrm>
            <a:off x="3840480" y="1463040"/>
            <a:ext cx="4389120" cy="4754880"/>
          </a:xfrm>
          <a:prstGeom prst="rect">
            <a:avLst/>
          </a:prstGeom>
        </p:spPr>
      </p:pic>
      <p:sp>
        <p:nvSpPr>
          <p:cNvPr id="9" name="Rounded Rectangle 8"/>
          <p:cNvSpPr/>
          <p:nvPr/>
        </p:nvSpPr>
        <p:spPr>
          <a:xfrm>
            <a:off x="8412480" y="1463040"/>
            <a:ext cx="301752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DUAL-MODE EXECUTION MODEL</a:t>
            </a:r>
          </a:p>
          <a:p>
            <a:pPr>
              <a:spcAft>
                <a:spcPts val="400"/>
              </a:spcAft>
              <a:defRPr sz="1200" b="1">
                <a:solidFill>
                  <a:srgbClr val="1B365D"/>
                </a:solidFill>
                <a:latin typeface="Arial"/>
              </a:defRPr>
            </a:pPr>
            <a:r>
              <a:t>Execution Runtimes</a:t>
            </a:r>
          </a:p>
          <a:p>
            <a:pPr>
              <a:spcAft>
                <a:spcPts val="300"/>
              </a:spcAft>
            </a:pPr>
            <a:r>
              <a:rPr b="1" sz="800">
                <a:solidFill>
                  <a:srgbClr val="0F172A"/>
                </a:solidFill>
                <a:latin typeface="Arial"/>
              </a:rPr>
              <a:t>Terminal CLI (run.bat) — </a:t>
            </a:r>
            <a:r>
              <a:rPr sz="800">
                <a:solidFill>
                  <a:srgbClr val="0F172A"/>
                </a:solidFill>
                <a:latin typeface="Arial"/>
              </a:rPr>
              <a:t>Interactive ANSI boxed console interface.</a:t>
            </a:r>
          </a:p>
          <a:p>
            <a:pPr>
              <a:spcAft>
                <a:spcPts val="300"/>
              </a:spcAft>
            </a:pPr>
            <a:r>
              <a:rPr b="1" sz="800">
                <a:solidFill>
                  <a:srgbClr val="0F172A"/>
                </a:solidFill>
                <a:latin typeface="Arial"/>
              </a:rPr>
              <a:t>Web Application (run_web.bat) — </a:t>
            </a:r>
            <a:r>
              <a:rPr sz="800">
                <a:solidFill>
                  <a:srgbClr val="0F172A"/>
                </a:solidFill>
                <a:latin typeface="Arial"/>
              </a:rPr>
              <a:t>Embedded Java HttpServer at http://localhost:8080.</a:t>
            </a:r>
          </a:p>
          <a:p>
            <a:pPr>
              <a:spcAft>
                <a:spcPts val="300"/>
              </a:spcAft>
            </a:pPr>
            <a:r>
              <a:rPr b="1" sz="800">
                <a:solidFill>
                  <a:srgbClr val="0F172A"/>
                </a:solidFill>
                <a:latin typeface="Arial"/>
              </a:rPr>
              <a:t>Automated Test Suite (run_tests.bat) — </a:t>
            </a:r>
            <a:r>
              <a:rPr sz="800">
                <a:solidFill>
                  <a:srgbClr val="0F172A"/>
                </a:solidFill>
                <a:latin typeface="Arial"/>
              </a:rPr>
              <a:t>60-second test harness for live viva demonstration.</a:t>
            </a:r>
          </a:p>
        </p:txBody>
      </p:sp>
      <p:sp>
        <p:nvSpPr>
          <p:cNvPr id="10" name="Rounded Rectangle 9"/>
          <p:cNvSpPr/>
          <p:nvPr/>
        </p:nvSpPr>
        <p:spPr>
          <a:xfrm>
            <a:off x="8412480" y="3657600"/>
            <a:ext cx="301752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TECHNOLOGIES</a:t>
            </a:r>
          </a:p>
          <a:p>
            <a:pPr>
              <a:spcAft>
                <a:spcPts val="400"/>
              </a:spcAft>
              <a:defRPr sz="1200" b="1">
                <a:solidFill>
                  <a:srgbClr val="1B365D"/>
                </a:solidFill>
                <a:latin typeface="Arial"/>
              </a:defRPr>
            </a:pPr>
            <a:r>
              <a:t>Core Stack</a:t>
            </a:r>
          </a:p>
          <a:p>
            <a:pPr>
              <a:spcAft>
                <a:spcPts val="300"/>
              </a:spcAft>
            </a:pPr>
            <a:r>
              <a:rPr b="1" sz="800">
                <a:solidFill>
                  <a:srgbClr val="0F172A"/>
                </a:solidFill>
                <a:latin typeface="Arial"/>
              </a:rPr>
              <a:t>Core Java — </a:t>
            </a:r>
            <a:r>
              <a:rPr sz="800">
                <a:solidFill>
                  <a:srgbClr val="0F172A"/>
                </a:solidFill>
                <a:latin typeface="Arial"/>
              </a:rPr>
              <a:t>JDK 26 SE runtime, OOP principles, dynamic binding.</a:t>
            </a:r>
          </a:p>
          <a:p>
            <a:pPr>
              <a:spcAft>
                <a:spcPts val="300"/>
              </a:spcAft>
            </a:pPr>
            <a:r>
              <a:rPr b="1" sz="800">
                <a:solidFill>
                  <a:srgbClr val="0F172A"/>
                </a:solidFill>
                <a:latin typeface="Arial"/>
              </a:rPr>
              <a:t>Design Patterns — </a:t>
            </a:r>
            <a:r>
              <a:rPr sz="800">
                <a:solidFill>
                  <a:srgbClr val="0F172A"/>
                </a:solidFill>
                <a:latin typeface="Arial"/>
              </a:rPr>
              <a:t>Strategy Pattern (QuizEvaluator) &amp; Aggregation.</a:t>
            </a:r>
          </a:p>
          <a:p>
            <a:pPr>
              <a:spcAft>
                <a:spcPts val="300"/>
              </a:spcAft>
            </a:pPr>
            <a:r>
              <a:rPr b="1" sz="800">
                <a:solidFill>
                  <a:srgbClr val="0F172A"/>
                </a:solidFill>
                <a:latin typeface="Arial"/>
              </a:rPr>
              <a:t>Exception Tree — </a:t>
            </a:r>
            <a:r>
              <a:rPr sz="800">
                <a:solidFill>
                  <a:srgbClr val="0F172A"/>
                </a:solidFill>
                <a:latin typeface="Arial"/>
              </a:rPr>
              <a:t>5-tier custom checked exception hierarchy.</a:t>
            </a:r>
          </a:p>
          <a:p>
            <a:pPr>
              <a:spcAft>
                <a:spcPts val="300"/>
              </a:spcAft>
            </a:pPr>
            <a:r>
              <a:rPr b="1" sz="800">
                <a:solidFill>
                  <a:srgbClr val="0F172A"/>
                </a:solidFill>
                <a:latin typeface="Arial"/>
              </a:rPr>
              <a:t>Collections — </a:t>
            </a:r>
            <a:r>
              <a:rPr sz="800">
                <a:solidFill>
                  <a:srgbClr val="0F172A"/>
                </a:solidFill>
                <a:latin typeface="Arial"/>
              </a:rPr>
              <a:t>LinkedHashMap, ArrayList, and Map.</a:t>
            </a:r>
          </a:p>
          <a:p>
            <a:pPr>
              <a:spcAft>
                <a:spcPts val="300"/>
              </a:spcAft>
            </a:pPr>
            <a:r>
              <a:rPr b="1" sz="800">
                <a:solidFill>
                  <a:srgbClr val="0F172A"/>
                </a:solidFill>
                <a:latin typeface="Arial"/>
              </a:rPr>
              <a:t>Java HttpServer — </a:t>
            </a:r>
            <a:r>
              <a:rPr sz="800">
                <a:solidFill>
                  <a:srgbClr val="0F172A"/>
                </a:solidFill>
                <a:latin typeface="Arial"/>
              </a:rPr>
              <a:t>Built-in com.sun.net.httpserver with zero external JARs.</a:t>
            </a:r>
          </a:p>
          <a:p>
            <a:pPr>
              <a:spcAft>
                <a:spcPts val="300"/>
              </a:spcAft>
            </a:pPr>
            <a:r>
              <a:rPr b="1" sz="800">
                <a:solidFill>
                  <a:srgbClr val="0F172A"/>
                </a:solidFill>
                <a:latin typeface="Arial"/>
              </a:rPr>
              <a:t>Web Frontend — </a:t>
            </a:r>
            <a:r>
              <a:rPr sz="800">
                <a:solidFill>
                  <a:srgbClr val="0F172A"/>
                </a:solidFill>
                <a:latin typeface="Arial"/>
              </a:rPr>
              <a:t>Modern HTML5, CSS3, and JavaScript Glassmorphism 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CORE JAVA CONCEPT 1: ABSTRACT CLASSES (QUESTION &amp; USER)</a:t>
            </a:r>
          </a:p>
          <a:p>
            <a:pPr>
              <a:defRPr sz="1100" b="1">
                <a:solidFill>
                  <a:srgbClr val="EA580C"/>
                </a:solidFill>
                <a:latin typeface="Arial"/>
              </a:defRPr>
            </a:pPr>
            <a:r>
              <a:t>UML DOMAIN MODEL, ENCAPSULATED STATE &amp; FORCED SPECIALIZATION</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4</a:t>
            </a:r>
          </a:p>
        </p:txBody>
      </p:sp>
      <p:pic>
        <p:nvPicPr>
          <p:cNvPr id="7" name="Picture 6" descr="java_abstract_classes.jpg"/>
          <p:cNvPicPr>
            <a:picLocks noChangeAspect="1"/>
          </p:cNvPicPr>
          <p:nvPr/>
        </p:nvPicPr>
        <p:blipFill>
          <a:blip r:embed="rId3"/>
          <a:stretch>
            <a:fillRect/>
          </a:stretch>
        </p:blipFill>
        <p:spPr>
          <a:xfrm>
            <a:off x="731520" y="1463040"/>
            <a:ext cx="6217920" cy="4754880"/>
          </a:xfrm>
          <a:prstGeom prst="rect">
            <a:avLst/>
          </a:prstGeom>
        </p:spPr>
      </p:pic>
      <p:sp>
        <p:nvSpPr>
          <p:cNvPr id="8" name="Rounded Rectangle 7"/>
          <p:cNvSpPr/>
          <p:nvPr/>
        </p:nvSpPr>
        <p:spPr>
          <a:xfrm>
            <a:off x="7132320" y="146304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CORE DOMAIN MODEL</a:t>
            </a:r>
          </a:p>
          <a:p>
            <a:pPr>
              <a:spcAft>
                <a:spcPts val="400"/>
              </a:spcAft>
              <a:defRPr sz="1200" b="1">
                <a:solidFill>
                  <a:srgbClr val="1B365D"/>
                </a:solidFill>
                <a:latin typeface="Arial"/>
              </a:defRPr>
            </a:pPr>
            <a:r>
              <a:t>Abstract Base Class: Question</a:t>
            </a:r>
          </a:p>
          <a:p>
            <a:pPr>
              <a:spcAft>
                <a:spcPts val="300"/>
              </a:spcAft>
            </a:pPr>
            <a:r>
              <a:rPr b="1" sz="850">
                <a:solidFill>
                  <a:srgbClr val="0F172A"/>
                </a:solidFill>
                <a:latin typeface="Arial"/>
              </a:rPr>
              <a:t>Why Abstract Class? — </a:t>
            </a:r>
            <a:r>
              <a:rPr sz="850">
                <a:solidFill>
                  <a:srgbClr val="0F172A"/>
                </a:solidFill>
                <a:latin typeface="Arial"/>
              </a:rPr>
              <a:t>Encapsulates shared fields (id, marks, topic, difficulty) and displayHeader(), but cannot be instantiated directly without choice logic.</a:t>
            </a:r>
          </a:p>
          <a:p>
            <a:pPr>
              <a:spcAft>
                <a:spcPts val="300"/>
              </a:spcAft>
            </a:pPr>
            <a:r>
              <a:rPr b="1" sz="850">
                <a:solidFill>
                  <a:srgbClr val="0F172A"/>
                </a:solidFill>
                <a:latin typeface="Arial"/>
              </a:rPr>
              <a:t>Pure Abstract Methods — </a:t>
            </a:r>
            <a:r>
              <a:rPr sz="850">
                <a:solidFill>
                  <a:srgbClr val="0F172A"/>
                </a:solidFill>
                <a:latin typeface="Arial"/>
              </a:rPr>
              <a:t>abstract void displayQuestion(); abstract boolean checkAnswer(String ans) throws InvalidOptionException; abstract String getCorrectAnswerFormatted();</a:t>
            </a:r>
          </a:p>
          <a:p>
            <a:pPr>
              <a:spcAft>
                <a:spcPts val="300"/>
              </a:spcAft>
            </a:pPr>
            <a:r>
              <a:rPr b="1" sz="850">
                <a:solidFill>
                  <a:srgbClr val="0F172A"/>
                </a:solidFill>
                <a:latin typeface="Arial"/>
              </a:rPr>
              <a:t>Subclass Archetypes — </a:t>
            </a:r>
            <a:r>
              <a:rPr sz="850">
                <a:solidFill>
                  <a:srgbClr val="0F172A"/>
                </a:solidFill>
                <a:latin typeface="Arial"/>
              </a:rPr>
              <a:t>MultipleChoiceQuestion (A-D options), TrueFalseQuestion (Boolean T/F), NumericQuestion (tolerance delta).</a:t>
            </a:r>
          </a:p>
        </p:txBody>
      </p:sp>
      <p:sp>
        <p:nvSpPr>
          <p:cNvPr id="9" name="Rounded Rectangle 8"/>
          <p:cNvSpPr/>
          <p:nvPr/>
        </p:nvSpPr>
        <p:spPr>
          <a:xfrm>
            <a:off x="7132320" y="388620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INHERITANCE &amp; DASHBOARDS</a:t>
            </a:r>
          </a:p>
          <a:p>
            <a:pPr>
              <a:spcAft>
                <a:spcPts val="400"/>
              </a:spcAft>
              <a:defRPr sz="1200" b="1">
                <a:solidFill>
                  <a:srgbClr val="1B365D"/>
                </a:solidFill>
                <a:latin typeface="Arial"/>
              </a:defRPr>
            </a:pPr>
            <a:r>
              <a:t>Subclasses &amp; User Hierarchy</a:t>
            </a:r>
          </a:p>
          <a:p>
            <a:pPr>
              <a:spcAft>
                <a:spcPts val="300"/>
              </a:spcAft>
            </a:pPr>
            <a:r>
              <a:rPr b="1" sz="850">
                <a:solidFill>
                  <a:srgbClr val="0F172A"/>
                </a:solidFill>
                <a:latin typeface="Arial"/>
              </a:rPr>
              <a:t>Abstract Class: User — </a:t>
            </a:r>
            <a:r>
              <a:rPr sz="850">
                <a:solidFill>
                  <a:srgbClr val="0F172A"/>
                </a:solidFill>
                <a:latin typeface="Arial"/>
              </a:rPr>
              <a:t>Encapsulates common user identity (userId, name, email) and enforces abstract void displayDashboard();.</a:t>
            </a:r>
          </a:p>
          <a:p>
            <a:pPr>
              <a:spcAft>
                <a:spcPts val="300"/>
              </a:spcAft>
            </a:pPr>
            <a:r>
              <a:rPr b="1" sz="850">
                <a:solidFill>
                  <a:srgbClr val="0F172A"/>
                </a:solidFill>
                <a:latin typeface="Arial"/>
              </a:rPr>
              <a:t>Student (Subclass) — </a:t>
            </a:r>
            <a:r>
              <a:rPr sz="850">
                <a:solidFill>
                  <a:srgbClr val="0F172A"/>
                </a:solidFill>
                <a:latin typeface="Arial"/>
              </a:rPr>
              <a:t>Overrides displayDashboard() displaying total attempts, average percentage, and attempt history records.</a:t>
            </a:r>
          </a:p>
          <a:p>
            <a:pPr>
              <a:spcAft>
                <a:spcPts val="300"/>
              </a:spcAft>
            </a:pPr>
            <a:r>
              <a:rPr b="1" sz="850">
                <a:solidFill>
                  <a:srgbClr val="0F172A"/>
                </a:solidFill>
                <a:latin typeface="Arial"/>
              </a:rPr>
              <a:t>Instructor (Subclass) — </a:t>
            </a:r>
            <a:r>
              <a:rPr sz="850">
                <a:solidFill>
                  <a:srgbClr val="0F172A"/>
                </a:solidFill>
                <a:latin typeface="Arial"/>
              </a:rPr>
              <a:t>Overrides displayDashboard() displaying faculty designation, department, and authoring permissions.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CORE JAVA CONCEPT 2: INTERFACES &amp; STRATEGY PATTERN</a:t>
            </a:r>
          </a:p>
          <a:p>
            <a:pPr>
              <a:defRPr sz="1100" b="1">
                <a:solidFill>
                  <a:srgbClr val="EA580C"/>
                </a:solidFill>
                <a:latin typeface="Arial"/>
              </a:defRPr>
            </a:pPr>
            <a:r>
              <a:t>BEHAVIORAL CONTRACTS &amp; RUNTIME SCORING DECOUPLING</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5</a:t>
            </a:r>
          </a:p>
        </p:txBody>
      </p:sp>
      <p:pic>
        <p:nvPicPr>
          <p:cNvPr id="7" name="Picture 6" descr="java_strategy_pattern.jpg"/>
          <p:cNvPicPr>
            <a:picLocks noChangeAspect="1"/>
          </p:cNvPicPr>
          <p:nvPr/>
        </p:nvPicPr>
        <p:blipFill>
          <a:blip r:embed="rId3"/>
          <a:stretch>
            <a:fillRect/>
          </a:stretch>
        </p:blipFill>
        <p:spPr>
          <a:xfrm>
            <a:off x="731520" y="1463040"/>
            <a:ext cx="6217920" cy="4754880"/>
          </a:xfrm>
          <a:prstGeom prst="rect">
            <a:avLst/>
          </a:prstGeom>
        </p:spPr>
      </p:pic>
      <p:sp>
        <p:nvSpPr>
          <p:cNvPr id="8" name="Rounded Rectangle 7"/>
          <p:cNvSpPr/>
          <p:nvPr/>
        </p:nvSpPr>
        <p:spPr>
          <a:xfrm>
            <a:off x="7132320" y="146304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CRUD LIFECYCLE CONTRACT</a:t>
            </a:r>
          </a:p>
          <a:p>
            <a:pPr>
              <a:spcAft>
                <a:spcPts val="400"/>
              </a:spcAft>
              <a:defRPr sz="1200" b="1">
                <a:solidFill>
                  <a:srgbClr val="1B365D"/>
                </a:solidFill>
                <a:latin typeface="Arial"/>
              </a:defRPr>
            </a:pPr>
            <a:r>
              <a:t>Interface: QuizOperations (Lifecycle Contract)</a:t>
            </a:r>
          </a:p>
          <a:p>
            <a:pPr>
              <a:spcAft>
                <a:spcPts val="300"/>
              </a:spcAft>
            </a:pPr>
            <a:r>
              <a:rPr b="1" sz="850">
                <a:solidFill>
                  <a:srgbClr val="0F172A"/>
                </a:solidFill>
                <a:latin typeface="Arial"/>
              </a:rPr>
              <a:t>Contract Definition — </a:t>
            </a:r>
            <a:r>
              <a:rPr sz="850">
                <a:solidFill>
                  <a:srgbClr val="0F172A"/>
                </a:solidFill>
                <a:latin typeface="Arial"/>
              </a:rPr>
              <a:t>Defines createQuiz, addQuestionToQuiz, getQuiz, searchQuiz, deleteQuiz without coupling to persistence.</a:t>
            </a:r>
          </a:p>
          <a:p>
            <a:pPr>
              <a:spcAft>
                <a:spcPts val="300"/>
              </a:spcAft>
            </a:pPr>
            <a:r>
              <a:rPr b="1" sz="850">
                <a:solidFill>
                  <a:srgbClr val="0F172A"/>
                </a:solidFill>
                <a:latin typeface="Arial"/>
              </a:rPr>
              <a:t>Checked Exceptions — </a:t>
            </a:r>
            <a:r>
              <a:rPr sz="850">
                <a:solidFill>
                  <a:srgbClr val="0F172A"/>
                </a:solidFill>
                <a:latin typeface="Arial"/>
              </a:rPr>
              <a:t>Declares checked exceptions in signatures (throws QuizNotFoundException, DuplicateQuizException).</a:t>
            </a:r>
          </a:p>
          <a:p>
            <a:pPr>
              <a:spcAft>
                <a:spcPts val="300"/>
              </a:spcAft>
            </a:pPr>
            <a:r>
              <a:rPr b="1" sz="850">
                <a:solidFill>
                  <a:srgbClr val="0F172A"/>
                </a:solidFill>
                <a:latin typeface="Arial"/>
              </a:rPr>
              <a:t>Service Implementation — </a:t>
            </a:r>
            <a:r>
              <a:rPr sz="850">
                <a:solidFill>
                  <a:srgbClr val="0F172A"/>
                </a:solidFill>
                <a:latin typeface="Arial"/>
              </a:rPr>
              <a:t>Implemented by QuizManager using Collections Framework (LinkedHashMap and ArrayList).</a:t>
            </a:r>
          </a:p>
        </p:txBody>
      </p:sp>
      <p:sp>
        <p:nvSpPr>
          <p:cNvPr id="9" name="Rounded Rectangle 8"/>
          <p:cNvSpPr/>
          <p:nvPr/>
        </p:nvSpPr>
        <p:spPr>
          <a:xfrm>
            <a:off x="7132320" y="388620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INTERCHANGEABLE GRADING STRATEGIES</a:t>
            </a:r>
          </a:p>
          <a:p>
            <a:pPr>
              <a:spcAft>
                <a:spcPts val="400"/>
              </a:spcAft>
              <a:defRPr sz="1200" b="1">
                <a:solidFill>
                  <a:srgbClr val="1B365D"/>
                </a:solidFill>
                <a:latin typeface="Arial"/>
              </a:defRPr>
            </a:pPr>
            <a:r>
              <a:t>Interface: QuizEvaluator (Pluggable Strategies)</a:t>
            </a:r>
          </a:p>
          <a:p>
            <a:pPr>
              <a:spcAft>
                <a:spcPts val="300"/>
              </a:spcAft>
            </a:pPr>
            <a:r>
              <a:rPr b="1" sz="850">
                <a:solidFill>
                  <a:srgbClr val="0F172A"/>
                </a:solidFill>
                <a:latin typeface="Arial"/>
              </a:rPr>
              <a:t>The Strategy Design Pattern — </a:t>
            </a:r>
            <a:r>
              <a:rPr sz="850">
                <a:solidFill>
                  <a:srgbClr val="0F172A"/>
                </a:solidFill>
                <a:latin typeface="Arial"/>
              </a:rPr>
              <a:t>Decouples scoring logic from test conduction. Injected dynamically at runtime based on exam type.</a:t>
            </a:r>
          </a:p>
          <a:p>
            <a:pPr>
              <a:spcAft>
                <a:spcPts val="300"/>
              </a:spcAft>
            </a:pPr>
            <a:r>
              <a:rPr b="1" sz="850">
                <a:solidFill>
                  <a:srgbClr val="0F172A"/>
                </a:solidFill>
                <a:latin typeface="Arial"/>
              </a:rPr>
              <a:t>StandardGradingPolicy — </a:t>
            </a:r>
            <a:r>
              <a:rPr sz="850">
                <a:solidFill>
                  <a:srgbClr val="0F172A"/>
                </a:solidFill>
                <a:latin typeface="Arial"/>
              </a:rPr>
              <a:t>Linear scoring (100% correct, 0% penalty) for regular university internal assessments.</a:t>
            </a:r>
          </a:p>
          <a:p>
            <a:pPr>
              <a:spcAft>
                <a:spcPts val="300"/>
              </a:spcAft>
            </a:pPr>
            <a:r>
              <a:rPr b="1" sz="850">
                <a:solidFill>
                  <a:srgbClr val="0F172A"/>
                </a:solidFill>
                <a:latin typeface="Arial"/>
              </a:rPr>
              <a:t>NegativeMarkingGradingPolicy — </a:t>
            </a:r>
            <a:r>
              <a:rPr sz="850">
                <a:solidFill>
                  <a:srgbClr val="0F172A"/>
                </a:solidFill>
                <a:latin typeface="Arial"/>
              </a:rPr>
              <a:t>Competitive exam scoring (25% deduction for incorrect answers), satisfying the Open/Closed Principle.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CORE JAVA CONCEPT 3: POLYMORPHISM IN ACTION</a:t>
            </a:r>
          </a:p>
          <a:p>
            <a:pPr>
              <a:defRPr sz="1100" b="1">
                <a:solidFill>
                  <a:srgbClr val="EA580C"/>
                </a:solidFill>
                <a:latin typeface="Arial"/>
              </a:defRPr>
            </a:pPr>
            <a:r>
              <a:t>DYNAMIC METHOD DISPATCH (vtable) &amp; STATIC METHOD OVERLOADING</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6</a:t>
            </a:r>
          </a:p>
        </p:txBody>
      </p:sp>
      <p:pic>
        <p:nvPicPr>
          <p:cNvPr id="7" name="Picture 6" descr="java_polymorphism.jpg"/>
          <p:cNvPicPr>
            <a:picLocks noChangeAspect="1"/>
          </p:cNvPicPr>
          <p:nvPr/>
        </p:nvPicPr>
        <p:blipFill>
          <a:blip r:embed="rId3"/>
          <a:stretch>
            <a:fillRect/>
          </a:stretch>
        </p:blipFill>
        <p:spPr>
          <a:xfrm>
            <a:off x="731520" y="1463040"/>
            <a:ext cx="6217920" cy="4754880"/>
          </a:xfrm>
          <a:prstGeom prst="rect">
            <a:avLst/>
          </a:prstGeom>
        </p:spPr>
      </p:pic>
      <p:sp>
        <p:nvSpPr>
          <p:cNvPr id="8" name="Rounded Rectangle 7"/>
          <p:cNvSpPr/>
          <p:nvPr/>
        </p:nvSpPr>
        <p:spPr>
          <a:xfrm>
            <a:off x="7132320" y="146304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DYNAMIC BINDING (VTABLE)</a:t>
            </a:r>
          </a:p>
          <a:p>
            <a:pPr>
              <a:spcAft>
                <a:spcPts val="400"/>
              </a:spcAft>
              <a:defRPr sz="1200" b="1">
                <a:solidFill>
                  <a:srgbClr val="1B365D"/>
                </a:solidFill>
                <a:latin typeface="Arial"/>
              </a:defRPr>
            </a:pPr>
            <a:r>
              <a:t>Runtime Polymorphism (Dynamic Method Dispatch)</a:t>
            </a:r>
          </a:p>
          <a:p>
            <a:pPr>
              <a:spcAft>
                <a:spcPts val="300"/>
              </a:spcAft>
            </a:pPr>
            <a:r>
              <a:rPr b="1" sz="850">
                <a:solidFill>
                  <a:srgbClr val="0F172A"/>
                </a:solidFill>
                <a:latin typeface="Arial"/>
              </a:rPr>
              <a:t>Dynamic Question Dispatch — </a:t>
            </a:r>
            <a:r>
              <a:rPr sz="850">
                <a:solidFill>
                  <a:srgbClr val="0F172A"/>
                </a:solidFill>
                <a:latin typeface="Arial"/>
              </a:rPr>
              <a:t>Iterating List&lt;Question&gt;: q.displayQuestion() and q.checkAnswer() dynamically resolve to MCQ, TrueFalse, or Numeric via JVM vtable.</a:t>
            </a:r>
          </a:p>
          <a:p>
            <a:pPr>
              <a:spcAft>
                <a:spcPts val="300"/>
              </a:spcAft>
            </a:pPr>
            <a:r>
              <a:rPr b="1" sz="850">
                <a:solidFill>
                  <a:srgbClr val="0F172A"/>
                </a:solidFill>
                <a:latin typeface="Arial"/>
              </a:rPr>
              <a:t>Interface Strategy Dispatch — </a:t>
            </a:r>
            <a:r>
              <a:rPr sz="850">
                <a:solidFill>
                  <a:srgbClr val="0F172A"/>
                </a:solidFill>
                <a:latin typeface="Arial"/>
              </a:rPr>
              <a:t>QuizEvaluator evaluator = (mode == 1) ? new StandardGradingPolicy() : new NegativeMarkingGradingPolicy(); evaluator.evaluateScore(attempt);</a:t>
            </a:r>
          </a:p>
          <a:p>
            <a:pPr>
              <a:spcAft>
                <a:spcPts val="300"/>
              </a:spcAft>
            </a:pPr>
            <a:r>
              <a:rPr b="1" sz="850">
                <a:solidFill>
                  <a:srgbClr val="0F172A"/>
                </a:solidFill>
                <a:latin typeface="Arial"/>
              </a:rPr>
              <a:t>Dashboard Dispatch — </a:t>
            </a:r>
            <a:r>
              <a:rPr sz="850">
                <a:solidFill>
                  <a:srgbClr val="0F172A"/>
                </a:solidFill>
                <a:latin typeface="Arial"/>
              </a:rPr>
              <a:t>User userRef = currentStudent; userRef.displayDashboard(); dynamically binds to Student's dashboard.</a:t>
            </a:r>
          </a:p>
        </p:txBody>
      </p:sp>
      <p:sp>
        <p:nvSpPr>
          <p:cNvPr id="9" name="Rounded Rectangle 8"/>
          <p:cNvSpPr/>
          <p:nvPr/>
        </p:nvSpPr>
        <p:spPr>
          <a:xfrm>
            <a:off x="7132320" y="388620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STATIC BINDING / OVERLOADING</a:t>
            </a:r>
          </a:p>
          <a:p>
            <a:pPr>
              <a:spcAft>
                <a:spcPts val="400"/>
              </a:spcAft>
              <a:defRPr sz="1200" b="1">
                <a:solidFill>
                  <a:srgbClr val="1B365D"/>
                </a:solidFill>
                <a:latin typeface="Arial"/>
              </a:defRPr>
            </a:pPr>
            <a:r>
              <a:t>Compile-Time Polymorphism (Method Overloading)</a:t>
            </a:r>
          </a:p>
          <a:p>
            <a:pPr>
              <a:spcAft>
                <a:spcPts val="300"/>
              </a:spcAft>
            </a:pPr>
            <a:r>
              <a:rPr b="1" sz="850">
                <a:solidFill>
                  <a:srgbClr val="0F172A"/>
                </a:solidFill>
                <a:latin typeface="Arial"/>
              </a:rPr>
              <a:t>Overloaded searchQuiz — </a:t>
            </a:r>
            <a:r>
              <a:rPr sz="850">
                <a:solidFill>
                  <a:srgbClr val="0F172A"/>
                </a:solidFill>
                <a:latin typeface="Arial"/>
              </a:rPr>
              <a:t>searchQuiz(String topic); filters by topic; searchQuiz(String topic, DifficultyLevel level); filters topic &amp; difficulty.</a:t>
            </a:r>
          </a:p>
          <a:p>
            <a:pPr>
              <a:spcAft>
                <a:spcPts val="300"/>
              </a:spcAft>
            </a:pPr>
            <a:r>
              <a:rPr b="1" sz="850">
                <a:solidFill>
                  <a:srgbClr val="0F172A"/>
                </a:solidFill>
                <a:latin typeface="Arial"/>
              </a:rPr>
              <a:t>Overloaded readInteger — </a:t>
            </a:r>
            <a:r>
              <a:rPr sz="850">
                <a:solidFill>
                  <a:srgbClr val="0F172A"/>
                </a:solidFill>
                <a:latin typeface="Arial"/>
              </a:rPr>
              <a:t>readInteger(scanner, prompt); and bounded readInteger(scanner, prompt, min, max); in InputValidator.</a:t>
            </a:r>
          </a:p>
          <a:p>
            <a:pPr>
              <a:spcAft>
                <a:spcPts val="300"/>
              </a:spcAft>
            </a:pPr>
            <a:r>
              <a:rPr b="1" sz="850">
                <a:solidFill>
                  <a:srgbClr val="0F172A"/>
                </a:solidFill>
                <a:latin typeface="Arial"/>
              </a:rPr>
              <a:t>Overloaded evaluateScore — </a:t>
            </a:r>
            <a:r>
              <a:rPr sz="850">
                <a:solidFill>
                  <a:srgbClr val="0F172A"/>
                </a:solidFill>
                <a:latin typeface="Arial"/>
              </a:rPr>
              <a:t>evaluateScore(QuizAttempt) vs evaluateScore(earnedMarks, incorrectCount, penaltyPerIncorrect).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CORE JAVA CONCEPT 4: EXCEPTION HANDLING HIERARCHY</a:t>
            </a:r>
          </a:p>
          <a:p>
            <a:pPr>
              <a:defRPr sz="1100" b="1">
                <a:solidFill>
                  <a:srgbClr val="EA580C"/>
                </a:solidFill>
                <a:latin typeface="Arial"/>
              </a:defRPr>
            </a:pPr>
            <a:r>
              <a:t>CUSTOM CHECKED EXCEPTIONS &amp; DEFENSIVE EXECUTION</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7</a:t>
            </a:r>
          </a:p>
        </p:txBody>
      </p:sp>
      <p:pic>
        <p:nvPicPr>
          <p:cNvPr id="7" name="Picture 6" descr="java_exception_tree.jpg"/>
          <p:cNvPicPr>
            <a:picLocks noChangeAspect="1"/>
          </p:cNvPicPr>
          <p:nvPr/>
        </p:nvPicPr>
        <p:blipFill>
          <a:blip r:embed="rId3"/>
          <a:stretch>
            <a:fillRect/>
          </a:stretch>
        </p:blipFill>
        <p:spPr>
          <a:xfrm>
            <a:off x="731520" y="1463040"/>
            <a:ext cx="6217920" cy="4754880"/>
          </a:xfrm>
          <a:prstGeom prst="rect">
            <a:avLst/>
          </a:prstGeom>
        </p:spPr>
      </p:pic>
      <p:sp>
        <p:nvSpPr>
          <p:cNvPr id="8" name="Rounded Rectangle 7"/>
          <p:cNvSpPr/>
          <p:nvPr/>
        </p:nvSpPr>
        <p:spPr>
          <a:xfrm>
            <a:off x="7132320" y="146304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CUSTOM EXCEPTION TREE</a:t>
            </a:r>
          </a:p>
          <a:p>
            <a:pPr>
              <a:spcAft>
                <a:spcPts val="400"/>
              </a:spcAft>
              <a:defRPr sz="1200" b="1">
                <a:solidFill>
                  <a:srgbClr val="1B365D"/>
                </a:solidFill>
                <a:latin typeface="Arial"/>
              </a:defRPr>
            </a:pPr>
            <a:r>
              <a:t>Custom Checked Exception Hierarchy</a:t>
            </a:r>
          </a:p>
          <a:p>
            <a:pPr>
              <a:spcAft>
                <a:spcPts val="300"/>
              </a:spcAft>
            </a:pPr>
            <a:r>
              <a:rPr b="1" sz="850">
                <a:solidFill>
                  <a:srgbClr val="0F172A"/>
                </a:solidFill>
                <a:latin typeface="Arial"/>
              </a:rPr>
              <a:t>Root: QuizException — </a:t>
            </a:r>
            <a:r>
              <a:rPr sz="850">
                <a:solidFill>
                  <a:srgbClr val="0F172A"/>
                </a:solidFill>
                <a:latin typeface="Arial"/>
              </a:rPr>
              <a:t>Extends java.lang.Exception. Root checked exception for domain integrity.</a:t>
            </a:r>
          </a:p>
          <a:p>
            <a:pPr>
              <a:spcAft>
                <a:spcPts val="300"/>
              </a:spcAft>
            </a:pPr>
            <a:r>
              <a:rPr b="1" sz="850">
                <a:solidFill>
                  <a:srgbClr val="0F172A"/>
                </a:solidFill>
                <a:latin typeface="Arial"/>
              </a:rPr>
              <a:t>QuizNotFoundException — </a:t>
            </a:r>
            <a:r>
              <a:rPr sz="850">
                <a:solidFill>
                  <a:srgbClr val="0F172A"/>
                </a:solidFill>
                <a:latin typeface="Arial"/>
              </a:rPr>
              <a:t>Thrown when accessing or deleting an unmapped Quiz ID (e.g. 'GHOST-404').</a:t>
            </a:r>
          </a:p>
          <a:p>
            <a:pPr>
              <a:spcAft>
                <a:spcPts val="300"/>
              </a:spcAft>
            </a:pPr>
            <a:r>
              <a:rPr b="1" sz="850">
                <a:solidFill>
                  <a:srgbClr val="0F172A"/>
                </a:solidFill>
                <a:latin typeface="Arial"/>
              </a:rPr>
              <a:t>DuplicateQuizException — </a:t>
            </a:r>
            <a:r>
              <a:rPr sz="850">
                <a:solidFill>
                  <a:srgbClr val="0F172A"/>
                </a:solidFill>
                <a:latin typeface="Arial"/>
              </a:rPr>
              <a:t>Thrown when faculty attempts to register a duplicate ID (e.g. 'JAVA-OOP').</a:t>
            </a:r>
          </a:p>
          <a:p>
            <a:pPr>
              <a:spcAft>
                <a:spcPts val="300"/>
              </a:spcAft>
            </a:pPr>
            <a:r>
              <a:rPr b="1" sz="850">
                <a:solidFill>
                  <a:srgbClr val="0F172A"/>
                </a:solidFill>
                <a:latin typeface="Arial"/>
              </a:rPr>
              <a:t>InvalidOptionException — </a:t>
            </a:r>
            <a:r>
              <a:rPr sz="850">
                <a:solidFill>
                  <a:srgbClr val="0F172A"/>
                </a:solidFill>
                <a:latin typeface="Arial"/>
              </a:rPr>
              <a:t>Thrown when a student provides an out-of-range option (e.g. 'Z' on MCQ or text in numeric).</a:t>
            </a:r>
          </a:p>
          <a:p>
            <a:pPr>
              <a:spcAft>
                <a:spcPts val="300"/>
              </a:spcAft>
            </a:pPr>
            <a:r>
              <a:rPr b="1" sz="850">
                <a:solidFill>
                  <a:srgbClr val="0F172A"/>
                </a:solidFill>
                <a:latin typeface="Arial"/>
              </a:rPr>
              <a:t>EmptyQuizException — </a:t>
            </a:r>
            <a:r>
              <a:rPr sz="850">
                <a:solidFill>
                  <a:srgbClr val="0F172A"/>
                </a:solidFill>
                <a:latin typeface="Arial"/>
              </a:rPr>
              <a:t>Thrown if an attempt is made to conduct a quiz containing zero questions.</a:t>
            </a:r>
          </a:p>
        </p:txBody>
      </p:sp>
      <p:sp>
        <p:nvSpPr>
          <p:cNvPr id="9" name="Rounded Rectangle 8"/>
          <p:cNvSpPr/>
          <p:nvPr/>
        </p:nvSpPr>
        <p:spPr>
          <a:xfrm>
            <a:off x="7132320" y="3886200"/>
            <a:ext cx="42976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FAULT-TOLERANT EXECUTION</a:t>
            </a:r>
          </a:p>
          <a:p>
            <a:pPr>
              <a:spcAft>
                <a:spcPts val="400"/>
              </a:spcAft>
              <a:defRPr sz="1200" b="1">
                <a:solidFill>
                  <a:srgbClr val="1B365D"/>
                </a:solidFill>
                <a:latin typeface="Arial"/>
              </a:defRPr>
            </a:pPr>
            <a:r>
              <a:t>Structured Try-Catch-Finally Architecture</a:t>
            </a:r>
          </a:p>
          <a:p>
            <a:pPr>
              <a:spcAft>
                <a:spcPts val="300"/>
              </a:spcAft>
            </a:pPr>
            <a:r>
              <a:rPr b="1" sz="850">
                <a:solidFill>
                  <a:srgbClr val="0F172A"/>
                </a:solidFill>
                <a:latin typeface="Arial"/>
              </a:rPr>
              <a:t>The 'try' Block — </a:t>
            </a:r>
            <a:r>
              <a:rPr sz="850">
                <a:solidFill>
                  <a:srgbClr val="0F172A"/>
                </a:solidFill>
                <a:latin typeface="Arial"/>
              </a:rPr>
              <a:t>Isolates critical operations: reading console inputs, invoking domain services, and validating student answers.</a:t>
            </a:r>
          </a:p>
          <a:p>
            <a:pPr>
              <a:spcAft>
                <a:spcPts val="300"/>
              </a:spcAft>
            </a:pPr>
            <a:r>
              <a:rPr b="1" sz="850">
                <a:solidFill>
                  <a:srgbClr val="0F172A"/>
                </a:solidFill>
                <a:latin typeface="Arial"/>
              </a:rPr>
              <a:t>The 'catch' Block — </a:t>
            </a:r>
            <a:r>
              <a:rPr sz="850">
                <a:solidFill>
                  <a:srgbClr val="0F172A"/>
                </a:solidFill>
                <a:latin typeface="Arial"/>
              </a:rPr>
              <a:t>Intercepts specific checked exceptions, prints clear diagnostic recovery guidance, and re-prompts without terminating.</a:t>
            </a:r>
          </a:p>
          <a:p>
            <a:pPr>
              <a:spcAft>
                <a:spcPts val="300"/>
              </a:spcAft>
            </a:pPr>
            <a:r>
              <a:rPr b="1" sz="850">
                <a:solidFill>
                  <a:srgbClr val="0F172A"/>
                </a:solidFill>
                <a:latin typeface="Arial"/>
              </a:rPr>
              <a:t>The 'finally' Block — </a:t>
            </a:r>
            <a:r>
              <a:rPr sz="850">
                <a:solidFill>
                  <a:srgbClr val="0F172A"/>
                </a:solidFill>
                <a:latin typeface="Arial"/>
              </a:rPr>
              <a:t>Guaranteed execution regardless of exception or normal completion: manages graceful resource shutdown and audit confirmation logs.</a:t>
            </a:r>
          </a:p>
          <a:p>
            <a:pPr>
              <a:spcAft>
                <a:spcPts val="300"/>
              </a:spcAft>
            </a:pPr>
            <a:r>
              <a:rPr b="1" sz="850">
                <a:solidFill>
                  <a:srgbClr val="0F172A"/>
                </a:solidFill>
                <a:latin typeface="Arial"/>
              </a:rPr>
              <a:t>Defensive Input Handling — </a:t>
            </a:r>
            <a:r>
              <a:rPr sz="850">
                <a:solidFill>
                  <a:srgbClr val="0F172A"/>
                </a:solidFill>
                <a:latin typeface="Arial"/>
              </a:rPr>
              <a:t>InputValidator wraps NumberFormatException, guaranteeing zero console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FEASIBILITY, VIABILITY &amp; EDUCATIONAL VERIFICATION</a:t>
            </a:r>
          </a:p>
          <a:p>
            <a:pPr>
              <a:defRPr sz="1100" b="1">
                <a:solidFill>
                  <a:srgbClr val="EA580C"/>
                </a:solidFill>
                <a:latin typeface="Arial"/>
              </a:defRPr>
            </a:pPr>
            <a:r>
              <a:t>INFRASTRUCTURE READINESS, SCALABILITY &amp; ACADEMIC VALUE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8</a:t>
            </a:r>
          </a:p>
        </p:txBody>
      </p:sp>
      <p:sp>
        <p:nvSpPr>
          <p:cNvPr id="7" name="Rounded Rectangle 6"/>
          <p:cNvSpPr/>
          <p:nvPr/>
        </p:nvSpPr>
        <p:spPr>
          <a:xfrm>
            <a:off x="731520" y="146304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FEASIBILITY</a:t>
            </a:r>
          </a:p>
          <a:p>
            <a:pPr>
              <a:spcAft>
                <a:spcPts val="400"/>
              </a:spcAft>
              <a:defRPr sz="1200" b="1">
                <a:solidFill>
                  <a:srgbClr val="1B365D"/>
                </a:solidFill>
                <a:latin typeface="Arial"/>
              </a:defRPr>
            </a:pPr>
            <a:r>
              <a:t>FEASIBILITY ANALYSIS</a:t>
            </a:r>
          </a:p>
          <a:p>
            <a:pPr>
              <a:spcAft>
                <a:spcPts val="300"/>
              </a:spcAft>
            </a:pPr>
            <a:r>
              <a:rPr b="1" sz="900">
                <a:solidFill>
                  <a:srgbClr val="0F172A"/>
                </a:solidFill>
                <a:latin typeface="Arial"/>
              </a:rPr>
              <a:t>Zero External Dependencies — </a:t>
            </a:r>
            <a:r>
              <a:rPr sz="900">
                <a:solidFill>
                  <a:srgbClr val="0F172A"/>
                </a:solidFill>
                <a:latin typeface="Arial"/>
              </a:rPr>
              <a:t>Built strictly with standard Java SE (JDK 8–26). No Maven/Gradle or third-party JARs required.</a:t>
            </a:r>
          </a:p>
          <a:p>
            <a:pPr>
              <a:spcAft>
                <a:spcPts val="300"/>
              </a:spcAft>
            </a:pPr>
            <a:r>
              <a:rPr b="1" sz="900">
                <a:solidFill>
                  <a:srgbClr val="0F172A"/>
                </a:solidFill>
                <a:latin typeface="Arial"/>
              </a:rPr>
              <a:t>Dual-Mode Deployability — </a:t>
            </a:r>
            <a:r>
              <a:rPr sz="900">
                <a:solidFill>
                  <a:srgbClr val="0F172A"/>
                </a:solidFill>
                <a:latin typeface="Arial"/>
              </a:rPr>
              <a:t>Runs seamlessly in terminal console (run.bat) or modern web browser (run_web.bat) via embedded HttpServer.</a:t>
            </a:r>
          </a:p>
          <a:p>
            <a:pPr>
              <a:spcAft>
                <a:spcPts val="300"/>
              </a:spcAft>
            </a:pPr>
            <a:r>
              <a:rPr b="1" sz="900">
                <a:solidFill>
                  <a:srgbClr val="0F172A"/>
                </a:solidFill>
                <a:latin typeface="Arial"/>
              </a:rPr>
              <a:t>Cross-Platform Portability — </a:t>
            </a:r>
            <a:r>
              <a:rPr sz="900">
                <a:solidFill>
                  <a:srgbClr val="0F172A"/>
                </a:solidFill>
                <a:latin typeface="Arial"/>
              </a:rPr>
              <a:t>Executes identically on Windows, Linux, and macOS runtimes.</a:t>
            </a:r>
          </a:p>
          <a:p>
            <a:pPr>
              <a:spcAft>
                <a:spcPts val="300"/>
              </a:spcAft>
            </a:pPr>
            <a:r>
              <a:rPr b="1" sz="900">
                <a:solidFill>
                  <a:srgbClr val="0F172A"/>
                </a:solidFill>
                <a:latin typeface="Arial"/>
              </a:rPr>
              <a:t>Faculty Time Efficiency — </a:t>
            </a:r>
            <a:r>
              <a:rPr sz="900">
                <a:solidFill>
                  <a:srgbClr val="0F172A"/>
                </a:solidFill>
                <a:latin typeface="Arial"/>
              </a:rPr>
              <a:t>Eliminates 100% of manual grading time and scorecard calculation errors.</a:t>
            </a:r>
          </a:p>
        </p:txBody>
      </p:sp>
      <p:sp>
        <p:nvSpPr>
          <p:cNvPr id="8" name="Rounded Rectangle 7"/>
          <p:cNvSpPr/>
          <p:nvPr/>
        </p:nvSpPr>
        <p:spPr>
          <a:xfrm>
            <a:off x="4389120" y="146304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VIABILITY</a:t>
            </a:r>
          </a:p>
          <a:p>
            <a:pPr>
              <a:spcAft>
                <a:spcPts val="400"/>
              </a:spcAft>
              <a:defRPr sz="1200" b="1">
                <a:solidFill>
                  <a:srgbClr val="1B365D"/>
                </a:solidFill>
                <a:latin typeface="Arial"/>
              </a:defRPr>
            </a:pPr>
            <a:r>
              <a:t>VIABILITY &amp; TRUST</a:t>
            </a:r>
          </a:p>
          <a:p>
            <a:pPr>
              <a:spcAft>
                <a:spcPts val="300"/>
              </a:spcAft>
            </a:pPr>
            <a:r>
              <a:rPr b="1" sz="900">
                <a:solidFill>
                  <a:srgbClr val="0F172A"/>
                </a:solidFill>
                <a:latin typeface="Arial"/>
              </a:rPr>
              <a:t>Proven Design Patterns — </a:t>
            </a:r>
            <a:r>
              <a:rPr sz="900">
                <a:solidFill>
                  <a:srgbClr val="0F172A"/>
                </a:solidFill>
                <a:latin typeface="Arial"/>
              </a:rPr>
              <a:t>Builds on industry-standard Strategy Pattern and SOLID Object-Oriented principles.</a:t>
            </a:r>
          </a:p>
          <a:p>
            <a:pPr>
              <a:spcAft>
                <a:spcPts val="300"/>
              </a:spcAft>
            </a:pPr>
            <a:r>
              <a:rPr b="1" sz="900">
                <a:solidFill>
                  <a:srgbClr val="0F172A"/>
                </a:solidFill>
                <a:latin typeface="Arial"/>
              </a:rPr>
              <a:t>Zero-Crash Guarantee — </a:t>
            </a:r>
            <a:r>
              <a:rPr sz="900">
                <a:solidFill>
                  <a:srgbClr val="0F172A"/>
                </a:solidFill>
                <a:latin typeface="Arial"/>
              </a:rPr>
              <a:t>Defensive input validation prevents fatal session terminations on typographical mistakes.</a:t>
            </a:r>
          </a:p>
          <a:p>
            <a:pPr>
              <a:spcAft>
                <a:spcPts val="300"/>
              </a:spcAft>
            </a:pPr>
            <a:r>
              <a:rPr b="1" sz="900">
                <a:solidFill>
                  <a:srgbClr val="0F172A"/>
                </a:solidFill>
                <a:latin typeface="Arial"/>
              </a:rPr>
              <a:t>Accountability &amp; Audits — </a:t>
            </a:r>
            <a:r>
              <a:rPr sz="900">
                <a:solidFill>
                  <a:srgbClr val="0F172A"/>
                </a:solidFill>
                <a:latin typeface="Arial"/>
              </a:rPr>
              <a:t>Comprehensive question-by-question breakdown provides transparent verification for students.</a:t>
            </a:r>
          </a:p>
          <a:p>
            <a:pPr>
              <a:spcAft>
                <a:spcPts val="300"/>
              </a:spcAft>
            </a:pPr>
            <a:r>
              <a:rPr b="1" sz="900">
                <a:solidFill>
                  <a:srgbClr val="0F172A"/>
                </a:solidFill>
                <a:latin typeface="Arial"/>
              </a:rPr>
              <a:t>Academic Alignment — </a:t>
            </a:r>
            <a:r>
              <a:rPr sz="900">
                <a:solidFill>
                  <a:srgbClr val="0F172A"/>
                </a:solidFill>
                <a:latin typeface="Arial"/>
              </a:rPr>
              <a:t>100% compliant with SPPU / AIT Pune BIT25434A0X course outcomes (CO3, CO4).</a:t>
            </a:r>
          </a:p>
        </p:txBody>
      </p:sp>
      <p:sp>
        <p:nvSpPr>
          <p:cNvPr id="9" name="Rounded Rectangle 8"/>
          <p:cNvSpPr/>
          <p:nvPr/>
        </p:nvSpPr>
        <p:spPr>
          <a:xfrm>
            <a:off x="8046720" y="146304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EDUCATIONAL IMPACT</a:t>
            </a:r>
          </a:p>
          <a:p>
            <a:pPr>
              <a:spcAft>
                <a:spcPts val="400"/>
              </a:spcAft>
              <a:defRPr sz="1200" b="1">
                <a:solidFill>
                  <a:srgbClr val="1B365D"/>
                </a:solidFill>
                <a:latin typeface="Arial"/>
              </a:defRPr>
            </a:pPr>
            <a:r>
              <a:t>ACADEMIC POTENTIAL</a:t>
            </a:r>
          </a:p>
          <a:p>
            <a:pPr>
              <a:spcAft>
                <a:spcPts val="300"/>
              </a:spcAft>
            </a:pPr>
            <a:r>
              <a:rPr b="1" sz="900">
                <a:solidFill>
                  <a:srgbClr val="0F172A"/>
                </a:solidFill>
                <a:latin typeface="Arial"/>
              </a:rPr>
              <a:t>Multi-Age Demographics — </a:t>
            </a:r>
            <a:r>
              <a:rPr sz="900">
                <a:solidFill>
                  <a:srgbClr val="0F172A"/>
                </a:solidFill>
                <a:latin typeface="Arial"/>
              </a:rPr>
              <a:t>Serves 4 distinct learner tiers: Kids (8-12), Teens (13-17), College (18-22), and Pro (20+).</a:t>
            </a:r>
          </a:p>
          <a:p>
            <a:pPr>
              <a:spcAft>
                <a:spcPts val="300"/>
              </a:spcAft>
            </a:pPr>
            <a:r>
              <a:rPr b="1" sz="900">
                <a:solidFill>
                  <a:srgbClr val="0F172A"/>
                </a:solidFill>
                <a:latin typeface="Arial"/>
              </a:rPr>
              <a:t>Department-Wide Scalability — </a:t>
            </a:r>
            <a:r>
              <a:rPr sz="900">
                <a:solidFill>
                  <a:srgbClr val="0F172A"/>
                </a:solidFill>
                <a:latin typeface="Arial"/>
              </a:rPr>
              <a:t>Easily adoptable across all departments at Army Institute of Technology, Pune.</a:t>
            </a:r>
          </a:p>
          <a:p>
            <a:pPr>
              <a:spcAft>
                <a:spcPts val="300"/>
              </a:spcAft>
            </a:pPr>
            <a:r>
              <a:rPr b="1" sz="900">
                <a:solidFill>
                  <a:srgbClr val="0F172A"/>
                </a:solidFill>
                <a:latin typeface="Arial"/>
              </a:rPr>
              <a:t>Competitive Exam Prep — </a:t>
            </a:r>
            <a:r>
              <a:rPr sz="900">
                <a:solidFill>
                  <a:srgbClr val="0F172A"/>
                </a:solidFill>
                <a:latin typeface="Arial"/>
              </a:rPr>
              <a:t>Prepares engineering students for GATE / TCS NQT competitive negative marking examinations.</a:t>
            </a:r>
          </a:p>
          <a:p>
            <a:pPr>
              <a:spcAft>
                <a:spcPts val="300"/>
              </a:spcAft>
            </a:pPr>
            <a:r>
              <a:rPr b="1" sz="900">
                <a:solidFill>
                  <a:srgbClr val="0F172A"/>
                </a:solidFill>
                <a:latin typeface="Arial"/>
              </a:rPr>
              <a:t>Extensible Roadmap — </a:t>
            </a:r>
            <a:r>
              <a:rPr sz="900">
                <a:solidFill>
                  <a:srgbClr val="0F172A"/>
                </a:solidFill>
                <a:latin typeface="Arial"/>
              </a:rPr>
              <a:t>Provides an ideal prototype foundation for Phase 2/3 MySQL database and Spring Boot integration.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IMPACT AND BENEFITS: TRADITIONAL VS JAVA QUIZ SYSTEM</a:t>
            </a:r>
          </a:p>
          <a:p>
            <a:pPr>
              <a:defRPr sz="1100" b="1">
                <a:solidFill>
                  <a:srgbClr val="EA580C"/>
                </a:solidFill>
                <a:latin typeface="Arial"/>
              </a:defRPr>
            </a:pPr>
            <a:r>
              <a:t>SYSTEM PERFORMANCE BENCHMARKS &amp; VALUE PROPOSITION</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9</a:t>
            </a:r>
          </a:p>
        </p:txBody>
      </p:sp>
      <p:pic>
        <p:nvPicPr>
          <p:cNvPr id="7" name="Picture 6" descr="quiz_benefits_wheel.jpg"/>
          <p:cNvPicPr>
            <a:picLocks noChangeAspect="1"/>
          </p:cNvPicPr>
          <p:nvPr/>
        </p:nvPicPr>
        <p:blipFill>
          <a:blip r:embed="rId3"/>
          <a:stretch>
            <a:fillRect/>
          </a:stretch>
        </p:blipFill>
        <p:spPr>
          <a:xfrm>
            <a:off x="731520" y="1463040"/>
            <a:ext cx="4754880" cy="4754880"/>
          </a:xfrm>
          <a:prstGeom prst="rect">
            <a:avLst/>
          </a:prstGeom>
        </p:spPr>
      </p:pic>
      <p:sp>
        <p:nvSpPr>
          <p:cNvPr id="8" name="Rounded Rectangle 7"/>
          <p:cNvSpPr/>
          <p:nvPr/>
        </p:nvSpPr>
        <p:spPr>
          <a:xfrm>
            <a:off x="5760720" y="1463040"/>
            <a:ext cx="5669280" cy="4754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b="1" sz="1200">
                <a:solidFill>
                  <a:srgbClr val="EA580C"/>
                </a:solidFill>
              </a:defRPr>
            </a:pPr>
            <a:r>
              <a:t>ACADEMIC SCREENING: CURRENT VS ONLINE QUIZ SYSTEM</a:t>
            </a:r>
          </a:p>
          <a:p>
            <a:pPr>
              <a:spcAft>
                <a:spcPts val="400"/>
              </a:spcAft>
            </a:pPr>
            <a:r>
              <a:rPr b="1" sz="950">
                <a:solidFill>
                  <a:srgbClr val="FFFFFF"/>
                </a:solidFill>
              </a:rPr>
              <a:t>Grading Accuracy — </a:t>
            </a:r>
            <a:r>
              <a:rPr sz="900">
                <a:solidFill>
                  <a:srgbClr val="16A34A"/>
                </a:solidFill>
              </a:rPr>
              <a:t>[Manual: 70%] ➔ [With Java System: 100%]
   </a:t>
            </a:r>
            <a:r>
              <a:rPr sz="850">
                <a:solidFill>
                  <a:srgbClr val="CBD5E1"/>
                </a:solidFill>
              </a:rPr>
              <a:t>Human error vs Automated mathematical precision</a:t>
            </a:r>
          </a:p>
          <a:p>
            <a:pPr>
              <a:spcAft>
                <a:spcPts val="400"/>
              </a:spcAft>
            </a:pPr>
            <a:r>
              <a:rPr b="1" sz="950">
                <a:solidFill>
                  <a:srgbClr val="FFFFFF"/>
                </a:solidFill>
              </a:rPr>
              <a:t>Result Turnaround — </a:t>
            </a:r>
            <a:r>
              <a:rPr sz="900">
                <a:solidFill>
                  <a:srgbClr val="16A34A"/>
                </a:solidFill>
              </a:rPr>
              <a:t>[Manual: 3 to 7 Days] ➔ [With Java System: &lt; 1 Second]
   </a:t>
            </a:r>
            <a:r>
              <a:rPr sz="850">
                <a:solidFill>
                  <a:srgbClr val="CBD5E1"/>
                </a:solidFill>
              </a:rPr>
              <a:t>Paper collection vs Instant scorecard generation</a:t>
            </a:r>
          </a:p>
          <a:p>
            <a:pPr>
              <a:spcAft>
                <a:spcPts val="400"/>
              </a:spcAft>
            </a:pPr>
            <a:r>
              <a:rPr b="1" sz="950">
                <a:solidFill>
                  <a:srgbClr val="FFFFFF"/>
                </a:solidFill>
              </a:rPr>
              <a:t>Crash / Failure Rate — </a:t>
            </a:r>
            <a:r>
              <a:rPr sz="900">
                <a:solidFill>
                  <a:srgbClr val="16A34A"/>
                </a:solidFill>
              </a:rPr>
              <a:t>[Manual: 40% (Fatal)] ➔ [With Java System: 0% (Immune)]
   </a:t>
            </a:r>
            <a:r>
              <a:rPr sz="850">
                <a:solidFill>
                  <a:srgbClr val="CBD5E1"/>
                </a:solidFill>
              </a:rPr>
              <a:t>Typos crash app vs 5-tier exception recovery</a:t>
            </a:r>
          </a:p>
          <a:p>
            <a:pPr>
              <a:spcAft>
                <a:spcPts val="400"/>
              </a:spcAft>
            </a:pPr>
            <a:r>
              <a:rPr b="1" sz="950">
                <a:solidFill>
                  <a:srgbClr val="FFFFFF"/>
                </a:solidFill>
              </a:rPr>
              <a:t>Grading Flexibility — </a:t>
            </a:r>
            <a:r>
              <a:rPr sz="900">
                <a:solidFill>
                  <a:srgbClr val="2563EB"/>
                </a:solidFill>
              </a:rPr>
              <a:t>[Manual: Rigid Linear] ➔ [With Java System: Dual Dynamic]
   </a:t>
            </a:r>
            <a:r>
              <a:rPr sz="850">
                <a:solidFill>
                  <a:srgbClr val="CBD5E1"/>
                </a:solidFill>
              </a:rPr>
              <a:t>Single format vs Standard + Negative Marking</a:t>
            </a:r>
          </a:p>
          <a:p>
            <a:pPr>
              <a:spcAft>
                <a:spcPts val="400"/>
              </a:spcAft>
            </a:pPr>
            <a:r>
              <a:rPr b="1" sz="950">
                <a:solidFill>
                  <a:srgbClr val="FFFFFF"/>
                </a:solidFill>
              </a:rPr>
              <a:t>Performance Feedback — </a:t>
            </a:r>
            <a:r>
              <a:rPr sz="900">
                <a:solidFill>
                  <a:srgbClr val="2563EB"/>
                </a:solidFill>
              </a:rPr>
              <a:t>[Manual: Score Only] ➔ [With Java System: Granular Audit]
   </a:t>
            </a:r>
            <a:r>
              <a:rPr sz="850">
                <a:solidFill>
                  <a:srgbClr val="CBD5E1"/>
                </a:solidFill>
              </a:rPr>
              <a:t>Minimal review vs Question-by-question breakdown</a:t>
            </a:r>
          </a:p>
          <a:p>
            <a:pPr>
              <a:spcAft>
                <a:spcPts val="400"/>
              </a:spcAft>
            </a:pPr>
            <a:r>
              <a:rPr b="1" sz="950">
                <a:solidFill>
                  <a:srgbClr val="FFFFFF"/>
                </a:solidFill>
              </a:rPr>
              <a:t>Faculty Workload — </a:t>
            </a:r>
            <a:r>
              <a:rPr sz="900">
                <a:solidFill>
                  <a:srgbClr val="2563EB"/>
                </a:solidFill>
              </a:rPr>
              <a:t>[Manual: 15+ Hours] ➔ [With Java System: Automated]
   </a:t>
            </a:r>
            <a:r>
              <a:rPr sz="850">
                <a:solidFill>
                  <a:srgbClr val="CBD5E1"/>
                </a:solidFill>
              </a:rPr>
              <a:t>Manual grading burden vs Instant report tabulation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SYSTEM IMPLEMENTATION &amp; DEMONSTRATION HIGHLIGHTS</a:t>
            </a:r>
          </a:p>
          <a:p>
            <a:pPr>
              <a:defRPr sz="1100" b="1">
                <a:solidFill>
                  <a:srgbClr val="EA580C"/>
                </a:solidFill>
                <a:latin typeface="Arial"/>
              </a:defRPr>
            </a:pPr>
            <a:r>
              <a:t>TRIPLE DELIVERY MODES &amp; REAL-TIME DEMONSTRATION</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10</a:t>
            </a:r>
          </a:p>
        </p:txBody>
      </p:sp>
      <p:sp>
        <p:nvSpPr>
          <p:cNvPr id="7" name="Rounded Rectangle 6"/>
          <p:cNvSpPr/>
          <p:nvPr/>
        </p:nvSpPr>
        <p:spPr>
          <a:xfrm>
            <a:off x="731520" y="1463040"/>
            <a:ext cx="3383280" cy="47548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CONSOLE CLI</a:t>
            </a:r>
          </a:p>
          <a:p>
            <a:pPr>
              <a:spcAft>
                <a:spcPts val="400"/>
              </a:spcAft>
              <a:defRPr sz="1200" b="1">
                <a:solidFill>
                  <a:srgbClr val="1B365D"/>
                </a:solidFill>
                <a:latin typeface="Arial"/>
              </a:defRPr>
            </a:pPr>
            <a:r>
              <a:t>Mode 1: Interactive Terminal CLI</a:t>
            </a:r>
          </a:p>
          <a:p>
            <a:pPr>
              <a:spcAft>
                <a:spcPts val="300"/>
              </a:spcAft>
            </a:pPr>
            <a:r>
              <a:rPr b="1" sz="900">
                <a:solidFill>
                  <a:srgbClr val="0F172A"/>
                </a:solidFill>
                <a:latin typeface="Arial"/>
              </a:rPr>
              <a:t>Launcher Script — </a:t>
            </a:r>
            <a:r>
              <a:rPr sz="900">
                <a:solidFill>
                  <a:srgbClr val="0F172A"/>
                </a:solidFill>
                <a:latin typeface="Arial"/>
              </a:rPr>
              <a:t>run.bat</a:t>
            </a:r>
          </a:p>
          <a:p>
            <a:pPr>
              <a:spcAft>
                <a:spcPts val="300"/>
              </a:spcAft>
            </a:pPr>
            <a:r>
              <a:rPr b="1" sz="900">
                <a:solidFill>
                  <a:srgbClr val="0F172A"/>
                </a:solidFill>
                <a:latin typeface="Arial"/>
              </a:rPr>
              <a:t>Pure Core Java — </a:t>
            </a:r>
            <a:r>
              <a:rPr sz="900">
                <a:solidFill>
                  <a:srgbClr val="0F172A"/>
                </a:solidFill>
                <a:latin typeface="Arial"/>
              </a:rPr>
              <a:t>Works directly in Windows Command Prompt without external dependencies.</a:t>
            </a:r>
          </a:p>
          <a:p>
            <a:pPr>
              <a:spcAft>
                <a:spcPts val="300"/>
              </a:spcAft>
            </a:pPr>
            <a:r>
              <a:rPr b="1" sz="900">
                <a:solidFill>
                  <a:srgbClr val="0F172A"/>
                </a:solidFill>
                <a:latin typeface="Arial"/>
              </a:rPr>
              <a:t>Diverse Library — </a:t>
            </a:r>
            <a:r>
              <a:rPr sz="900">
                <a:solidFill>
                  <a:srgbClr val="0F172A"/>
                </a:solidFill>
                <a:latin typeface="Arial"/>
              </a:rPr>
              <a:t>9 pre-loaded quizzes across 4 age demographics with tabular age display.</a:t>
            </a:r>
          </a:p>
          <a:p>
            <a:pPr>
              <a:spcAft>
                <a:spcPts val="300"/>
              </a:spcAft>
            </a:pPr>
            <a:r>
              <a:rPr b="1" sz="900">
                <a:solidFill>
                  <a:srgbClr val="0F172A"/>
                </a:solidFill>
                <a:latin typeface="Arial"/>
              </a:rPr>
              <a:t>Graceful Recovery — </a:t>
            </a:r>
            <a:r>
              <a:rPr sz="900">
                <a:solidFill>
                  <a:srgbClr val="0F172A"/>
                </a:solidFill>
                <a:latin typeface="Arial"/>
              </a:rPr>
              <a:t>Try entering 'Z' on MCQ question 1 — system alerts and re-prompts.</a:t>
            </a:r>
          </a:p>
          <a:p>
            <a:pPr>
              <a:spcAft>
                <a:spcPts val="300"/>
              </a:spcAft>
            </a:pPr>
            <a:r>
              <a:rPr b="1" sz="900">
                <a:solidFill>
                  <a:srgbClr val="0F172A"/>
                </a:solidFill>
                <a:latin typeface="Arial"/>
              </a:rPr>
              <a:t>Detailed Audit — </a:t>
            </a:r>
            <a:r>
              <a:rPr sz="900">
                <a:solidFill>
                  <a:srgbClr val="0F172A"/>
                </a:solidFill>
                <a:latin typeface="Arial"/>
              </a:rPr>
              <a:t>Generates full item-by-item breakdown with earned marks and letter grades.</a:t>
            </a:r>
          </a:p>
        </p:txBody>
      </p:sp>
      <p:sp>
        <p:nvSpPr>
          <p:cNvPr id="8" name="Rounded Rectangle 7"/>
          <p:cNvSpPr/>
          <p:nvPr/>
        </p:nvSpPr>
        <p:spPr>
          <a:xfrm>
            <a:off x="4389120" y="1463040"/>
            <a:ext cx="3383280" cy="4754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WEB BROWSER UI</a:t>
            </a:r>
          </a:p>
          <a:p>
            <a:pPr>
              <a:spcAft>
                <a:spcPts val="400"/>
              </a:spcAft>
              <a:defRPr sz="1200" b="1">
                <a:solidFill>
                  <a:srgbClr val="1B365D"/>
                </a:solidFill>
                <a:latin typeface="Arial"/>
              </a:defRPr>
            </a:pPr>
            <a:r>
              <a:t>Mode 2: Modern Web Application</a:t>
            </a:r>
          </a:p>
          <a:p>
            <a:pPr>
              <a:spcAft>
                <a:spcPts val="300"/>
              </a:spcAft>
            </a:pPr>
            <a:r>
              <a:rPr b="1" sz="900">
                <a:solidFill>
                  <a:srgbClr val="0F172A"/>
                </a:solidFill>
                <a:latin typeface="Arial"/>
              </a:rPr>
              <a:t>Launcher Script — </a:t>
            </a:r>
            <a:r>
              <a:rPr sz="900">
                <a:solidFill>
                  <a:srgbClr val="0F172A"/>
                </a:solidFill>
                <a:latin typeface="Arial"/>
              </a:rPr>
              <a:t>run_web.bat</a:t>
            </a:r>
          </a:p>
          <a:p>
            <a:pPr>
              <a:spcAft>
                <a:spcPts val="300"/>
              </a:spcAft>
            </a:pPr>
            <a:r>
              <a:rPr b="1" sz="900">
                <a:solidFill>
                  <a:srgbClr val="0F172A"/>
                </a:solidFill>
                <a:latin typeface="Arial"/>
              </a:rPr>
              <a:t>Embedded Server — </a:t>
            </a:r>
            <a:r>
              <a:rPr sz="900">
                <a:solidFill>
                  <a:srgbClr val="0F172A"/>
                </a:solidFill>
                <a:latin typeface="Arial"/>
              </a:rPr>
              <a:t>Custom QuizWebServer built using standard com.sun.net.httpserver.HttpServer.</a:t>
            </a:r>
          </a:p>
          <a:p>
            <a:pPr>
              <a:spcAft>
                <a:spcPts val="300"/>
              </a:spcAft>
            </a:pPr>
            <a:r>
              <a:rPr b="1" sz="900">
                <a:solidFill>
                  <a:srgbClr val="0F172A"/>
                </a:solidFill>
                <a:latin typeface="Arial"/>
              </a:rPr>
              <a:t>Multi-Age Filter — </a:t>
            </a:r>
            <a:r>
              <a:rPr sz="900">
                <a:solidFill>
                  <a:srgbClr val="0F172A"/>
                </a:solidFill>
                <a:latin typeface="Arial"/>
              </a:rPr>
              <a:t>Dynamic toolbar dropdown filters Kids, Teens, College, and Competitive Pro quizzes.</a:t>
            </a:r>
          </a:p>
          <a:p>
            <a:pPr>
              <a:spcAft>
                <a:spcPts val="300"/>
              </a:spcAft>
            </a:pPr>
            <a:r>
              <a:rPr b="1" sz="900">
                <a:solidFill>
                  <a:srgbClr val="0F172A"/>
                </a:solidFill>
                <a:latin typeface="Arial"/>
              </a:rPr>
              <a:t>Interactive UI — </a:t>
            </a:r>
            <a:r>
              <a:rPr sz="900">
                <a:solidFill>
                  <a:srgbClr val="0F172A"/>
                </a:solidFill>
                <a:latin typeface="Arial"/>
              </a:rPr>
              <a:t>10-minute live countdown timer, radio options, instant scorecard modal.</a:t>
            </a:r>
          </a:p>
          <a:p>
            <a:pPr>
              <a:spcAft>
                <a:spcPts val="300"/>
              </a:spcAft>
            </a:pPr>
            <a:r>
              <a:rPr b="1" sz="900">
                <a:solidFill>
                  <a:srgbClr val="0F172A"/>
                </a:solidFill>
                <a:latin typeface="Arial"/>
              </a:rPr>
              <a:t>Faculty Panel — </a:t>
            </a:r>
            <a:r>
              <a:rPr sz="900">
                <a:solidFill>
                  <a:srgbClr val="0F172A"/>
                </a:solidFill>
                <a:latin typeface="Arial"/>
              </a:rPr>
              <a:t>Dynamic modals to create multi-age quizzes, append questions, and view scorecards.</a:t>
            </a:r>
          </a:p>
        </p:txBody>
      </p:sp>
      <p:sp>
        <p:nvSpPr>
          <p:cNvPr id="9" name="Rounded Rectangle 8"/>
          <p:cNvSpPr/>
          <p:nvPr/>
        </p:nvSpPr>
        <p:spPr>
          <a:xfrm>
            <a:off x="8046720" y="1463040"/>
            <a:ext cx="3383280" cy="47548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AUTOMATED TEST HARNESS</a:t>
            </a:r>
          </a:p>
          <a:p>
            <a:pPr>
              <a:spcAft>
                <a:spcPts val="400"/>
              </a:spcAft>
              <a:defRPr sz="1200" b="1">
                <a:solidFill>
                  <a:srgbClr val="1B365D"/>
                </a:solidFill>
                <a:latin typeface="Arial"/>
              </a:defRPr>
            </a:pPr>
            <a:r>
              <a:t>Mode 3: Automated Test Matrix</a:t>
            </a:r>
          </a:p>
          <a:p>
            <a:pPr>
              <a:spcAft>
                <a:spcPts val="300"/>
              </a:spcAft>
            </a:pPr>
            <a:r>
              <a:rPr b="1" sz="900">
                <a:solidFill>
                  <a:srgbClr val="0F172A"/>
                </a:solidFill>
                <a:latin typeface="Arial"/>
              </a:rPr>
              <a:t>Launcher Script — </a:t>
            </a:r>
            <a:r>
              <a:rPr sz="900">
                <a:solidFill>
                  <a:srgbClr val="0F172A"/>
                </a:solidFill>
                <a:latin typeface="Arial"/>
              </a:rPr>
              <a:t>run_tests.bat</a:t>
            </a:r>
          </a:p>
          <a:p>
            <a:pPr>
              <a:spcAft>
                <a:spcPts val="300"/>
              </a:spcAft>
            </a:pPr>
            <a:r>
              <a:rPr b="1" sz="900">
                <a:solidFill>
                  <a:srgbClr val="0F172A"/>
                </a:solidFill>
                <a:latin typeface="Arial"/>
              </a:rPr>
              <a:t>Examiner Suite — </a:t>
            </a:r>
            <a:r>
              <a:rPr sz="900">
                <a:solidFill>
                  <a:srgbClr val="0F172A"/>
                </a:solidFill>
                <a:latin typeface="Arial"/>
              </a:rPr>
              <a:t>Designed specifically for the 8-10 minute CIE-2 viva demonstration.</a:t>
            </a:r>
          </a:p>
          <a:p>
            <a:pPr>
              <a:spcAft>
                <a:spcPts val="300"/>
              </a:spcAft>
            </a:pPr>
            <a:r>
              <a:rPr b="1" sz="900">
                <a:solidFill>
                  <a:srgbClr val="0F172A"/>
                </a:solidFill>
                <a:latin typeface="Arial"/>
              </a:rPr>
              <a:t>Concept Proof 1 — </a:t>
            </a:r>
            <a:r>
              <a:rPr sz="900">
                <a:solidFill>
                  <a:srgbClr val="0F172A"/>
                </a:solidFill>
                <a:latin typeface="Arial"/>
              </a:rPr>
              <a:t>Executes runtime polymorphism across MCQ, True/False, and Numeric questions.</a:t>
            </a:r>
          </a:p>
          <a:p>
            <a:pPr>
              <a:spcAft>
                <a:spcPts val="300"/>
              </a:spcAft>
            </a:pPr>
            <a:r>
              <a:rPr b="1" sz="900">
                <a:solidFill>
                  <a:srgbClr val="0F172A"/>
                </a:solidFill>
                <a:latin typeface="Arial"/>
              </a:rPr>
              <a:t>Concept Proof 2 — </a:t>
            </a:r>
            <a:r>
              <a:rPr sz="900">
                <a:solidFill>
                  <a:srgbClr val="0F172A"/>
                </a:solidFill>
                <a:latin typeface="Arial"/>
              </a:rPr>
              <a:t>Compares Standard vs Negative Marking on identical test attempts.</a:t>
            </a:r>
          </a:p>
          <a:p>
            <a:pPr>
              <a:spcAft>
                <a:spcPts val="300"/>
              </a:spcAft>
            </a:pPr>
            <a:r>
              <a:rPr b="1" sz="900">
                <a:solidFill>
                  <a:srgbClr val="0F172A"/>
                </a:solidFill>
                <a:latin typeface="Arial"/>
              </a:rPr>
              <a:t>Concept Proof 3 — </a:t>
            </a:r>
            <a:r>
              <a:rPr sz="900">
                <a:solidFill>
                  <a:srgbClr val="0F172A"/>
                </a:solidFill>
                <a:latin typeface="Arial"/>
              </a:rPr>
              <a:t>Systematically triggers and catches all 5 custom exceptions with try-catch-finally traces.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INDIVIDUAL CONTRIBUTION &amp; WORK ALLOCATION (SE IT B)</a:t>
            </a:r>
          </a:p>
          <a:p>
            <a:pPr>
              <a:defRPr sz="1100" b="1">
                <a:solidFill>
                  <a:srgbClr val="EA580C"/>
                </a:solidFill>
                <a:latin typeface="Arial"/>
              </a:defRPr>
            </a:pPr>
            <a:r>
              <a:t>EXPLICIT RUBRIC RESPONSIBILITY MATRIX: UNIT III &amp; UNIT IV TOPIC MAPPING</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11</a:t>
            </a:r>
          </a:p>
        </p:txBody>
      </p:sp>
      <p:sp>
        <p:nvSpPr>
          <p:cNvPr id="7" name="Rounded Rectangle 6"/>
          <p:cNvSpPr/>
          <p:nvPr/>
        </p:nvSpPr>
        <p:spPr>
          <a:xfrm>
            <a:off x="731520" y="1463040"/>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TEAM MEMBER (IT B)</a:t>
            </a:r>
          </a:p>
          <a:p>
            <a:pPr>
              <a:spcAft>
                <a:spcPts val="400"/>
              </a:spcAft>
              <a:defRPr sz="1200" b="1">
                <a:solidFill>
                  <a:srgbClr val="1B365D"/>
                </a:solidFill>
                <a:latin typeface="Arial"/>
              </a:defRPr>
            </a:pPr>
            <a:r>
              <a:t>Aditya Yadav (Roll No: 8108)</a:t>
            </a:r>
          </a:p>
          <a:p>
            <a:pPr>
              <a:spcAft>
                <a:spcPts val="300"/>
              </a:spcAft>
            </a:pPr>
            <a:r>
              <a:rPr b="1" sz="850">
                <a:solidFill>
                  <a:srgbClr val="0F172A"/>
                </a:solidFill>
                <a:latin typeface="Arial"/>
              </a:rPr>
              <a:t>Assigned Role — </a:t>
            </a:r>
            <a:r>
              <a:rPr sz="850">
                <a:solidFill>
                  <a:srgbClr val="0F172A"/>
                </a:solidFill>
                <a:latin typeface="Arial"/>
              </a:rPr>
              <a:t>Group Leader &amp; System Architect</a:t>
            </a:r>
          </a:p>
          <a:p>
            <a:pPr>
              <a:spcAft>
                <a:spcPts val="300"/>
              </a:spcAft>
            </a:pPr>
            <a:r>
              <a:rPr b="1" sz="850">
                <a:solidFill>
                  <a:srgbClr val="0F172A"/>
                </a:solidFill>
                <a:latin typeface="Arial"/>
              </a:rPr>
              <a:t>Unit III Allocation — </a:t>
            </a:r>
            <a:r>
              <a:rPr sz="850">
                <a:solidFill>
                  <a:srgbClr val="0F172A"/>
                </a:solidFill>
                <a:latin typeface="Arial"/>
              </a:rPr>
              <a:t>Abstract Classes &amp; Methods (Question &amp; User hierarchies)</a:t>
            </a:r>
          </a:p>
          <a:p>
            <a:pPr>
              <a:spcAft>
                <a:spcPts val="300"/>
              </a:spcAft>
            </a:pPr>
            <a:r>
              <a:rPr b="1" sz="850">
                <a:solidFill>
                  <a:srgbClr val="0F172A"/>
                </a:solidFill>
                <a:latin typeface="Arial"/>
              </a:rPr>
              <a:t>Unit IV Allocation — </a:t>
            </a:r>
            <a:r>
              <a:rPr sz="850">
                <a:solidFill>
                  <a:srgbClr val="0F172A"/>
                </a:solidFill>
                <a:latin typeface="Arial"/>
              </a:rPr>
              <a:t>Types of Errors &amp; Compile-Time Parameter Validation</a:t>
            </a:r>
          </a:p>
          <a:p>
            <a:pPr>
              <a:spcAft>
                <a:spcPts val="300"/>
              </a:spcAft>
            </a:pPr>
            <a:r>
              <a:rPr b="1" sz="850">
                <a:solidFill>
                  <a:srgbClr val="0F172A"/>
                </a:solidFill>
                <a:latin typeface="Arial"/>
              </a:rPr>
              <a:t>Core Implementation — </a:t>
            </a:r>
            <a:r>
              <a:rPr sz="850">
                <a:solidFill>
                  <a:srgbClr val="0F172A"/>
                </a:solidFill>
                <a:latin typeface="Arial"/>
              </a:rPr>
              <a:t>abstract class Question, User, constructor boundary checks, and Quiz model aggregation.</a:t>
            </a:r>
          </a:p>
          <a:p>
            <a:pPr>
              <a:spcAft>
                <a:spcPts val="300"/>
              </a:spcAft>
            </a:pPr>
            <a:r>
              <a:rPr b="1" sz="850">
                <a:solidFill>
                  <a:srgbClr val="0F172A"/>
                </a:solidFill>
                <a:latin typeface="Arial"/>
              </a:rPr>
              <a:t>Viva Focus — </a:t>
            </a:r>
            <a:r>
              <a:rPr sz="850">
                <a:solidFill>
                  <a:srgbClr val="0F172A"/>
                </a:solidFill>
                <a:latin typeface="Arial"/>
              </a:rPr>
              <a:t>Why use an abstract class? What is the difference between an abstract class and an interface?</a:t>
            </a:r>
          </a:p>
        </p:txBody>
      </p:sp>
      <p:sp>
        <p:nvSpPr>
          <p:cNvPr id="8" name="Rounded Rectangle 7"/>
          <p:cNvSpPr/>
          <p:nvPr/>
        </p:nvSpPr>
        <p:spPr>
          <a:xfrm>
            <a:off x="6217920" y="1463040"/>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TEAM MEMBER (IT B)</a:t>
            </a:r>
          </a:p>
          <a:p>
            <a:pPr>
              <a:spcAft>
                <a:spcPts val="400"/>
              </a:spcAft>
              <a:defRPr sz="1200" b="1">
                <a:solidFill>
                  <a:srgbClr val="1B365D"/>
                </a:solidFill>
                <a:latin typeface="Arial"/>
              </a:defRPr>
            </a:pPr>
            <a:r>
              <a:t>Abhishekh Singh (Roll No: 8104)</a:t>
            </a:r>
          </a:p>
          <a:p>
            <a:pPr>
              <a:spcAft>
                <a:spcPts val="300"/>
              </a:spcAft>
            </a:pPr>
            <a:r>
              <a:rPr b="1" sz="850">
                <a:solidFill>
                  <a:srgbClr val="0F172A"/>
                </a:solidFill>
                <a:latin typeface="Arial"/>
              </a:rPr>
              <a:t>Assigned Role — </a:t>
            </a:r>
            <a:r>
              <a:rPr sz="850">
                <a:solidFill>
                  <a:srgbClr val="0F172A"/>
                </a:solidFill>
                <a:latin typeface="Arial"/>
              </a:rPr>
              <a:t>Polymorphic Question Specialist &amp; Core Dev</a:t>
            </a:r>
          </a:p>
          <a:p>
            <a:pPr>
              <a:spcAft>
                <a:spcPts val="300"/>
              </a:spcAft>
            </a:pPr>
            <a:r>
              <a:rPr b="1" sz="850">
                <a:solidFill>
                  <a:srgbClr val="0F172A"/>
                </a:solidFill>
                <a:latin typeface="Arial"/>
              </a:rPr>
              <a:t>Unit III Allocation — </a:t>
            </a:r>
            <a:r>
              <a:rPr sz="850">
                <a:solidFill>
                  <a:srgbClr val="0F172A"/>
                </a:solidFill>
                <a:latin typeface="Arial"/>
              </a:rPr>
              <a:t>Polymorphism, Method Overriding &amp; Dynamic Binding (vtable)</a:t>
            </a:r>
          </a:p>
          <a:p>
            <a:pPr>
              <a:spcAft>
                <a:spcPts val="300"/>
              </a:spcAft>
            </a:pPr>
            <a:r>
              <a:rPr b="1" sz="850">
                <a:solidFill>
                  <a:srgbClr val="0F172A"/>
                </a:solidFill>
                <a:latin typeface="Arial"/>
              </a:rPr>
              <a:t>Unit IV Allocation — </a:t>
            </a:r>
            <a:r>
              <a:rPr sz="850">
                <a:solidFill>
                  <a:srgbClr val="0F172A"/>
                </a:solidFill>
                <a:latin typeface="Arial"/>
              </a:rPr>
              <a:t>Types of Exceptions (Checked vs Unchecked) &amp; Propagation</a:t>
            </a:r>
          </a:p>
          <a:p>
            <a:pPr>
              <a:spcAft>
                <a:spcPts val="300"/>
              </a:spcAft>
            </a:pPr>
            <a:r>
              <a:rPr b="1" sz="850">
                <a:solidFill>
                  <a:srgbClr val="0F172A"/>
                </a:solidFill>
                <a:latin typeface="Arial"/>
              </a:rPr>
              <a:t>Core Implementation — </a:t>
            </a:r>
            <a:r>
              <a:rPr sz="850">
                <a:solidFill>
                  <a:srgbClr val="0F172A"/>
                </a:solidFill>
                <a:latin typeface="Arial"/>
              </a:rPr>
              <a:t>MultipleChoiceQuestion, TrueFalseQuestion, NumericQuestion, and overloaded searchQuiz().</a:t>
            </a:r>
          </a:p>
          <a:p>
            <a:pPr>
              <a:spcAft>
                <a:spcPts val="300"/>
              </a:spcAft>
            </a:pPr>
            <a:r>
              <a:rPr b="1" sz="850">
                <a:solidFill>
                  <a:srgbClr val="0F172A"/>
                </a:solidFill>
                <a:latin typeface="Arial"/>
              </a:rPr>
              <a:t>Viva Focus — </a:t>
            </a:r>
            <a:r>
              <a:rPr sz="850">
                <a:solidFill>
                  <a:srgbClr val="0F172A"/>
                </a:solidFill>
                <a:latin typeface="Arial"/>
              </a:rPr>
              <a:t>Where is runtime polymorphism used? How does dynamic method dispatch resolve method calls via vtable?</a:t>
            </a:r>
          </a:p>
        </p:txBody>
      </p:sp>
      <p:sp>
        <p:nvSpPr>
          <p:cNvPr id="9" name="Rounded Rectangle 8"/>
          <p:cNvSpPr/>
          <p:nvPr/>
        </p:nvSpPr>
        <p:spPr>
          <a:xfrm>
            <a:off x="731520" y="3977639"/>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TEAM MEMBER (IT B)</a:t>
            </a:r>
          </a:p>
          <a:p>
            <a:pPr>
              <a:spcAft>
                <a:spcPts val="400"/>
              </a:spcAft>
              <a:defRPr sz="1200" b="1">
                <a:solidFill>
                  <a:srgbClr val="1B365D"/>
                </a:solidFill>
                <a:latin typeface="Arial"/>
              </a:defRPr>
            </a:pPr>
            <a:r>
              <a:t>Priyam Raj (Roll No: 8134)</a:t>
            </a:r>
          </a:p>
          <a:p>
            <a:pPr>
              <a:spcAft>
                <a:spcPts val="300"/>
              </a:spcAft>
            </a:pPr>
            <a:r>
              <a:rPr b="1" sz="850">
                <a:solidFill>
                  <a:srgbClr val="0F172A"/>
                </a:solidFill>
                <a:latin typeface="Arial"/>
              </a:rPr>
              <a:t>Assigned Role — </a:t>
            </a:r>
            <a:r>
              <a:rPr sz="850">
                <a:solidFill>
                  <a:srgbClr val="0F172A"/>
                </a:solidFill>
                <a:latin typeface="Arial"/>
              </a:rPr>
              <a:t>Service &amp; Strategy Pattern Engineer</a:t>
            </a:r>
          </a:p>
          <a:p>
            <a:pPr>
              <a:spcAft>
                <a:spcPts val="300"/>
              </a:spcAft>
            </a:pPr>
            <a:r>
              <a:rPr b="1" sz="850">
                <a:solidFill>
                  <a:srgbClr val="0F172A"/>
                </a:solidFill>
                <a:latin typeface="Arial"/>
              </a:rPr>
              <a:t>Unit III Allocation — </a:t>
            </a:r>
            <a:r>
              <a:rPr sz="850">
                <a:solidFill>
                  <a:srgbClr val="0F172A"/>
                </a:solidFill>
                <a:latin typeface="Arial"/>
              </a:rPr>
              <a:t>Interfaces &amp; Behavioral Contracts (Strategy Design Pattern)</a:t>
            </a:r>
          </a:p>
          <a:p>
            <a:pPr>
              <a:spcAft>
                <a:spcPts val="300"/>
              </a:spcAft>
            </a:pPr>
            <a:r>
              <a:rPr b="1" sz="850">
                <a:solidFill>
                  <a:srgbClr val="0F172A"/>
                </a:solidFill>
                <a:latin typeface="Arial"/>
              </a:rPr>
              <a:t>Unit IV Allocation — </a:t>
            </a:r>
            <a:r>
              <a:rPr sz="850">
                <a:solidFill>
                  <a:srgbClr val="0F172A"/>
                </a:solidFill>
                <a:latin typeface="Arial"/>
              </a:rPr>
              <a:t>Exception Handling Mechanism (try, catch, finally, throws)</a:t>
            </a:r>
          </a:p>
          <a:p>
            <a:pPr>
              <a:spcAft>
                <a:spcPts val="300"/>
              </a:spcAft>
            </a:pPr>
            <a:r>
              <a:rPr b="1" sz="850">
                <a:solidFill>
                  <a:srgbClr val="0F172A"/>
                </a:solidFill>
                <a:latin typeface="Arial"/>
              </a:rPr>
              <a:t>Core Implementation — </a:t>
            </a:r>
            <a:r>
              <a:rPr sz="850">
                <a:solidFill>
                  <a:srgbClr val="0F172A"/>
                </a:solidFill>
                <a:latin typeface="Arial"/>
              </a:rPr>
              <a:t>QuizOperations &amp; QuizEvaluator interfaces, Standard &amp; Negative Marking grading policies.</a:t>
            </a:r>
          </a:p>
          <a:p>
            <a:pPr>
              <a:spcAft>
                <a:spcPts val="300"/>
              </a:spcAft>
            </a:pPr>
            <a:r>
              <a:rPr b="1" sz="850">
                <a:solidFill>
                  <a:srgbClr val="0F172A"/>
                </a:solidFill>
                <a:latin typeface="Arial"/>
              </a:rPr>
              <a:t>Viva Focus — </a:t>
            </a:r>
            <a:r>
              <a:rPr sz="850">
                <a:solidFill>
                  <a:srgbClr val="0F172A"/>
                </a:solidFill>
                <a:latin typeface="Arial"/>
              </a:rPr>
              <a:t>Why create the QuizEvaluator interface? How does it satisfy the Open/Closed Principle?</a:t>
            </a:r>
          </a:p>
        </p:txBody>
      </p:sp>
      <p:sp>
        <p:nvSpPr>
          <p:cNvPr id="10" name="Rounded Rectangle 9"/>
          <p:cNvSpPr/>
          <p:nvPr/>
        </p:nvSpPr>
        <p:spPr>
          <a:xfrm>
            <a:off x="6217920" y="3977639"/>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TEAM MEMBER (IT B)</a:t>
            </a:r>
          </a:p>
          <a:p>
            <a:pPr>
              <a:spcAft>
                <a:spcPts val="400"/>
              </a:spcAft>
              <a:defRPr sz="1200" b="1">
                <a:solidFill>
                  <a:srgbClr val="1B365D"/>
                </a:solidFill>
                <a:latin typeface="Arial"/>
              </a:defRPr>
            </a:pPr>
            <a:r>
              <a:t>Utkarsh Chauhan (Roll No: 8154)</a:t>
            </a:r>
          </a:p>
          <a:p>
            <a:pPr>
              <a:spcAft>
                <a:spcPts val="300"/>
              </a:spcAft>
            </a:pPr>
            <a:r>
              <a:rPr b="1" sz="850">
                <a:solidFill>
                  <a:srgbClr val="0F172A"/>
                </a:solidFill>
                <a:latin typeface="Arial"/>
              </a:rPr>
              <a:t>Assigned Role — </a:t>
            </a:r>
            <a:r>
              <a:rPr sz="850">
                <a:solidFill>
                  <a:srgbClr val="0F172A"/>
                </a:solidFill>
                <a:latin typeface="Arial"/>
              </a:rPr>
              <a:t>Quality Assurance &amp; Custom Exception Architect</a:t>
            </a:r>
          </a:p>
          <a:p>
            <a:pPr>
              <a:spcAft>
                <a:spcPts val="300"/>
              </a:spcAft>
            </a:pPr>
            <a:r>
              <a:rPr b="1" sz="850">
                <a:solidFill>
                  <a:srgbClr val="0F172A"/>
                </a:solidFill>
                <a:latin typeface="Arial"/>
              </a:rPr>
              <a:t>Unit III Allocation — </a:t>
            </a:r>
            <a:r>
              <a:rPr sz="850">
                <a:solidFill>
                  <a:srgbClr val="0F172A"/>
                </a:solidFill>
                <a:latin typeface="Arial"/>
              </a:rPr>
              <a:t>Interface Implementation &amp; Collections Architecture</a:t>
            </a:r>
          </a:p>
          <a:p>
            <a:pPr>
              <a:spcAft>
                <a:spcPts val="300"/>
              </a:spcAft>
            </a:pPr>
            <a:r>
              <a:rPr b="1" sz="850">
                <a:solidFill>
                  <a:srgbClr val="0F172A"/>
                </a:solidFill>
                <a:latin typeface="Arial"/>
              </a:rPr>
              <a:t>Unit IV Allocation — </a:t>
            </a:r>
            <a:r>
              <a:rPr sz="850">
                <a:solidFill>
                  <a:srgbClr val="0F172A"/>
                </a:solidFill>
                <a:latin typeface="Arial"/>
              </a:rPr>
              <a:t>User-Defined Checked Exceptions &amp; Zero-Crash Input Recovery</a:t>
            </a:r>
          </a:p>
          <a:p>
            <a:pPr>
              <a:spcAft>
                <a:spcPts val="300"/>
              </a:spcAft>
            </a:pPr>
            <a:r>
              <a:rPr b="1" sz="850">
                <a:solidFill>
                  <a:srgbClr val="0F172A"/>
                </a:solidFill>
                <a:latin typeface="Arial"/>
              </a:rPr>
              <a:t>Core Implementation — </a:t>
            </a:r>
            <a:r>
              <a:rPr sz="850">
                <a:solidFill>
                  <a:srgbClr val="0F172A"/>
                </a:solidFill>
                <a:latin typeface="Arial"/>
              </a:rPr>
              <a:t>QuizManager, 5-tier QuizException tree, defensive InputValidator, and run_tests.bat test suite.</a:t>
            </a:r>
          </a:p>
          <a:p>
            <a:pPr>
              <a:spcAft>
                <a:spcPts val="300"/>
              </a:spcAft>
            </a:pPr>
            <a:r>
              <a:rPr b="1" sz="850">
                <a:solidFill>
                  <a:srgbClr val="0F172A"/>
                </a:solidFill>
                <a:latin typeface="Arial"/>
              </a:rPr>
              <a:t>Viva Focus — </a:t>
            </a:r>
            <a:r>
              <a:rPr sz="850">
                <a:solidFill>
                  <a:srgbClr val="0F172A"/>
                </a:solidFill>
                <a:latin typeface="Arial"/>
              </a:rPr>
              <a:t>What custom exceptions can occur and how are they handled? Purpose of try-catch-finally?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TEAMMATE DEFENSE: ADITYA YADAV (ROLL: 8108)</a:t>
            </a:r>
          </a:p>
          <a:p>
            <a:pPr>
              <a:defRPr sz="1100" b="1">
                <a:solidFill>
                  <a:srgbClr val="EA580C"/>
                </a:solidFill>
                <a:latin typeface="Arial"/>
              </a:defRPr>
            </a:pPr>
            <a:r>
              <a:t>SE IT B • ASSIGNED ROLE: GROUP LEADER &amp; SYSTEM ARCHITECT • UNIT III &amp; IV TOPIC DEEP DIVE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12</a:t>
            </a:r>
          </a:p>
        </p:txBody>
      </p:sp>
      <p:sp>
        <p:nvSpPr>
          <p:cNvPr id="7" name="Rounded Rectangle 6"/>
          <p:cNvSpPr/>
          <p:nvPr/>
        </p:nvSpPr>
        <p:spPr>
          <a:xfrm>
            <a:off x="731520" y="1371600"/>
            <a:ext cx="10728655" cy="68580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b="1" sz="1300">
                <a:solidFill>
                  <a:srgbClr val="FFFFFF"/>
                </a:solidFill>
              </a:rPr>
              <a:t>STUDENT: Aditya Yadav  </a:t>
            </a:r>
            <a:r>
              <a:rPr b="1" sz="1100">
                <a:solidFill>
                  <a:srgbClr val="EA580C"/>
                </a:solidFill>
              </a:rPr>
              <a:t>•  ROLL NO: 8108  •  CLASS: SE IT B  •  </a:t>
            </a:r>
            <a:r>
              <a:rPr b="1" sz="1100">
                <a:solidFill>
                  <a:srgbClr val="2563EB"/>
                </a:solidFill>
              </a:rPr>
              <a:t>ROLE: Group Leader &amp; System Architect  •  SPPU BIT25434A0X (CO3, CO4)</a:t>
            </a:r>
          </a:p>
        </p:txBody>
      </p:sp>
      <p:sp>
        <p:nvSpPr>
          <p:cNvPr id="8" name="Rounded Rectangle 7"/>
          <p:cNvSpPr/>
          <p:nvPr/>
        </p:nvSpPr>
        <p:spPr>
          <a:xfrm>
            <a:off x="731520" y="2148840"/>
            <a:ext cx="5257800" cy="4389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III: POLYMORPHISM &amp; INTERFACES</a:t>
            </a:r>
          </a:p>
          <a:p>
            <a:pPr>
              <a:spcAft>
                <a:spcPts val="400"/>
              </a:spcAft>
              <a:defRPr sz="1200" b="1">
                <a:solidFill>
                  <a:srgbClr val="1B365D"/>
                </a:solidFill>
                <a:latin typeface="Arial"/>
              </a:defRPr>
            </a:pPr>
            <a:r>
              <a:t>Unit III: Abstract Classes &amp; Pure Abstract Methods</a:t>
            </a:r>
          </a:p>
          <a:p>
            <a:pPr>
              <a:spcAft>
                <a:spcPts val="300"/>
              </a:spcAft>
            </a:pPr>
            <a:r>
              <a:rPr b="1" sz="850">
                <a:solidFill>
                  <a:srgbClr val="0F172A"/>
                </a:solidFill>
                <a:latin typeface="Arial"/>
              </a:rPr>
              <a:t>Syllabus Topic &amp; Definition — </a:t>
            </a:r>
            <a:r>
              <a:rPr sz="850">
                <a:solidFill>
                  <a:srgbClr val="0F172A"/>
                </a:solidFill>
                <a:latin typeface="Arial"/>
              </a:rPr>
              <a:t>Abstract Classes and Methods (SPPU Unit III). An abstract class cannot be instantiated directly with 'new'; it defines a shared structural contract containing both implemented state/methods and pure abstract method signatures that derived classes must override.</a:t>
            </a:r>
          </a:p>
          <a:p>
            <a:pPr>
              <a:spcAft>
                <a:spcPts val="300"/>
              </a:spcAft>
            </a:pPr>
            <a:r>
              <a:rPr b="1" sz="850">
                <a:solidFill>
                  <a:srgbClr val="0F172A"/>
                </a:solidFill>
                <a:latin typeface="Arial"/>
              </a:rPr>
              <a:t>Why Used in Architecture — </a:t>
            </a:r>
            <a:r>
              <a:rPr sz="850">
                <a:solidFill>
                  <a:srgbClr val="0F172A"/>
                </a:solidFill>
                <a:latin typeface="Arial"/>
              </a:rPr>
              <a:t>A generic 'Question' or 'User' does not exist in isolation without specialized choice or role behavior. Declaring them abstract prevents naked instantiation while allowing shared state reuse (id, marks, topic, user identity).</a:t>
            </a:r>
          </a:p>
          <a:p>
            <a:pPr>
              <a:spcAft>
                <a:spcPts val="300"/>
              </a:spcAft>
            </a:pPr>
            <a:r>
              <a:rPr b="1" sz="850">
                <a:solidFill>
                  <a:srgbClr val="0F172A"/>
                </a:solidFill>
                <a:latin typeface="Arial"/>
              </a:rPr>
              <a:t>Project Implementation — </a:t>
            </a:r>
            <a:r>
              <a:rPr sz="850">
                <a:solidFill>
                  <a:srgbClr val="0F172A"/>
                </a:solidFill>
                <a:latin typeface="Arial"/>
              </a:rPr>
              <a:t>Architected abstract class Question (fields: id, questionText, marks, topic, difficulty) with pure abstract signatures: displayQuestion(), checkAnswer(String) throws InvalidOptionException, and getCorrectAnswerFormatted(). Created abstract class User with abstract void displayDashboard().</a:t>
            </a:r>
          </a:p>
          <a:p>
            <a:pPr>
              <a:spcAft>
                <a:spcPts val="300"/>
              </a:spcAft>
            </a:pPr>
            <a:r>
              <a:rPr b="1" sz="850">
                <a:solidFill>
                  <a:srgbClr val="0F172A"/>
                </a:solidFill>
                <a:latin typeface="Arial"/>
              </a:rPr>
              <a:t>Code Snippet — </a:t>
            </a:r>
            <a:r>
              <a:rPr sz="850">
                <a:solidFill>
                  <a:srgbClr val="0F172A"/>
                </a:solidFill>
                <a:latin typeface="Arial"/>
              </a:rPr>
              <a:t>public abstract class Question {
    protected String id, questionText, topic; protected int marks;
    public abstract void displayQuestion();
    public abstract boolean checkAnswer(String s) throws InvalidOptionException;
}</a:t>
            </a:r>
          </a:p>
          <a:p>
            <a:pPr>
              <a:spcAft>
                <a:spcPts val="300"/>
              </a:spcAft>
            </a:pPr>
            <a:r>
              <a:rPr b="1" sz="850">
                <a:solidFill>
                  <a:srgbClr val="0F172A"/>
                </a:solidFill>
                <a:latin typeface="Arial"/>
              </a:rPr>
              <a:t>Viva Defense (Rubric Answer) — </a:t>
            </a:r>
            <a:r>
              <a:rPr sz="850">
                <a:solidFill>
                  <a:srgbClr val="0F172A"/>
                </a:solidFill>
                <a:latin typeface="Arial"/>
              </a:rPr>
              <a:t>Q: Why use an abstract class instead of an interface here?
A: Because all questions share persistent state (fields: id, marks, topic) and concrete helper logic (displayHeader()). Interfaces cannot declare mutable instance state or constructors.</a:t>
            </a:r>
          </a:p>
        </p:txBody>
      </p:sp>
      <p:sp>
        <p:nvSpPr>
          <p:cNvPr id="9" name="Rounded Rectangle 8"/>
          <p:cNvSpPr/>
          <p:nvPr/>
        </p:nvSpPr>
        <p:spPr>
          <a:xfrm>
            <a:off x="6199632" y="2148840"/>
            <a:ext cx="5257800" cy="43891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IV: ERROR &amp; EXCEPTION HANDLING</a:t>
            </a:r>
          </a:p>
          <a:p>
            <a:pPr>
              <a:spcAft>
                <a:spcPts val="400"/>
              </a:spcAft>
              <a:defRPr sz="1200" b="1">
                <a:solidFill>
                  <a:srgbClr val="1B365D"/>
                </a:solidFill>
                <a:latin typeface="Arial"/>
              </a:defRPr>
            </a:pPr>
            <a:r>
              <a:t>Unit IV: Types of Errors &amp; Parameter Boundary Validation</a:t>
            </a:r>
          </a:p>
          <a:p>
            <a:pPr>
              <a:spcAft>
                <a:spcPts val="300"/>
              </a:spcAft>
            </a:pPr>
            <a:r>
              <a:rPr b="1" sz="850">
                <a:solidFill>
                  <a:srgbClr val="0F172A"/>
                </a:solidFill>
                <a:latin typeface="Arial"/>
              </a:rPr>
              <a:t>Syllabus Topic &amp; Definition — </a:t>
            </a:r>
            <a:r>
              <a:rPr sz="850">
                <a:solidFill>
                  <a:srgbClr val="0F172A"/>
                </a:solidFill>
                <a:latin typeface="Arial"/>
              </a:rPr>
              <a:t>Types of Error (SPPU Unit IV). Errors are categorized into: (1) Compile-time / Syntax errors caught by javac, (2) Logical errors (faulty algorithms resulting in wrong calculations), and (3) Runtime errors/exceptions (abnormal conditions during JVM execution).</a:t>
            </a:r>
          </a:p>
          <a:p>
            <a:pPr>
              <a:spcAft>
                <a:spcPts val="300"/>
              </a:spcAft>
            </a:pPr>
            <a:r>
              <a:rPr b="1" sz="850">
                <a:solidFill>
                  <a:srgbClr val="0F172A"/>
                </a:solidFill>
                <a:latin typeface="Arial"/>
              </a:rPr>
              <a:t>Operational Failure &amp; Mitigation — </a:t>
            </a:r>
            <a:r>
              <a:rPr sz="850">
                <a:solidFill>
                  <a:srgbClr val="0F172A"/>
                </a:solidFill>
                <a:latin typeface="Arial"/>
              </a:rPr>
              <a:t>Unchecked question creation could allow negative marks, zero-question quizzes, or empty IDs, corrupting database state and causing division-by-zero during percentage calculation.</a:t>
            </a:r>
          </a:p>
          <a:p>
            <a:pPr>
              <a:spcAft>
                <a:spcPts val="300"/>
              </a:spcAft>
            </a:pPr>
            <a:r>
              <a:rPr b="1" sz="850">
                <a:solidFill>
                  <a:srgbClr val="0F172A"/>
                </a:solidFill>
                <a:latin typeface="Arial"/>
              </a:rPr>
              <a:t>Project Implementation — </a:t>
            </a:r>
            <a:r>
              <a:rPr sz="850">
                <a:solidFill>
                  <a:srgbClr val="0F172A"/>
                </a:solidFill>
                <a:latin typeface="Arial"/>
              </a:rPr>
              <a:t>Enforced defensive constructor parameter checking in Question and Quiz entities. Throws checked InvalidQuestionException if marks &lt;= 0 or id is blank, and EmptyQuizException if conducting a quiz with 0 questions.</a:t>
            </a:r>
          </a:p>
          <a:p>
            <a:pPr>
              <a:spcAft>
                <a:spcPts val="300"/>
              </a:spcAft>
            </a:pPr>
            <a:r>
              <a:rPr b="1" sz="850">
                <a:solidFill>
                  <a:srgbClr val="0F172A"/>
                </a:solidFill>
                <a:latin typeface="Arial"/>
              </a:rPr>
              <a:t>Code Snippet — </a:t>
            </a:r>
            <a:r>
              <a:rPr sz="850">
                <a:solidFill>
                  <a:srgbClr val="0F172A"/>
                </a:solidFill>
                <a:latin typeface="Arial"/>
              </a:rPr>
              <a:t>if (marks &lt;= 0) throw new InvalidQuestionException("Marks must be &gt; 0: " + marks);
if (id == null || id.trim().isEmpty()) throw new InvalidQuestionException("ID empty");</a:t>
            </a:r>
          </a:p>
          <a:p>
            <a:pPr>
              <a:spcAft>
                <a:spcPts val="300"/>
              </a:spcAft>
            </a:pPr>
            <a:r>
              <a:rPr b="1" sz="850">
                <a:solidFill>
                  <a:srgbClr val="0F172A"/>
                </a:solidFill>
                <a:latin typeface="Arial"/>
              </a:rPr>
              <a:t>Viva Defense (Rubric Answer) — </a:t>
            </a:r>
            <a:r>
              <a:rPr sz="850">
                <a:solidFill>
                  <a:srgbClr val="0F172A"/>
                </a:solidFill>
                <a:latin typeface="Arial"/>
              </a:rPr>
              <a:t>Q: How does defensive validation prevent runtime errors in your project?
A: By enforcing strict preconditions in entity constructors, invalid state is intercepted at creation time, preventing downstream NullPointerExceptions and scoring calculation crashes.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TEAMMATE DEFENSE: ABHISHEKH SINGH (ROLL: 8104)</a:t>
            </a:r>
          </a:p>
          <a:p>
            <a:pPr>
              <a:defRPr sz="1100" b="1">
                <a:solidFill>
                  <a:srgbClr val="EA580C"/>
                </a:solidFill>
                <a:latin typeface="Arial"/>
              </a:defRPr>
            </a:pPr>
            <a:r>
              <a:t>SE IT B • ASSIGNED ROLE: POLYMORPHIC QUESTION SPECIALIST &amp; CORE DEV • UNIT III &amp; IV TOPIC DEEP DIVE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13</a:t>
            </a:r>
          </a:p>
        </p:txBody>
      </p:sp>
      <p:sp>
        <p:nvSpPr>
          <p:cNvPr id="7" name="Rounded Rectangle 6"/>
          <p:cNvSpPr/>
          <p:nvPr/>
        </p:nvSpPr>
        <p:spPr>
          <a:xfrm>
            <a:off x="731520" y="1371600"/>
            <a:ext cx="10728655" cy="685800"/>
          </a:xfrm>
          <a:prstGeom prst="roundRect">
            <a:avLst/>
          </a:prstGeom>
          <a:solidFill>
            <a:srgbClr val="1E293B"/>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b="1" sz="1300">
                <a:solidFill>
                  <a:srgbClr val="FFFFFF"/>
                </a:solidFill>
              </a:rPr>
              <a:t>STUDENT: Abhishekh Singh  </a:t>
            </a:r>
            <a:r>
              <a:rPr b="1" sz="1100">
                <a:solidFill>
                  <a:srgbClr val="EA580C"/>
                </a:solidFill>
              </a:rPr>
              <a:t>•  ROLL NO: 8104  •  CLASS: SE IT B  •  </a:t>
            </a:r>
            <a:r>
              <a:rPr b="1" sz="1100">
                <a:solidFill>
                  <a:srgbClr val="EA580C"/>
                </a:solidFill>
              </a:rPr>
              <a:t>ROLE: Polymorphic Question Specialist &amp; Core Dev  •  SPPU BIT25434A0X (CO3, CO4)</a:t>
            </a:r>
          </a:p>
        </p:txBody>
      </p:sp>
      <p:sp>
        <p:nvSpPr>
          <p:cNvPr id="8" name="Rounded Rectangle 7"/>
          <p:cNvSpPr/>
          <p:nvPr/>
        </p:nvSpPr>
        <p:spPr>
          <a:xfrm>
            <a:off x="731520" y="2148840"/>
            <a:ext cx="5257800" cy="4389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III: POLYMORPHISM &amp; INTERFACES</a:t>
            </a:r>
          </a:p>
          <a:p>
            <a:pPr>
              <a:spcAft>
                <a:spcPts val="400"/>
              </a:spcAft>
              <a:defRPr sz="1200" b="1">
                <a:solidFill>
                  <a:srgbClr val="1B365D"/>
                </a:solidFill>
                <a:latin typeface="Arial"/>
              </a:defRPr>
            </a:pPr>
            <a:r>
              <a:t>Unit III: Polymorphism, Method Overriding &amp; Dynamic Binding</a:t>
            </a:r>
          </a:p>
          <a:p>
            <a:pPr>
              <a:spcAft>
                <a:spcPts val="300"/>
              </a:spcAft>
            </a:pPr>
            <a:r>
              <a:rPr b="1" sz="850">
                <a:solidFill>
                  <a:srgbClr val="0F172A"/>
                </a:solidFill>
                <a:latin typeface="Arial"/>
              </a:rPr>
              <a:t>Syllabus Topic &amp; Definition — </a:t>
            </a:r>
            <a:r>
              <a:rPr sz="850">
                <a:solidFill>
                  <a:srgbClr val="0F172A"/>
                </a:solidFill>
                <a:latin typeface="Arial"/>
              </a:rPr>
              <a:t>Polymorphism, Method Overriding &amp; Dynamic Binding (SPPU Unit III). Runtime polymorphism enables an overridden method to be resolved dynamically at execution time via the JVM Virtual Method Table (vtable) based on the actual object instance rather than the reference type.</a:t>
            </a:r>
          </a:p>
          <a:p>
            <a:pPr>
              <a:spcAft>
                <a:spcPts val="300"/>
              </a:spcAft>
            </a:pPr>
            <a:r>
              <a:rPr b="1" sz="850">
                <a:solidFill>
                  <a:srgbClr val="0F172A"/>
                </a:solidFill>
                <a:latin typeface="Arial"/>
              </a:rPr>
              <a:t>Why Used in Architecture — </a:t>
            </a:r>
            <a:r>
              <a:rPr sz="850">
                <a:solidFill>
                  <a:srgbClr val="0F172A"/>
                </a:solidFill>
                <a:latin typeface="Arial"/>
              </a:rPr>
              <a:t>Allows the central QuizRunner engine to iterate through a heterogeneous list of questions without knowing their concrete types. Adding new question types requires zero modifications to the examination engine.</a:t>
            </a:r>
          </a:p>
          <a:p>
            <a:pPr>
              <a:spcAft>
                <a:spcPts val="300"/>
              </a:spcAft>
            </a:pPr>
            <a:r>
              <a:rPr b="1" sz="850">
                <a:solidFill>
                  <a:srgbClr val="0F172A"/>
                </a:solidFill>
                <a:latin typeface="Arial"/>
              </a:rPr>
              <a:t>Project Implementation — </a:t>
            </a:r>
            <a:r>
              <a:rPr sz="850">
                <a:solidFill>
                  <a:srgbClr val="0F172A"/>
                </a:solidFill>
                <a:latin typeface="Arial"/>
              </a:rPr>
              <a:t>Extended Question into 3 polymorphic archetypes: (1) MultipleChoiceQuestion (A-D choices &amp; index validation), (2) TrueFalseQuestion (binary T/F parsing), (3) NumericQuestion (floating-point tolerance delta: |actual - expected| &lt;= delta). Built overloaded searchQuiz(topic) and searchQuiz(topic, level).</a:t>
            </a:r>
          </a:p>
          <a:p>
            <a:pPr>
              <a:spcAft>
                <a:spcPts val="300"/>
              </a:spcAft>
            </a:pPr>
            <a:r>
              <a:rPr b="1" sz="850">
                <a:solidFill>
                  <a:srgbClr val="0F172A"/>
                </a:solidFill>
                <a:latin typeface="Arial"/>
              </a:rPr>
              <a:t>Code Snippet — </a:t>
            </a:r>
            <a:r>
              <a:rPr sz="850">
                <a:solidFill>
                  <a:srgbClr val="0F172A"/>
                </a:solidFill>
                <a:latin typeface="Arial"/>
              </a:rPr>
              <a:t>// Dynamic Method Dispatch loop in QuizRunner:
for (Question q : currentQuiz.getQuestions()) {
    q.displayQuestion(); // Dynamically binds to MCQ / TF / Numeric via vtable
    boolean isCorrect = q.checkAnswer(userInput); // Dynamic runtime dispatch
}</a:t>
            </a:r>
          </a:p>
          <a:p>
            <a:pPr>
              <a:spcAft>
                <a:spcPts val="300"/>
              </a:spcAft>
            </a:pPr>
            <a:r>
              <a:rPr b="1" sz="850">
                <a:solidFill>
                  <a:srgbClr val="0F172A"/>
                </a:solidFill>
                <a:latin typeface="Arial"/>
              </a:rPr>
              <a:t>Viva Defense (Rubric Answer) — </a:t>
            </a:r>
            <a:r>
              <a:rPr sz="850">
                <a:solidFill>
                  <a:srgbClr val="0F172A"/>
                </a:solidFill>
                <a:latin typeface="Arial"/>
              </a:rPr>
              <a:t>Q: Where is runtime polymorphism used? Explain the dispatch mechanism.
A: In QuizRunner when calling q.displayQuestion(). Although q is typed as Question, the JVM inspects the object header at runtime and invokes MultipleChoiceQuestion.displayQuestion() or NumericQuestion.displayQuestion().</a:t>
            </a:r>
          </a:p>
        </p:txBody>
      </p:sp>
      <p:sp>
        <p:nvSpPr>
          <p:cNvPr id="9" name="Rounded Rectangle 8"/>
          <p:cNvSpPr/>
          <p:nvPr/>
        </p:nvSpPr>
        <p:spPr>
          <a:xfrm>
            <a:off x="6199632" y="2148840"/>
            <a:ext cx="5257800" cy="43891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IV: ERROR &amp; EXCEPTION HANDLING</a:t>
            </a:r>
          </a:p>
          <a:p>
            <a:pPr>
              <a:spcAft>
                <a:spcPts val="400"/>
              </a:spcAft>
              <a:defRPr sz="1200" b="1">
                <a:solidFill>
                  <a:srgbClr val="1B365D"/>
                </a:solidFill>
                <a:latin typeface="Arial"/>
              </a:defRPr>
            </a:pPr>
            <a:r>
              <a:t>Unit IV: Types of Exceptions &amp; Exception Propagation</a:t>
            </a:r>
          </a:p>
          <a:p>
            <a:pPr>
              <a:spcAft>
                <a:spcPts val="300"/>
              </a:spcAft>
            </a:pPr>
            <a:r>
              <a:rPr b="1" sz="850">
                <a:solidFill>
                  <a:srgbClr val="0F172A"/>
                </a:solidFill>
                <a:latin typeface="Arial"/>
              </a:rPr>
              <a:t>Syllabus Topic &amp; Definition — </a:t>
            </a:r>
            <a:r>
              <a:rPr sz="850">
                <a:solidFill>
                  <a:srgbClr val="0F172A"/>
                </a:solidFill>
                <a:latin typeface="Arial"/>
              </a:rPr>
              <a:t>Types of Exceptions and Propagation (SPPU Unit IV). Java divides throwables into unchecked RuntimeException (subclasses of RuntimeException that the compiler ignores) and checked Exception (enforced by compiler requiring explicit 'throws' or 'try-catch').</a:t>
            </a:r>
          </a:p>
          <a:p>
            <a:pPr>
              <a:spcAft>
                <a:spcPts val="300"/>
              </a:spcAft>
            </a:pPr>
            <a:r>
              <a:rPr b="1" sz="850">
                <a:solidFill>
                  <a:srgbClr val="0F172A"/>
                </a:solidFill>
                <a:latin typeface="Arial"/>
              </a:rPr>
              <a:t>Operational Failure &amp; Mitigation — </a:t>
            </a:r>
            <a:r>
              <a:rPr sz="850">
                <a:solidFill>
                  <a:srgbClr val="0F172A"/>
                </a:solidFill>
                <a:latin typeface="Arial"/>
              </a:rPr>
              <a:t>If students enter non-numeric input for numeric questions or invalid letters for MCQs, unhandled exceptions would abruptly terminate the examination process, losing all student answers.</a:t>
            </a:r>
          </a:p>
          <a:p>
            <a:pPr>
              <a:spcAft>
                <a:spcPts val="300"/>
              </a:spcAft>
            </a:pPr>
            <a:r>
              <a:rPr b="1" sz="850">
                <a:solidFill>
                  <a:srgbClr val="0F172A"/>
                </a:solidFill>
                <a:latin typeface="Arial"/>
              </a:rPr>
              <a:t>Project Implementation — </a:t>
            </a:r>
            <a:r>
              <a:rPr sz="850">
                <a:solidFill>
                  <a:srgbClr val="0F172A"/>
                </a:solidFill>
                <a:latin typeface="Arial"/>
              </a:rPr>
              <a:t>Protected question evaluation by declaring checked InvalidOptionException on checkAnswer(). Traps NumberFormatException internally for numeric types and bubbles InvalidOptionException up to the caller to prompt the student for an immediate retry.</a:t>
            </a:r>
          </a:p>
          <a:p>
            <a:pPr>
              <a:spcAft>
                <a:spcPts val="300"/>
              </a:spcAft>
            </a:pPr>
            <a:r>
              <a:rPr b="1" sz="850">
                <a:solidFill>
                  <a:srgbClr val="0F172A"/>
                </a:solidFill>
                <a:latin typeface="Arial"/>
              </a:rPr>
              <a:t>Code Snippet — </a:t>
            </a:r>
            <a:r>
              <a:rPr sz="850">
                <a:solidFill>
                  <a:srgbClr val="0F172A"/>
                </a:solidFill>
                <a:latin typeface="Arial"/>
              </a:rPr>
              <a:t>@Override
public boolean checkAnswer(String answer) throws InvalidOptionException {
    if (answer == null || answer.trim().isEmpty())
        throw new InvalidOptionException("Option cannot be empty.");
    // Validate range and return comparison...
}</a:t>
            </a:r>
          </a:p>
          <a:p>
            <a:pPr>
              <a:spcAft>
                <a:spcPts val="300"/>
              </a:spcAft>
            </a:pPr>
            <a:r>
              <a:rPr b="1" sz="850">
                <a:solidFill>
                  <a:srgbClr val="0F172A"/>
                </a:solidFill>
                <a:latin typeface="Arial"/>
              </a:rPr>
              <a:t>Viva Defense (Rubric Answer) — </a:t>
            </a:r>
            <a:r>
              <a:rPr sz="850">
                <a:solidFill>
                  <a:srgbClr val="0F172A"/>
                </a:solidFill>
                <a:latin typeface="Arial"/>
              </a:rPr>
              <a:t>Q: Why is InvalidOptionException a checked exception rather than unchecked?
A: To force the calling UI/runner at compile time to implement a try-catch block, ensuring that an invalid input can never slip through and terminate the student's exam session.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TEAMMATE DEFENSE: PRIYAM RAJ (ROLL: 8134)</a:t>
            </a:r>
          </a:p>
          <a:p>
            <a:pPr>
              <a:defRPr sz="1100" b="1">
                <a:solidFill>
                  <a:srgbClr val="EA580C"/>
                </a:solidFill>
                <a:latin typeface="Arial"/>
              </a:defRPr>
            </a:pPr>
            <a:r>
              <a:t>SE IT B • ASSIGNED ROLE: SERVICE ARCHITECT &amp; STRATEGY PATTERN ENGINEER • UNIT III &amp; IV TOPIC DEEP DIVE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14</a:t>
            </a:r>
          </a:p>
        </p:txBody>
      </p:sp>
      <p:sp>
        <p:nvSpPr>
          <p:cNvPr id="7" name="Rounded Rectangle 6"/>
          <p:cNvSpPr/>
          <p:nvPr/>
        </p:nvSpPr>
        <p:spPr>
          <a:xfrm>
            <a:off x="731520" y="1371600"/>
            <a:ext cx="10728655" cy="685800"/>
          </a:xfrm>
          <a:prstGeom prst="roundRect">
            <a:avLst/>
          </a:prstGeom>
          <a:solidFill>
            <a:srgbClr val="1E293B"/>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b="1" sz="1300">
                <a:solidFill>
                  <a:srgbClr val="FFFFFF"/>
                </a:solidFill>
              </a:rPr>
              <a:t>STUDENT: Priyam Raj  </a:t>
            </a:r>
            <a:r>
              <a:rPr b="1" sz="1100">
                <a:solidFill>
                  <a:srgbClr val="EA580C"/>
                </a:solidFill>
              </a:rPr>
              <a:t>•  ROLL NO: 8134  •  CLASS: SE IT B  •  </a:t>
            </a:r>
            <a:r>
              <a:rPr b="1" sz="1100">
                <a:solidFill>
                  <a:srgbClr val="7E22CE"/>
                </a:solidFill>
              </a:rPr>
              <a:t>ROLE: Service Architect &amp; Strategy Pattern Engineer  •  SPPU BIT25434A0X (CO3, CO4)</a:t>
            </a:r>
          </a:p>
        </p:txBody>
      </p:sp>
      <p:sp>
        <p:nvSpPr>
          <p:cNvPr id="8" name="Rounded Rectangle 7"/>
          <p:cNvSpPr/>
          <p:nvPr/>
        </p:nvSpPr>
        <p:spPr>
          <a:xfrm>
            <a:off x="731520" y="2148840"/>
            <a:ext cx="5257800" cy="4389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III: POLYMORPHISM &amp; INTERFACES</a:t>
            </a:r>
          </a:p>
          <a:p>
            <a:pPr>
              <a:spcAft>
                <a:spcPts val="400"/>
              </a:spcAft>
              <a:defRPr sz="1200" b="1">
                <a:solidFill>
                  <a:srgbClr val="1B365D"/>
                </a:solidFill>
                <a:latin typeface="Arial"/>
              </a:defRPr>
            </a:pPr>
            <a:r>
              <a:t>Unit III: Interfaces &amp; Behavioral Strategy Design Pattern</a:t>
            </a:r>
          </a:p>
          <a:p>
            <a:pPr>
              <a:spcAft>
                <a:spcPts val="300"/>
              </a:spcAft>
            </a:pPr>
            <a:r>
              <a:rPr b="1" sz="850">
                <a:solidFill>
                  <a:srgbClr val="0F172A"/>
                </a:solidFill>
                <a:latin typeface="Arial"/>
              </a:rPr>
              <a:t>Syllabus Topic &amp; Definition — </a:t>
            </a:r>
            <a:r>
              <a:rPr sz="850">
                <a:solidFill>
                  <a:srgbClr val="0F172A"/>
                </a:solidFill>
                <a:latin typeface="Arial"/>
              </a:rPr>
              <a:t>Interfaces (SPPU Unit III). An interface is a pure contract declaring abstract methods without instance fields. Classes realize interfaces via 'implements'. Facilitates loose coupling and the Strategy Design Pattern where algorithms are encapsulated and swapped at runtime.</a:t>
            </a:r>
          </a:p>
          <a:p>
            <a:pPr>
              <a:spcAft>
                <a:spcPts val="300"/>
              </a:spcAft>
            </a:pPr>
            <a:r>
              <a:rPr b="1" sz="850">
                <a:solidFill>
                  <a:srgbClr val="0F172A"/>
                </a:solidFill>
                <a:latin typeface="Arial"/>
              </a:rPr>
              <a:t>Why Used in Architecture — </a:t>
            </a:r>
            <a:r>
              <a:rPr sz="850">
                <a:solidFill>
                  <a:srgbClr val="0F172A"/>
                </a:solidFill>
                <a:latin typeface="Arial"/>
              </a:rPr>
              <a:t>Colleges conduct standard tests (no penalty) and competitive mock tests (25% negative marking). Hardcoding math inside QuizRunner violates Open/Closed Principle. Abstracting scoring behind QuizEvaluator enables pluggable scoring rules.</a:t>
            </a:r>
          </a:p>
          <a:p>
            <a:pPr>
              <a:spcAft>
                <a:spcPts val="300"/>
              </a:spcAft>
            </a:pPr>
            <a:r>
              <a:rPr b="1" sz="850">
                <a:solidFill>
                  <a:srgbClr val="0F172A"/>
                </a:solidFill>
                <a:latin typeface="Arial"/>
              </a:rPr>
              <a:t>Project Implementation — </a:t>
            </a:r>
            <a:r>
              <a:rPr sz="850">
                <a:solidFill>
                  <a:srgbClr val="0F172A"/>
                </a:solidFill>
                <a:latin typeface="Arial"/>
              </a:rPr>
              <a:t>Designed QuizOperations interface for CRUD operations. Designed QuizEvaluator strategy interface implemented by: (1) StandardGradingPolicy (linear 100% score, 0% penalty) and (2) NegativeMarkingGradingPolicy (competitive 25% negative penalty deduction for wrong answers).</a:t>
            </a:r>
          </a:p>
          <a:p>
            <a:pPr>
              <a:spcAft>
                <a:spcPts val="300"/>
              </a:spcAft>
            </a:pPr>
            <a:r>
              <a:rPr b="1" sz="850">
                <a:solidFill>
                  <a:srgbClr val="0F172A"/>
                </a:solidFill>
                <a:latin typeface="Arial"/>
              </a:rPr>
              <a:t>Code Snippet — </a:t>
            </a:r>
            <a:r>
              <a:rPr sz="850">
                <a:solidFill>
                  <a:srgbClr val="0F172A"/>
                </a:solidFill>
                <a:latin typeface="Arial"/>
              </a:rPr>
              <a:t>public interface QuizEvaluator { double evaluateScore(QuizAttempt attempt); }
// Pluggable strategy execution:
QuizEvaluator evaluator = isCompetitive ? 
    new NegativeMarkingGradingPolicy() : new StandardGradingPolicy();
double finalScore = evaluator.evaluateScore(attempt);</a:t>
            </a:r>
          </a:p>
          <a:p>
            <a:pPr>
              <a:spcAft>
                <a:spcPts val="300"/>
              </a:spcAft>
            </a:pPr>
            <a:r>
              <a:rPr b="1" sz="850">
                <a:solidFill>
                  <a:srgbClr val="0F172A"/>
                </a:solidFill>
                <a:latin typeface="Arial"/>
              </a:rPr>
              <a:t>Viva Defense (Rubric Answer) — </a:t>
            </a:r>
            <a:r>
              <a:rPr sz="850">
                <a:solidFill>
                  <a:srgbClr val="0F172A"/>
                </a:solidFill>
                <a:latin typeface="Arial"/>
              </a:rPr>
              <a:t>Q: Why create the QuizEvaluator interface? How does it satisfy Open/Closed Principle?
A: It decouples grading algorithms from test conduction. To add a new grading policy (e.g. 50% penalty), we create a new class implementing QuizEvaluator without changing a single line in QuizRunner.</a:t>
            </a:r>
          </a:p>
        </p:txBody>
      </p:sp>
      <p:sp>
        <p:nvSpPr>
          <p:cNvPr id="9" name="Rounded Rectangle 8"/>
          <p:cNvSpPr/>
          <p:nvPr/>
        </p:nvSpPr>
        <p:spPr>
          <a:xfrm>
            <a:off x="6199632" y="2148840"/>
            <a:ext cx="5257800" cy="43891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IV: ERROR &amp; EXCEPTION HANDLING</a:t>
            </a:r>
          </a:p>
          <a:p>
            <a:pPr>
              <a:spcAft>
                <a:spcPts val="400"/>
              </a:spcAft>
              <a:defRPr sz="1200" b="1">
                <a:solidFill>
                  <a:srgbClr val="1B365D"/>
                </a:solidFill>
                <a:latin typeface="Arial"/>
              </a:defRPr>
            </a:pPr>
            <a:r>
              <a:t>Unit IV: Exception Handling Mechanism (try, catch, finally, throws)</a:t>
            </a:r>
          </a:p>
          <a:p>
            <a:pPr>
              <a:spcAft>
                <a:spcPts val="300"/>
              </a:spcAft>
            </a:pPr>
            <a:r>
              <a:rPr b="1" sz="850">
                <a:solidFill>
                  <a:srgbClr val="0F172A"/>
                </a:solidFill>
                <a:latin typeface="Arial"/>
              </a:rPr>
              <a:t>Syllabus Topic &amp; Definition — </a:t>
            </a:r>
            <a:r>
              <a:rPr sz="850">
                <a:solidFill>
                  <a:srgbClr val="0F172A"/>
                </a:solidFill>
                <a:latin typeface="Arial"/>
              </a:rPr>
              <a:t>Exception Handling Mechanism (SPPU Unit IV). Uses 5 keywords: 'try' isolates risky code; 'catch' handles specific exceptions; 'finally' guarantees unconditional execution for cleanup; 'throw' raises exceptions; 'throws' declares exceptions in method signatures.</a:t>
            </a:r>
          </a:p>
          <a:p>
            <a:pPr>
              <a:spcAft>
                <a:spcPts val="300"/>
              </a:spcAft>
            </a:pPr>
            <a:r>
              <a:rPr b="1" sz="850">
                <a:solidFill>
                  <a:srgbClr val="0F172A"/>
                </a:solidFill>
                <a:latin typeface="Arial"/>
              </a:rPr>
              <a:t>Operational Failure &amp; Mitigation — </a:t>
            </a:r>
            <a:r>
              <a:rPr sz="850">
                <a:solidFill>
                  <a:srgbClr val="0F172A"/>
                </a:solidFill>
                <a:latin typeface="Arial"/>
              </a:rPr>
              <a:t>System resource leaks (open scanners, uncommitted audit logs) occur if exceptions disrupt execution. Unregistered quiz lookups crash the application if missing IDs are not caught.</a:t>
            </a:r>
          </a:p>
          <a:p>
            <a:pPr>
              <a:spcAft>
                <a:spcPts val="300"/>
              </a:spcAft>
            </a:pPr>
            <a:r>
              <a:rPr b="1" sz="850">
                <a:solidFill>
                  <a:srgbClr val="0F172A"/>
                </a:solidFill>
                <a:latin typeface="Arial"/>
              </a:rPr>
              <a:t>Project Implementation — </a:t>
            </a:r>
            <a:r>
              <a:rPr sz="850">
                <a:solidFill>
                  <a:srgbClr val="0F172A"/>
                </a:solidFill>
                <a:latin typeface="Arial"/>
              </a:rPr>
              <a:t>Declared checked exceptions in interface contracts (throws QuizNotFoundException, DuplicateQuizException). Wrapped quiz execution inside try-catch-finally, where 'finally' guarantees session audit logging and clean resource termination.</a:t>
            </a:r>
          </a:p>
          <a:p>
            <a:pPr>
              <a:spcAft>
                <a:spcPts val="300"/>
              </a:spcAft>
            </a:pPr>
            <a:r>
              <a:rPr b="1" sz="850">
                <a:solidFill>
                  <a:srgbClr val="0F172A"/>
                </a:solidFill>
                <a:latin typeface="Arial"/>
              </a:rPr>
              <a:t>Code Snippet — </a:t>
            </a:r>
            <a:r>
              <a:rPr sz="850">
                <a:solidFill>
                  <a:srgbClr val="0F172A"/>
                </a:solidFill>
                <a:latin typeface="Arial"/>
              </a:rPr>
              <a:t>try {
    Quiz quiz = quizManager.getQuiz(quizId);
    conductQuiz(quiz, evaluator);
} catch (QuizNotFoundException | EmptyQuizException e) {
    System.err.println("Quiz Error: " + e.getMessage());
} finally {
    auditLogger.recordSessionClosure(); // Always executes
}</a:t>
            </a:r>
          </a:p>
          <a:p>
            <a:pPr>
              <a:spcAft>
                <a:spcPts val="300"/>
              </a:spcAft>
            </a:pPr>
            <a:r>
              <a:rPr b="1" sz="850">
                <a:solidFill>
                  <a:srgbClr val="0F172A"/>
                </a:solidFill>
                <a:latin typeface="Arial"/>
              </a:rPr>
              <a:t>Viva Defense (Rubric Answer) — </a:t>
            </a:r>
            <a:r>
              <a:rPr sz="850">
                <a:solidFill>
                  <a:srgbClr val="0F172A"/>
                </a:solidFill>
                <a:latin typeface="Arial"/>
              </a:rPr>
              <a:t>Q: What is the purpose of try, catch, and finally? Does finally always run?
A: 'try' monitors critical blocks; 'catch' provides recovery; 'finally' guarantees cleanup (closing files, streams). Yes, finally executes unconditionally even if an exception or return occurs in try/catch.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TEAMMATE DEFENSE: UTKARSH CHAUHAN (ROLL: 8154)</a:t>
            </a:r>
          </a:p>
          <a:p>
            <a:pPr>
              <a:defRPr sz="1100" b="1">
                <a:solidFill>
                  <a:srgbClr val="EA580C"/>
                </a:solidFill>
                <a:latin typeface="Arial"/>
              </a:defRPr>
            </a:pPr>
            <a:r>
              <a:t>SE IT B • ASSIGNED ROLE: QUALITY ASSURANCE &amp; CUSTOM EXCEPTION ARCHITECT • UNIT III &amp; IV TOPIC DEEP DIVE</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15</a:t>
            </a:r>
          </a:p>
        </p:txBody>
      </p:sp>
      <p:sp>
        <p:nvSpPr>
          <p:cNvPr id="7" name="Rounded Rectangle 6"/>
          <p:cNvSpPr/>
          <p:nvPr/>
        </p:nvSpPr>
        <p:spPr>
          <a:xfrm>
            <a:off x="731520" y="1371600"/>
            <a:ext cx="10728655" cy="685800"/>
          </a:xfrm>
          <a:prstGeom prst="roundRect">
            <a:avLst/>
          </a:prstGeom>
          <a:solidFill>
            <a:srgbClr val="1E293B"/>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b="1" sz="1300">
                <a:solidFill>
                  <a:srgbClr val="FFFFFF"/>
                </a:solidFill>
              </a:rPr>
              <a:t>STUDENT: Utkarsh Chauhan  </a:t>
            </a:r>
            <a:r>
              <a:rPr b="1" sz="1100">
                <a:solidFill>
                  <a:srgbClr val="EA580C"/>
                </a:solidFill>
              </a:rPr>
              <a:t>•  ROLL NO: 8154  •  CLASS: SE IT B  •  </a:t>
            </a:r>
            <a:r>
              <a:rPr b="1" sz="1100">
                <a:solidFill>
                  <a:srgbClr val="16A34A"/>
                </a:solidFill>
              </a:rPr>
              <a:t>ROLE: Quality Assurance &amp; Custom Exception Architect  •  SPPU BIT25434A0X (CO3, CO4)</a:t>
            </a:r>
          </a:p>
        </p:txBody>
      </p:sp>
      <p:sp>
        <p:nvSpPr>
          <p:cNvPr id="8" name="Rounded Rectangle 7"/>
          <p:cNvSpPr/>
          <p:nvPr/>
        </p:nvSpPr>
        <p:spPr>
          <a:xfrm>
            <a:off x="731520" y="2148840"/>
            <a:ext cx="5257800" cy="4389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III: POLYMORPHISM &amp; INTERFACES</a:t>
            </a:r>
          </a:p>
          <a:p>
            <a:pPr>
              <a:spcAft>
                <a:spcPts val="400"/>
              </a:spcAft>
              <a:defRPr sz="1200" b="1">
                <a:solidFill>
                  <a:srgbClr val="1B365D"/>
                </a:solidFill>
                <a:latin typeface="Arial"/>
              </a:defRPr>
            </a:pPr>
            <a:r>
              <a:t>Unit III: Interface Implementation &amp; Collections Architecture</a:t>
            </a:r>
          </a:p>
          <a:p>
            <a:pPr>
              <a:spcAft>
                <a:spcPts val="300"/>
              </a:spcAft>
            </a:pPr>
            <a:r>
              <a:rPr b="1" sz="850">
                <a:solidFill>
                  <a:srgbClr val="0F172A"/>
                </a:solidFill>
                <a:latin typeface="Arial"/>
              </a:rPr>
              <a:t>Syllabus Topic &amp; Definition — </a:t>
            </a:r>
            <a:r>
              <a:rPr sz="850">
                <a:solidFill>
                  <a:srgbClr val="0F172A"/>
                </a:solidFill>
                <a:latin typeface="Arial"/>
              </a:rPr>
              <a:t>Interface Implementation &amp; Collections (SPPU Unit III). Classes implement interface contracts to provide concrete data management. Heterogeneous polymorphic objects are organized using the Java Collections framework (ArrayList, LinkedHashMap) with type-safe generics.</a:t>
            </a:r>
          </a:p>
          <a:p>
            <a:pPr>
              <a:spcAft>
                <a:spcPts val="300"/>
              </a:spcAft>
            </a:pPr>
            <a:r>
              <a:rPr b="1" sz="850">
                <a:solidFill>
                  <a:srgbClr val="0F172A"/>
                </a:solidFill>
                <a:latin typeface="Arial"/>
              </a:rPr>
              <a:t>Why Used in Architecture — </a:t>
            </a:r>
            <a:r>
              <a:rPr sz="850">
                <a:solidFill>
                  <a:srgbClr val="0F172A"/>
                </a:solidFill>
                <a:latin typeface="Arial"/>
              </a:rPr>
              <a:t>Encapsulates repository operations behind QuizOperations. Storing questions as List&lt;Question&gt; enables polymorphic handling of mixed question types, while LinkedHashMap&lt;String, Quiz&gt; guarantees predictable O(1) lookups and insertion order.</a:t>
            </a:r>
          </a:p>
          <a:p>
            <a:pPr>
              <a:spcAft>
                <a:spcPts val="300"/>
              </a:spcAft>
            </a:pPr>
            <a:r>
              <a:rPr b="1" sz="850">
                <a:solidFill>
                  <a:srgbClr val="0F172A"/>
                </a:solidFill>
                <a:latin typeface="Arial"/>
              </a:rPr>
              <a:t>Project Implementation — </a:t>
            </a:r>
            <a:r>
              <a:rPr sz="850">
                <a:solidFill>
                  <a:srgbClr val="0F172A"/>
                </a:solidFill>
                <a:latin typeface="Arial"/>
              </a:rPr>
              <a:t>Engineered QuizManager implementing QuizOperations. Manages in-memory quiz registry via Map&lt;String, Quiz&gt; = new LinkedHashMap&lt;&gt;(). Organizes questions polymorphically within Quiz entities using List&lt;Question&gt; = new ArrayList&lt;&gt;().</a:t>
            </a:r>
          </a:p>
          <a:p>
            <a:pPr>
              <a:spcAft>
                <a:spcPts val="300"/>
              </a:spcAft>
            </a:pPr>
            <a:r>
              <a:rPr b="1" sz="850">
                <a:solidFill>
                  <a:srgbClr val="0F172A"/>
                </a:solidFill>
                <a:latin typeface="Arial"/>
              </a:rPr>
              <a:t>Code Snippet — </a:t>
            </a:r>
            <a:r>
              <a:rPr sz="850">
                <a:solidFill>
                  <a:srgbClr val="0F172A"/>
                </a:solidFill>
                <a:latin typeface="Arial"/>
              </a:rPr>
              <a:t>public class QuizManager implements QuizOperations {
    private final Map&lt;String, Quiz&gt; repository = new LinkedHashMap&lt;&gt;();
    @Override
    public void addQuiz(Quiz q) throws DuplicateQuizException { ... }
}</a:t>
            </a:r>
          </a:p>
          <a:p>
            <a:pPr>
              <a:spcAft>
                <a:spcPts val="300"/>
              </a:spcAft>
            </a:pPr>
            <a:r>
              <a:rPr b="1" sz="850">
                <a:solidFill>
                  <a:srgbClr val="0F172A"/>
                </a:solidFill>
                <a:latin typeface="Arial"/>
              </a:rPr>
              <a:t>Viva Defense (Rubric Answer) — </a:t>
            </a:r>
            <a:r>
              <a:rPr sz="850">
                <a:solidFill>
                  <a:srgbClr val="0F172A"/>
                </a:solidFill>
                <a:latin typeface="Arial"/>
              </a:rPr>
              <a:t>Q: How does your implementation achieve loose coupling with collections?
A: High-level controllers only interact with the interface QuizOperations. If we transition storage from LinkedHashMap to a MySQL database via JDBC, client application code remains completely untouched.</a:t>
            </a:r>
          </a:p>
        </p:txBody>
      </p:sp>
      <p:sp>
        <p:nvSpPr>
          <p:cNvPr id="9" name="Rounded Rectangle 8"/>
          <p:cNvSpPr/>
          <p:nvPr/>
        </p:nvSpPr>
        <p:spPr>
          <a:xfrm>
            <a:off x="6199632" y="2148840"/>
            <a:ext cx="5257800" cy="43891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UNIT IV: ERROR &amp; EXCEPTION HANDLING</a:t>
            </a:r>
          </a:p>
          <a:p>
            <a:pPr>
              <a:spcAft>
                <a:spcPts val="400"/>
              </a:spcAft>
              <a:defRPr sz="1200" b="1">
                <a:solidFill>
                  <a:srgbClr val="1B365D"/>
                </a:solidFill>
                <a:latin typeface="Arial"/>
              </a:defRPr>
            </a:pPr>
            <a:r>
              <a:t>Unit IV: User-Defined Checked Exceptions &amp; Zero-Crash Interception</a:t>
            </a:r>
          </a:p>
          <a:p>
            <a:pPr>
              <a:spcAft>
                <a:spcPts val="300"/>
              </a:spcAft>
            </a:pPr>
            <a:r>
              <a:rPr b="1" sz="850">
                <a:solidFill>
                  <a:srgbClr val="0F172A"/>
                </a:solidFill>
                <a:latin typeface="Arial"/>
              </a:rPr>
              <a:t>Syllabus Topic &amp; Definition — </a:t>
            </a:r>
            <a:r>
              <a:rPr sz="850">
                <a:solidFill>
                  <a:srgbClr val="0F172A"/>
                </a:solidFill>
                <a:latin typeface="Arial"/>
              </a:rPr>
              <a:t>User-Defined Exceptions (SPPU Unit IV). Custom exceptions extend java.lang.Exception to represent distinct business failure scenarios. Combined with defensive input loops, they prevent unhandled aborts and provide domain-specific diagnostic feedback.</a:t>
            </a:r>
          </a:p>
          <a:p>
            <a:pPr>
              <a:spcAft>
                <a:spcPts val="300"/>
              </a:spcAft>
            </a:pPr>
            <a:r>
              <a:rPr b="1" sz="850">
                <a:solidFill>
                  <a:srgbClr val="0F172A"/>
                </a:solidFill>
                <a:latin typeface="Arial"/>
              </a:rPr>
              <a:t>Operational Failure &amp; Mitigation — </a:t>
            </a:r>
            <a:r>
              <a:rPr sz="850">
                <a:solidFill>
                  <a:srgbClr val="0F172A"/>
                </a:solidFill>
                <a:latin typeface="Arial"/>
              </a:rPr>
              <a:t>Typographical mistakes by students (e.g. entering 'Z' or special symbols) traditionally cause fatal console crashes, ruining examination flow and causing frustration.</a:t>
            </a:r>
          </a:p>
          <a:p>
            <a:pPr>
              <a:spcAft>
                <a:spcPts val="300"/>
              </a:spcAft>
            </a:pPr>
            <a:r>
              <a:rPr b="1" sz="850">
                <a:solidFill>
                  <a:srgbClr val="0F172A"/>
                </a:solidFill>
                <a:latin typeface="Arial"/>
              </a:rPr>
              <a:t>Project Implementation — </a:t>
            </a:r>
            <a:r>
              <a:rPr sz="850">
                <a:solidFill>
                  <a:srgbClr val="0F172A"/>
                </a:solidFill>
                <a:latin typeface="Arial"/>
              </a:rPr>
              <a:t>Engineered 5-tier checked exception hierarchy rooted at QuizException: QuizNotFoundException, DuplicateQuizException, InvalidOptionException, InvalidQuestionException, and EmptyQuizException. Built defensive InputValidator with while(true) loops wrapping NumberFormatException. Built run_tests.bat.</a:t>
            </a:r>
          </a:p>
          <a:p>
            <a:pPr>
              <a:spcAft>
                <a:spcPts val="300"/>
              </a:spcAft>
            </a:pPr>
            <a:r>
              <a:rPr b="1" sz="850">
                <a:solidFill>
                  <a:srgbClr val="0F172A"/>
                </a:solidFill>
                <a:latin typeface="Arial"/>
              </a:rPr>
              <a:t>Code Snippet — </a:t>
            </a:r>
            <a:r>
              <a:rPr sz="850">
                <a:solidFill>
                  <a:srgbClr val="0F172A"/>
                </a:solidFill>
                <a:latin typeface="Arial"/>
              </a:rPr>
              <a:t>public class InvalidOptionException extends QuizException {
    public InvalidOptionException(String msg) {
        super("INVALID OPTION: " + msg);
    }
}
// Zero-crash input loop:
while(true) { try { return Integer.parseInt(s.nextLine()); }
catch(NumberFormatException e) { System.out.print("Invalid. Re-enter: "); } }</a:t>
            </a:r>
          </a:p>
          <a:p>
            <a:pPr>
              <a:spcAft>
                <a:spcPts val="300"/>
              </a:spcAft>
            </a:pPr>
            <a:r>
              <a:rPr b="1" sz="850">
                <a:solidFill>
                  <a:srgbClr val="0F172A"/>
                </a:solidFill>
                <a:latin typeface="Arial"/>
              </a:rPr>
              <a:t>Viva Defense (Rubric Answer) — </a:t>
            </a:r>
            <a:r>
              <a:rPr sz="850">
                <a:solidFill>
                  <a:srgbClr val="0F172A"/>
                </a:solidFill>
                <a:latin typeface="Arial"/>
              </a:rPr>
              <a:t>Q: What custom exceptions can occur and how are they handled?
A: 5 custom checked exceptions exist. Every exception is intercepted with targeted try-catch blocks that print actionable feedback and allow the student/faculty to recover without crashing the JVM.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698480" cy="3657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326880" cy="822960"/>
          </a:xfrm>
          <a:prstGeom prst="rect">
            <a:avLst/>
          </a:prstGeom>
          <a:noFill/>
        </p:spPr>
        <p:txBody>
          <a:bodyPr wrap="square" lIns="0" tIns="0" rIns="0" bIns="0">
            <a:spAutoFit/>
          </a:bodyPr>
          <a:lstStyle/>
          <a:p>
            <a:pPr>
              <a:defRPr sz="2200" b="1">
                <a:solidFill>
                  <a:srgbClr val="1B365D"/>
                </a:solidFill>
                <a:latin typeface="Arial"/>
              </a:defRPr>
            </a:pPr>
            <a:r>
              <a:t>CONTINUOUS PROJECT ROADMAP &amp; ACADEMIC REFERENCES</a:t>
            </a:r>
          </a:p>
          <a:p>
            <a:pPr>
              <a:defRPr sz="1100" b="1">
                <a:solidFill>
                  <a:srgbClr val="EA580C"/>
                </a:solidFill>
                <a:latin typeface="Arial"/>
              </a:defRPr>
            </a:pPr>
            <a:r>
              <a:t>EXPANSION PHASES &amp; OFFICIAL COURSE CITATIONS</a:t>
            </a:r>
          </a:p>
        </p:txBody>
      </p:sp>
      <p:pic>
        <p:nvPicPr>
          <p:cNvPr id="5" name="Picture 4" descr="ait_official_badge.png"/>
          <p:cNvPicPr>
            <a:picLocks noChangeAspect="1"/>
          </p:cNvPicPr>
          <p:nvPr/>
        </p:nvPicPr>
        <p:blipFill>
          <a:blip r:embed="rId2"/>
          <a:stretch>
            <a:fillRect/>
          </a:stretch>
        </p:blipFill>
        <p:spPr>
          <a:xfrm>
            <a:off x="10789920" y="320040"/>
            <a:ext cx="868680" cy="868680"/>
          </a:xfrm>
          <a:prstGeom prst="rect">
            <a:avLst/>
          </a:prstGeom>
        </p:spPr>
      </p:pic>
      <p:sp>
        <p:nvSpPr>
          <p:cNvPr id="6" name="TextBox 5"/>
          <p:cNvSpPr txBox="1"/>
          <p:nvPr/>
        </p:nvSpPr>
        <p:spPr>
          <a:xfrm>
            <a:off x="11155680" y="6400800"/>
            <a:ext cx="731520" cy="365760"/>
          </a:xfrm>
          <a:prstGeom prst="rect">
            <a:avLst/>
          </a:prstGeom>
          <a:noFill/>
        </p:spPr>
        <p:txBody>
          <a:bodyPr wrap="none">
            <a:spAutoFit/>
          </a:bodyPr>
          <a:lstStyle/>
          <a:p>
            <a:pPr>
              <a:defRPr sz="1200">
                <a:solidFill>
                  <a:srgbClr val="64748B"/>
                </a:solidFill>
                <a:latin typeface="Arial"/>
              </a:defRPr>
            </a:pPr>
            <a:r>
              <a:t>16</a:t>
            </a:r>
          </a:p>
        </p:txBody>
      </p:sp>
      <p:sp>
        <p:nvSpPr>
          <p:cNvPr id="7" name="Rounded Rectangle 6"/>
          <p:cNvSpPr/>
          <p:nvPr/>
        </p:nvSpPr>
        <p:spPr>
          <a:xfrm>
            <a:off x="731520" y="1463040"/>
            <a:ext cx="106984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00"/>
              </a:spcAft>
              <a:defRPr sz="850" b="1">
                <a:solidFill>
                  <a:srgbClr val="2563EB"/>
                </a:solidFill>
                <a:latin typeface="Arial"/>
              </a:defRPr>
            </a:pPr>
            <a:r>
              <a:t>CONTINUOUS PROJECT PLAN</a:t>
            </a:r>
          </a:p>
          <a:p>
            <a:pPr>
              <a:spcAft>
                <a:spcPts val="400"/>
              </a:spcAft>
              <a:defRPr sz="1200" b="1">
                <a:solidFill>
                  <a:srgbClr val="1B365D"/>
                </a:solidFill>
                <a:latin typeface="Arial"/>
              </a:defRPr>
            </a:pPr>
            <a:r>
              <a:t>Ongoing Mini-Project Roadmap (CIE-2 Phase 1 to Phase 3 Expansion)</a:t>
            </a:r>
          </a:p>
          <a:p>
            <a:pPr>
              <a:spcAft>
                <a:spcPts val="300"/>
              </a:spcAft>
            </a:pPr>
            <a:r>
              <a:rPr b="1" sz="900">
                <a:solidFill>
                  <a:srgbClr val="0F172A"/>
                </a:solidFill>
                <a:latin typeface="Arial"/>
              </a:rPr>
              <a:t>Phase 1 (Completed for CIE-2) — </a:t>
            </a:r>
            <a:r>
              <a:rPr sz="900">
                <a:solidFill>
                  <a:srgbClr val="0F172A"/>
                </a:solidFill>
                <a:latin typeface="Arial"/>
              </a:rPr>
              <a:t>Core Java OOP Prototype with Abstract Classes, Interfaces, Polymorphism, and 5-tier Custom Exceptions.</a:t>
            </a:r>
          </a:p>
          <a:p>
            <a:pPr>
              <a:spcAft>
                <a:spcPts val="300"/>
              </a:spcAft>
            </a:pPr>
            <a:r>
              <a:rPr b="1" sz="900">
                <a:solidFill>
                  <a:srgbClr val="0F172A"/>
                </a:solidFill>
                <a:latin typeface="Arial"/>
              </a:rPr>
              <a:t>Phase 2 (Project Enhancement) — </a:t>
            </a:r>
            <a:r>
              <a:rPr sz="900">
                <a:solidFill>
                  <a:srgbClr val="0F172A"/>
                </a:solidFill>
                <a:latin typeface="Arial"/>
              </a:rPr>
              <a:t>Replace in-memory LinkedHashMap with Java Object Serialization or File I/O; add advanced Java Streams filtering.</a:t>
            </a:r>
          </a:p>
          <a:p>
            <a:pPr>
              <a:spcAft>
                <a:spcPts val="300"/>
              </a:spcAft>
            </a:pPr>
            <a:r>
              <a:rPr b="1" sz="900">
                <a:solidFill>
                  <a:srgbClr val="0F172A"/>
                </a:solidFill>
                <a:latin typeface="Arial"/>
              </a:rPr>
              <a:t>Phase 3 (Full Mini-Project Expansion) — </a:t>
            </a:r>
            <a:r>
              <a:rPr sz="900">
                <a:solidFill>
                  <a:srgbClr val="0F172A"/>
                </a:solidFill>
                <a:latin typeface="Arial"/>
              </a:rPr>
              <a:t>JDBC connectivity with MySQL / PostgreSQL, Spring Boot REST migration, Multithreaded question timers (ScheduledExecutorService), and exportable PDF certificates.</a:t>
            </a:r>
          </a:p>
        </p:txBody>
      </p:sp>
      <p:sp>
        <p:nvSpPr>
          <p:cNvPr id="8" name="Rounded Rectangle 7"/>
          <p:cNvSpPr/>
          <p:nvPr/>
        </p:nvSpPr>
        <p:spPr>
          <a:xfrm>
            <a:off x="731520" y="3657600"/>
            <a:ext cx="10698480" cy="25603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spcAft>
                <a:spcPts val="800"/>
              </a:spcAft>
              <a:defRPr b="1" sz="1200">
                <a:solidFill>
                  <a:srgbClr val="EA580C"/>
                </a:solidFill>
              </a:defRPr>
            </a:pPr>
            <a:r>
              <a:t>OFFICIAL COURSE REFERENCES &amp; CITATIONS</a:t>
            </a:r>
          </a:p>
          <a:p>
            <a:pPr>
              <a:spcAft>
                <a:spcPts val="400"/>
              </a:spcAft>
            </a:pPr>
            <a:r>
              <a:rPr b="1" sz="1000">
                <a:solidFill>
                  <a:srgbClr val="60A5FA"/>
                </a:solidFill>
              </a:rPr>
              <a:t>➤ Savitribai Phule Pune University (SPPU): </a:t>
            </a:r>
            <a:r>
              <a:rPr sz="950">
                <a:solidFill>
                  <a:srgbClr val="E2E8F0"/>
                </a:solidFill>
              </a:rPr>
              <a:t>Second Year Information Technology Syllabus (2024 Pattern) • Course: Skill Development Laboratory using Java (BIT25434A0X).</a:t>
            </a:r>
          </a:p>
          <a:p>
            <a:pPr>
              <a:spcAft>
                <a:spcPts val="400"/>
              </a:spcAft>
            </a:pPr>
            <a:r>
              <a:rPr b="1" sz="1000">
                <a:solidFill>
                  <a:srgbClr val="60A5FA"/>
                </a:solidFill>
              </a:rPr>
              <a:t>➤ Army Institute of Technology, Pune (AIT): </a:t>
            </a:r>
            <a:r>
              <a:rPr sz="950">
                <a:solidFill>
                  <a:srgbClr val="E2E8F0"/>
                </a:solidFill>
              </a:rPr>
              <a:t>Continuous Internal Evaluation (CIE-2) Group Activity Instructions, Problem Allocation &amp; Evaluation Rubric (Mrs. Trupti Najan).</a:t>
            </a:r>
          </a:p>
          <a:p>
            <a:pPr>
              <a:spcAft>
                <a:spcPts val="400"/>
              </a:spcAft>
            </a:pPr>
            <a:r>
              <a:rPr b="1" sz="1000">
                <a:solidFill>
                  <a:srgbClr val="60A5FA"/>
                </a:solidFill>
              </a:rPr>
              <a:t>➤ Oracle Corporation: </a:t>
            </a:r>
            <a:r>
              <a:rPr sz="950">
                <a:solidFill>
                  <a:srgbClr val="E2E8F0"/>
                </a:solidFill>
              </a:rPr>
              <a:t>The Java Language Specification (Java SE 26 Edition) • Concepts: Inheritance, Polymorphic Dispatch, Interfaces, and Exception Handling.</a:t>
            </a:r>
          </a:p>
          <a:p>
            <a:pPr>
              <a:spcAft>
                <a:spcPts val="400"/>
              </a:spcAft>
            </a:pPr>
            <a:r>
              <a:rPr b="1" sz="1000">
                <a:solidFill>
                  <a:srgbClr val="60A5FA"/>
                </a:solidFill>
              </a:rPr>
              <a:t>➤ Design Patterns (Gang of Four): </a:t>
            </a:r>
            <a:r>
              <a:rPr sz="950">
                <a:solidFill>
                  <a:srgbClr val="E2E8F0"/>
                </a:solidFill>
              </a:rPr>
              <a:t>Elements of Reusable Object-Oriented Software • Behavioral Strategy Pattern for decoupled scoring and Open/Closed extensibility.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