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65D"/>
                </a:solidFill>
                <a:latin typeface="Arial"/>
              </a:defRPr>
            </a:pPr>
            <a:r>
              <a:t>ARMY INSTITUTE OF TECHNOLOGY, PUNE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DEPARTMENT OF INFORMATION TECHNOLOGY • SKILL DEVELOPMENT LAB (BIT25434A0X)</a:t>
            </a:r>
          </a:p>
        </p:txBody>
      </p:sp>
      <p:pic>
        <p:nvPicPr>
          <p:cNvPr id="4" name="Picture 3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57200"/>
            <a:ext cx="1097280" cy="1097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737360"/>
            <a:ext cx="62179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20040" rIns="36576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Project Title — ONLINE QUIZ MANAGEMENT SYSTEM</a:t>
            </a:r>
          </a:p>
          <a:p>
            <a:pPr>
              <a:spcAft>
                <a:spcPts val="450"/>
              </a:spcAft>
            </a:pPr>
            <a:r>
              <a:rPr b="1" sz="1150">
                <a:solidFill>
                  <a:srgbClr val="0F172A"/>
                </a:solidFill>
              </a:rPr>
              <a:t>• Assessment &amp; Mode — </a:t>
            </a:r>
            <a:r>
              <a:rPr sz="1150">
                <a:solidFill>
                  <a:srgbClr val="475569"/>
                </a:solidFill>
              </a:rPr>
              <a:t>CIE–2: Java Problem Solving (Unit III &amp; IV) | 20 Marks</a:t>
            </a:r>
          </a:p>
          <a:p>
            <a:pPr>
              <a:spcAft>
                <a:spcPts val="450"/>
              </a:spcAft>
            </a:pPr>
            <a:r>
              <a:rPr b="1" sz="1150">
                <a:solidFill>
                  <a:srgbClr val="0F172A"/>
                </a:solidFill>
              </a:rPr>
              <a:t>• Course Name &amp; Code — </a:t>
            </a:r>
            <a:r>
              <a:rPr sz="1150">
                <a:solidFill>
                  <a:srgbClr val="475569"/>
                </a:solidFill>
              </a:rPr>
              <a:t>Skill Development Laboratory using Java (BIT25434A0X)</a:t>
            </a:r>
          </a:p>
          <a:p>
            <a:pPr>
              <a:spcAft>
                <a:spcPts val="450"/>
              </a:spcAft>
            </a:pPr>
            <a:r>
              <a:rPr b="1" sz="1150">
                <a:solidFill>
                  <a:srgbClr val="0F172A"/>
                </a:solidFill>
              </a:rPr>
              <a:t>• Class &amp; Division — </a:t>
            </a:r>
            <a:r>
              <a:rPr sz="1150">
                <a:solidFill>
                  <a:srgbClr val="475569"/>
                </a:solidFill>
              </a:rPr>
              <a:t>SE IT B (Academic Year 2026–2027)</a:t>
            </a:r>
          </a:p>
          <a:p>
            <a:pPr>
              <a:spcAft>
                <a:spcPts val="450"/>
              </a:spcAft>
            </a:pPr>
            <a:r>
              <a:rPr b="1" sz="1150">
                <a:solidFill>
                  <a:srgbClr val="0F172A"/>
                </a:solidFill>
              </a:rPr>
              <a:t>• Course In-Charge / Examiner — </a:t>
            </a:r>
            <a:r>
              <a:rPr sz="1150">
                <a:solidFill>
                  <a:srgbClr val="475569"/>
                </a:solidFill>
              </a:rPr>
              <a:t>Mrs. Trupti Najan (Assistant Professor, Dept of IT)</a:t>
            </a:r>
          </a:p>
          <a:p>
            <a:pPr>
              <a:spcAft>
                <a:spcPts val="450"/>
              </a:spcAft>
              <a:defRPr b="1" sz="1200">
                <a:solidFill>
                  <a:srgbClr val="EA580C"/>
                </a:solidFill>
              </a:defRPr>
            </a:pPr>
            <a:r>
              <a:t>• Project Team Members (Class: IT B):</a:t>
            </a:r>
          </a:p>
          <a:p>
            <a:pPr>
              <a:spcAft>
                <a:spcPts val="450"/>
              </a:spcAft>
            </a:pPr>
            <a:r>
              <a:rPr b="1" sz="1100">
                <a:solidFill>
                  <a:srgbClr val="2563EB"/>
                </a:solidFill>
              </a:rPr>
              <a:t>      1. Aditya Yadav — </a:t>
            </a:r>
            <a:r>
              <a:rPr sz="1100">
                <a:solidFill>
                  <a:srgbClr val="0F172A"/>
                </a:solidFill>
              </a:rPr>
              <a:t>Roll No: 8108 (Group Leader)</a:t>
            </a:r>
          </a:p>
          <a:p>
            <a:pPr>
              <a:spcAft>
                <a:spcPts val="450"/>
              </a:spcAft>
            </a:pPr>
            <a:r>
              <a:rPr b="1" sz="1100">
                <a:solidFill>
                  <a:srgbClr val="2563EB"/>
                </a:solidFill>
              </a:rPr>
              <a:t>      2. Abhishekh Singh — </a:t>
            </a:r>
            <a:r>
              <a:rPr sz="1100">
                <a:solidFill>
                  <a:srgbClr val="0F172A"/>
                </a:solidFill>
              </a:rPr>
              <a:t>Roll No: 8104</a:t>
            </a:r>
          </a:p>
          <a:p>
            <a:pPr>
              <a:spcAft>
                <a:spcPts val="450"/>
              </a:spcAft>
            </a:pPr>
            <a:r>
              <a:rPr b="1" sz="1100">
                <a:solidFill>
                  <a:srgbClr val="2563EB"/>
                </a:solidFill>
              </a:rPr>
              <a:t>      3. Priyam Raj — </a:t>
            </a:r>
            <a:r>
              <a:rPr sz="1100">
                <a:solidFill>
                  <a:srgbClr val="0F172A"/>
                </a:solidFill>
              </a:rPr>
              <a:t>Roll No: 8134</a:t>
            </a:r>
          </a:p>
          <a:p>
            <a:pPr>
              <a:spcAft>
                <a:spcPts val="450"/>
              </a:spcAft>
            </a:pPr>
            <a:r>
              <a:rPr b="1" sz="1100">
                <a:solidFill>
                  <a:srgbClr val="2563EB"/>
                </a:solidFill>
              </a:rPr>
              <a:t>      4. Utkarsh Chauhan — </a:t>
            </a:r>
            <a:r>
              <a:rPr sz="1100">
                <a:solidFill>
                  <a:srgbClr val="0F172A"/>
                </a:solidFill>
              </a:rPr>
              <a:t>Roll No: 8154</a:t>
            </a:r>
          </a:p>
        </p:txBody>
      </p:sp>
      <p:pic>
        <p:nvPicPr>
          <p:cNvPr id="6" name="Picture 5" descr="quiz_tech_b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737360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ONLINE QUIZ SYSTEM: AUTOMATED &amp; ROBUST ACADEMIC ASSESSMENT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PROBLEM STATEMENT, CORE INNOVATION &amp; RISK-SOLUTION MATRIX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/>
          <a:lstStyle/>
          <a:p>
            <a:pPr algn="ctr">
              <a:spcAft>
                <a:spcPts val="3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REAL-WORLD ISSUE:</a:t>
            </a:r>
          </a:p>
          <a:p>
            <a:pPr>
              <a:defRPr sz="950">
                <a:solidFill>
                  <a:srgbClr val="E2E8F0"/>
                </a:solidFill>
                <a:latin typeface="Arial"/>
              </a:defRPr>
            </a:pPr>
            <a:r>
              <a:t>Colleges face heavy administrative overhead conducting manual paper tests. Subjective evaluation leads to grading delays, human scoring errors, and lack of immediate student performance analytics.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329184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/>
          <a:lstStyle/>
          <a:p>
            <a:pPr algn="ctr">
              <a:spcAft>
                <a:spcPts val="3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WHY IMPORTANT:</a:t>
            </a:r>
          </a:p>
          <a:p>
            <a:pPr>
              <a:defRPr sz="950">
                <a:solidFill>
                  <a:srgbClr val="E2E8F0"/>
                </a:solidFill>
                <a:latin typeface="Arial"/>
              </a:defRPr>
            </a:pPr>
            <a:r>
              <a:t>Faculty spend 15+ hours grading internal tests. Commercial tools fail on rigid formats, lack dual grading strategies (Standard vs Negative), and crash completely on typographic user input errors.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72000"/>
            <a:ext cx="329184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/>
          <a:lstStyle/>
          <a:p>
            <a:pPr algn="ctr">
              <a:spcAft>
                <a:spcPts val="3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SOLUTION:</a:t>
            </a:r>
          </a:p>
          <a:p>
            <a:pPr>
              <a:defRPr sz="950">
                <a:solidFill>
                  <a:srgbClr val="E2E8F0"/>
                </a:solidFill>
                <a:latin typeface="Arial"/>
              </a:defRPr>
            </a:pPr>
            <a:r>
              <a:t>A modular Core Java assessment framework incorporating Unit III (Abstract Classes, Interfaces, Polymorphism) and Unit IV (5-tier Custom Checked Exceptions) for zero-crash immunity and instant scorecards.</a:t>
            </a:r>
          </a:p>
        </p:txBody>
      </p:sp>
      <p:pic>
        <p:nvPicPr>
          <p:cNvPr id="10" name="Picture 9" descr="quiz_core_innov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3931920" cy="448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21040" y="14630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B365D"/>
                </a:solidFill>
                <a:latin typeface="Arial"/>
              </a:defRPr>
            </a:pPr>
            <a:r>
              <a:t>OPERATIONAL RISK  ➔  TECHNICAL SOLUTION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920240"/>
            <a:ext cx="3108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/>
            <a:r>
              <a:rPr b="1" sz="950">
                <a:solidFill>
                  <a:srgbClr val="DC2626"/>
                </a:solidFill>
              </a:rPr>
              <a:t>Risk: Input Mismatches / Typos
</a:t>
            </a:r>
            <a:r>
              <a:rPr sz="850">
                <a:solidFill>
                  <a:srgbClr val="64748B"/>
                </a:solidFill>
              </a:rPr>
              <a:t>Student enters non-numeric or illegal chars like 'Z' crashing console.
</a:t>
            </a:r>
          </a:p>
          <a:p>
            <a:r>
              <a:rPr b="1" sz="950">
                <a:solidFill>
                  <a:srgbClr val="16A34A"/>
                </a:solidFill>
              </a:rPr>
              <a:t>➔ Solution: 5-Tier Custom Exceptions
</a:t>
            </a:r>
            <a:r>
              <a:rPr sz="850">
                <a:solidFill>
                  <a:srgbClr val="0F172A"/>
                </a:solidFill>
              </a:rPr>
              <a:t>try-catch InvalidOptionException catches format, prompts retry safely.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291840"/>
            <a:ext cx="3108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/>
            <a:r>
              <a:rPr b="1" sz="950">
                <a:solidFill>
                  <a:srgbClr val="DC2626"/>
                </a:solidFill>
              </a:rPr>
              <a:t>Risk: Rigid Single-Format Que
</a:t>
            </a:r>
            <a:r>
              <a:rPr sz="850">
                <a:solidFill>
                  <a:srgbClr val="64748B"/>
                </a:solidFill>
              </a:rPr>
              <a:t>Traditional apps only allow standard single-type multiple choice.
</a:t>
            </a:r>
          </a:p>
          <a:p>
            <a:r>
              <a:rPr b="1" sz="950">
                <a:solidFill>
                  <a:srgbClr val="16A34A"/>
                </a:solidFill>
              </a:rPr>
              <a:t>➔ Solution: Polymorphic Archetypes
</a:t>
            </a:r>
            <a:r>
              <a:rPr sz="850">
                <a:solidFill>
                  <a:srgbClr val="0F172A"/>
                </a:solidFill>
              </a:rPr>
              <a:t>Abstract Question extended by MCQ, TrueFalse, and NumericQuestion.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4663440"/>
            <a:ext cx="3108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/>
            <a:r>
              <a:rPr b="1" sz="950">
                <a:solidFill>
                  <a:srgbClr val="DC2626"/>
                </a:solidFill>
              </a:rPr>
              <a:t>Risk: Inflexible Scoring Rules
</a:t>
            </a:r>
            <a:r>
              <a:rPr sz="850">
                <a:solidFill>
                  <a:srgbClr val="64748B"/>
                </a:solidFill>
              </a:rPr>
              <a:t>University linear grading vs competitive exams require different math.
</a:t>
            </a:r>
          </a:p>
          <a:p>
            <a:r>
              <a:rPr b="1" sz="950">
                <a:solidFill>
                  <a:srgbClr val="16A34A"/>
                </a:solidFill>
              </a:rPr>
              <a:t>➔ Solution: Pluggable Strategy Pattern
</a:t>
            </a:r>
            <a:r>
              <a:rPr sz="850">
                <a:solidFill>
                  <a:srgbClr val="0F172A"/>
                </a:solidFill>
              </a:rPr>
              <a:t>QuizEvaluator swaps Standard vs 25% Negative Marking dynamically.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TECHNICAL APPROACH &amp; IMPLEMENTATION METHODOLOGY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PROCESS LIFECYCLE, PIPELINE STAGES &amp; ARCHITECTURE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0040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/>
          <a:lstStyle/>
          <a:p>
            <a:pPr algn="ctr">
              <a:spcAft>
                <a:spcPts val="800"/>
              </a:spcAft>
              <a:defRPr b="1" sz="1200">
                <a:solidFill>
                  <a:srgbClr val="1B365D"/>
                </a:solidFill>
              </a:defRPr>
            </a:pPr>
            <a:r>
              <a:t>PIPELINE STAGES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[1] </a:t>
            </a:r>
            <a:r>
              <a:rPr b="1" sz="950">
                <a:solidFill>
                  <a:srgbClr val="0F172A"/>
                </a:solidFill>
              </a:rPr>
              <a:t>Multi-Tier Quiz Ingestion
</a:t>
            </a:r>
            <a:r>
              <a:rPr sz="850">
                <a:solidFill>
                  <a:srgbClr val="64748B"/>
                </a:solidFill>
              </a:rPr>
              <a:t>     Validates unique ID, age demographic &amp; questionCount &gt; 0.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[2] </a:t>
            </a:r>
            <a:r>
              <a:rPr b="1" sz="950">
                <a:solidFill>
                  <a:srgbClr val="0F172A"/>
                </a:solidFill>
              </a:rPr>
              <a:t>Strategy Configuration
</a:t>
            </a:r>
            <a:r>
              <a:rPr sz="850">
                <a:solidFill>
                  <a:srgbClr val="64748B"/>
                </a:solidFill>
              </a:rPr>
              <a:t>     Injects Standard or Competitive 25% negative marking.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[3] </a:t>
            </a:r>
            <a:r>
              <a:rPr b="1" sz="950">
                <a:solidFill>
                  <a:srgbClr val="0F172A"/>
                </a:solidFill>
              </a:rPr>
              <a:t>Dynamic Question Dispatch
</a:t>
            </a:r>
            <a:r>
              <a:rPr sz="850">
                <a:solidFill>
                  <a:srgbClr val="64748B"/>
                </a:solidFill>
              </a:rPr>
              <a:t>     Iterates List&lt;Question&gt; invoking subclass display.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[4] </a:t>
            </a:r>
            <a:r>
              <a:rPr b="1" sz="950">
                <a:solidFill>
                  <a:srgbClr val="0F172A"/>
                </a:solidFill>
              </a:rPr>
              <a:t>Defensive Input Interception
</a:t>
            </a:r>
            <a:r>
              <a:rPr sz="850">
                <a:solidFill>
                  <a:srgbClr val="64748B"/>
                </a:solidFill>
              </a:rPr>
              <a:t>     Guards parsing with try-catch InvalidOptionException.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[5] </a:t>
            </a:r>
            <a:r>
              <a:rPr b="1" sz="950">
                <a:solidFill>
                  <a:srgbClr val="0F172A"/>
                </a:solidFill>
              </a:rPr>
              <a:t>Strategy Evaluation
</a:t>
            </a:r>
            <a:r>
              <a:rPr sz="850">
                <a:solidFill>
                  <a:srgbClr val="64748B"/>
                </a:solidFill>
              </a:rPr>
              <a:t>     Calculates net scores, percentages, and letter grades.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[6] </a:t>
            </a:r>
            <a:r>
              <a:rPr b="1" sz="950">
                <a:solidFill>
                  <a:srgbClr val="0F172A"/>
                </a:solidFill>
              </a:rPr>
              <a:t>Scorecard &amp; Audit Generation
</a:t>
            </a:r>
            <a:r>
              <a:rPr sz="850">
                <a:solidFill>
                  <a:srgbClr val="64748B"/>
                </a:solidFill>
              </a:rPr>
              <a:t>     Generates detailed question-by-question breakdown.</a:t>
            </a:r>
          </a:p>
        </p:txBody>
      </p:sp>
      <p:pic>
        <p:nvPicPr>
          <p:cNvPr id="8" name="Picture 7" descr="quiz_process_workfl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463040"/>
            <a:ext cx="4937760" cy="2926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0" y="4572000"/>
            <a:ext cx="493776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37160"/>
          <a:lstStyle/>
          <a:p>
            <a:pPr algn="ctr">
              <a:spcAft>
                <a:spcPts val="400"/>
              </a:spcAft>
              <a:defRPr b="1" sz="1100">
                <a:solidFill>
                  <a:srgbClr val="EA580C"/>
                </a:solidFill>
              </a:defRPr>
            </a:pPr>
            <a:r>
              <a:t>DUAL-MODE EXECUTION MODEL</a:t>
            </a:r>
          </a:p>
          <a:p>
            <a:pPr>
              <a:defRPr sz="900">
                <a:solidFill>
                  <a:srgbClr val="E2E8F0"/>
                </a:solidFill>
              </a:defRPr>
            </a:pPr>
            <a:r>
              <a:t>• Terminal CLI (run.bat): Interactive ANSI boxed console interface.</a:t>
            </a:r>
            <a:br/>
            <a:r>
              <a:t>• Web Application (run_web.bat): Embedded Java HttpServer at http://localhost:8080.</a:t>
            </a:r>
            <a:br/>
            <a:r>
              <a:t>• Automated Test Suite (run_tests.bat): 60-second test harness for live viva demonstration.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1463040"/>
            <a:ext cx="21945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800"/>
              </a:spcAft>
              <a:defRPr b="1" sz="1100">
                <a:solidFill>
                  <a:srgbClr val="1B365D"/>
                </a:solidFill>
              </a:defRPr>
            </a:pPr>
            <a:r>
              <a:t>TECHNOLOGIES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Core Java
</a:t>
            </a:r>
            <a:r>
              <a:rPr sz="800">
                <a:solidFill>
                  <a:srgbClr val="64748B"/>
                </a:solidFill>
              </a:rPr>
              <a:t>  JDK 26 SE runtime, OOP principles, dynamic binding.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Design Patterns
</a:t>
            </a:r>
            <a:r>
              <a:rPr sz="800">
                <a:solidFill>
                  <a:srgbClr val="64748B"/>
                </a:solidFill>
              </a:rPr>
              <a:t>  Strategy Pattern (QuizEvaluator) &amp; Aggregation.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Exception Tree
</a:t>
            </a:r>
            <a:r>
              <a:rPr sz="800">
                <a:solidFill>
                  <a:srgbClr val="64748B"/>
                </a:solidFill>
              </a:rPr>
              <a:t>  5-tier custom checked exception hierarchy.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Collections
</a:t>
            </a:r>
            <a:r>
              <a:rPr sz="800">
                <a:solidFill>
                  <a:srgbClr val="64748B"/>
                </a:solidFill>
              </a:rPr>
              <a:t>  LinkedHashMap, ArrayList, and Map.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Java HttpServer
</a:t>
            </a:r>
            <a:r>
              <a:rPr sz="800">
                <a:solidFill>
                  <a:srgbClr val="64748B"/>
                </a:solidFill>
              </a:rPr>
              <a:t>  Built-in com.sun.net.httpserver with zero external JARs.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Web Frontend
</a:t>
            </a:r>
            <a:r>
              <a:rPr sz="800">
                <a:solidFill>
                  <a:srgbClr val="64748B"/>
                </a:solidFill>
              </a:rPr>
              <a:t>  Modern HTML5, CSS3, and JavaScript Glassmorphism 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1: ABSTRACT CLASSES (QUESTION &amp; USER)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UML DOMAIN MODEL, ENCAPSULATED STATE &amp; FORCED SPECIALIZATION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7" name="Picture 6" descr="java_abstract_clas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10698480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CORE DOMAIN MODEL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Abstract Base Class: Question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Why Abstract Class?: </a:t>
            </a:r>
            <a:r>
              <a:rPr>
                <a:solidFill>
                  <a:srgbClr val="334155"/>
                </a:solidFill>
              </a:rPr>
              <a:t>Encapsulates shared fields (id, marks, topic, difficulty) and displayHeader(), but cannot be instantiated directly without choice logic.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Pure Abstract Methods: </a:t>
            </a:r>
            <a:r>
              <a:rPr>
                <a:solidFill>
                  <a:srgbClr val="334155"/>
                </a:solidFill>
              </a:rPr>
              <a:t>abstract void displayQuestion(); abstract boolean checkAnswer(String ans) throws InvalidOptionException; abstract String getCorrectAnswerFormatted();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Subclass Archetypes: </a:t>
            </a:r>
            <a:r>
              <a:rPr>
                <a:solidFill>
                  <a:srgbClr val="334155"/>
                </a:solidFill>
              </a:rPr>
              <a:t>MultipleChoiceQuestion (A-D options), TrueFalseQuestion (Boolean T/F), NumericQuestion (tolerance delta).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INHERITANCE &amp; DASHBOARDS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Subclasses &amp; User Hierarchy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Abstract Class: User: </a:t>
            </a:r>
            <a:r>
              <a:rPr>
                <a:solidFill>
                  <a:srgbClr val="334155"/>
                </a:solidFill>
              </a:rPr>
              <a:t>Encapsulates common user identity (userId, name, email) and enforces abstract void displayDashboard();.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Student (Subclass): </a:t>
            </a:r>
            <a:r>
              <a:rPr>
                <a:solidFill>
                  <a:srgbClr val="334155"/>
                </a:solidFill>
              </a:rPr>
              <a:t>Overrides displayDashboard() displaying total attempts, average percentage, and attempt history records.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Instructor (Subclass): </a:t>
            </a:r>
            <a:r>
              <a:rPr>
                <a:solidFill>
                  <a:srgbClr val="334155"/>
                </a:solidFill>
              </a:rPr>
              <a:t>Overrides displayDashboard() displaying faculty designation, department, and authoring permissions.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2: INTERFACES &amp; STRATEGY PATTERN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BEHAVIORAL CONTRACTS &amp; RUNTIME SCORING DECOUPLING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5</a:t>
            </a:r>
          </a:p>
        </p:txBody>
      </p:sp>
      <p:pic>
        <p:nvPicPr>
          <p:cNvPr id="7" name="Picture 6" descr="java_strategy_patter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10698480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CRUD LIFECYCLE CONTRACT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Interface: QuizOperations (Lifecycle Contract)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Contract Definition: </a:t>
            </a:r>
            <a:r>
              <a:rPr>
                <a:solidFill>
                  <a:srgbClr val="334155"/>
                </a:solidFill>
              </a:rPr>
              <a:t>Defines createQuiz, addQuestionToQuiz, getQuiz, searchQuiz, deleteQuiz without coupling to persistence.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Checked Exceptions: </a:t>
            </a:r>
            <a:r>
              <a:rPr>
                <a:solidFill>
                  <a:srgbClr val="334155"/>
                </a:solidFill>
              </a:rPr>
              <a:t>Declares checked exceptions in signatures (throws QuizNotFoundException, DuplicateQuizException).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Service Implementation: </a:t>
            </a:r>
            <a:r>
              <a:rPr>
                <a:solidFill>
                  <a:srgbClr val="334155"/>
                </a:solidFill>
              </a:rPr>
              <a:t>Implemented by QuizManager using Collections Framework (LinkedHashMap and ArrayList).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INTERCHANGEABLE GRADING STRATEGIES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Interface: QuizEvaluator (Pluggable Strategies)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The Strategy Design Pattern: </a:t>
            </a:r>
            <a:r>
              <a:rPr>
                <a:solidFill>
                  <a:srgbClr val="334155"/>
                </a:solidFill>
              </a:rPr>
              <a:t>Decouples scoring logic from test conduction. Injected dynamically at runtime based on exam type.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StandardGradingPolicy: </a:t>
            </a:r>
            <a:r>
              <a:rPr>
                <a:solidFill>
                  <a:srgbClr val="334155"/>
                </a:solidFill>
              </a:rPr>
              <a:t>Linear scoring (100% correct, 0% penalty) for regular university internal assessments.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NegativeMarkingGradingPolicy: </a:t>
            </a:r>
            <a:r>
              <a:rPr>
                <a:solidFill>
                  <a:srgbClr val="334155"/>
                </a:solidFill>
              </a:rPr>
              <a:t>Competitive exam scoring (25% deduction for incorrect answers), satisfying the Open/Closed Principle.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3: POLYMORPHISM IN ACTION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DYNAMIC METHOD DISPATCH (vtable) &amp; STATIC METHOD OVERLOADING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7" name="Picture 6" descr="java_polymorphis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10698480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DYNAMIC BINDING (VTABLE)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Runtime Polymorphism (Dynamic Method Dispatch)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Dynamic Question Dispatch: </a:t>
            </a:r>
            <a:r>
              <a:rPr>
                <a:solidFill>
                  <a:srgbClr val="334155"/>
                </a:solidFill>
              </a:rPr>
              <a:t>Iterating List&lt;Question&gt;: q.displayQuestion() and q.checkAnswer() dynamically resolve to MCQ, TrueFalse, or Numeric via JVM vtable.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Interface Strategy Dispatch: </a:t>
            </a:r>
            <a:r>
              <a:rPr>
                <a:solidFill>
                  <a:srgbClr val="334155"/>
                </a:solidFill>
              </a:rPr>
              <a:t>QuizEvaluator evaluator = (mode == 1) ? new StandardGradingPolicy() : new NegativeMarkingGradingPolicy(); evaluator.evaluateScore(attempt);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Dashboard Dispatch: </a:t>
            </a:r>
            <a:r>
              <a:rPr>
                <a:solidFill>
                  <a:srgbClr val="334155"/>
                </a:solidFill>
              </a:rPr>
              <a:t>User userRef = currentStudent; userRef.displayDashboard(); dynamically binds to Student's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STATIC BINDING / OVERLOADING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Compile-Time Polymorphism (Method Overloading)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Overloaded searchQuiz: </a:t>
            </a:r>
            <a:r>
              <a:rPr>
                <a:solidFill>
                  <a:srgbClr val="334155"/>
                </a:solidFill>
              </a:rPr>
              <a:t>searchQuiz(String topic); filters by topic; searchQuiz(String topic, DifficultyLevel level); filters topic &amp; difficulty.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Overloaded readInteger: </a:t>
            </a:r>
            <a:r>
              <a:rPr>
                <a:solidFill>
                  <a:srgbClr val="334155"/>
                </a:solidFill>
              </a:rPr>
              <a:t>readInteger(scanner, prompt); and bounded readInteger(scanner, prompt, min, max); in InputValidator.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Overloaded evaluateScore: </a:t>
            </a:r>
            <a:r>
              <a:rPr>
                <a:solidFill>
                  <a:srgbClr val="334155"/>
                </a:solidFill>
              </a:rPr>
              <a:t>evaluateScore(QuizAttempt) vs evaluateScore(earnedMarks, incorrectCount, penaltyPerIncorrect).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4: EXCEPTION HANDLING HIERARCHY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CUSTOM CHECKED EXCEPTIONS &amp; DEFENSIVE EXECUTION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7</a:t>
            </a:r>
          </a:p>
        </p:txBody>
      </p:sp>
      <p:pic>
        <p:nvPicPr>
          <p:cNvPr id="7" name="Picture 6" descr="java_exception_tre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10698480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CUSTOM EXCEPTION TREE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Custom Checked Exception Hierarchy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Root: QuizException: </a:t>
            </a:r>
            <a:r>
              <a:rPr>
                <a:solidFill>
                  <a:srgbClr val="334155"/>
                </a:solidFill>
              </a:rPr>
              <a:t>Extends java.lang.Exception. Root checked exception for domain integrity.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QuizNotFoundException: </a:t>
            </a:r>
            <a:r>
              <a:rPr>
                <a:solidFill>
                  <a:srgbClr val="334155"/>
                </a:solidFill>
              </a:rPr>
              <a:t>Thrown when accessing or deleting an unmapped Quiz ID (e.g. 'GHOST-404').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DuplicateQuizException: </a:t>
            </a:r>
            <a:r>
              <a:rPr>
                <a:solidFill>
                  <a:srgbClr val="334155"/>
                </a:solidFill>
              </a:rPr>
              <a:t>Thrown when faculty attempts to register a duplicate ID (e.g. 'JAVA-OOP').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InvalidOptionException: </a:t>
            </a:r>
            <a:r>
              <a:rPr>
                <a:solidFill>
                  <a:srgbClr val="334155"/>
                </a:solidFill>
              </a:rPr>
              <a:t>Thrown when a student provides an out-of-range option (e.g. 'Z' on MCQ or text in numeric).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EmptyQuizException: </a:t>
            </a:r>
            <a:r>
              <a:rPr>
                <a:solidFill>
                  <a:srgbClr val="334155"/>
                </a:solidFill>
              </a:rPr>
              <a:t>Thrown if an attempt is made to conduct a quiz containing zero questions.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FAULT-TOLERANT EXECUTION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Structured Try-Catch-Finally Architecture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The 'try' Block: </a:t>
            </a:r>
            <a:r>
              <a:rPr>
                <a:solidFill>
                  <a:srgbClr val="334155"/>
                </a:solidFill>
              </a:rPr>
              <a:t>Isolates critical operations: reading console inputs, invoking domain services, and validating student answers.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The 'catch' Block: </a:t>
            </a:r>
            <a:r>
              <a:rPr>
                <a:solidFill>
                  <a:srgbClr val="334155"/>
                </a:solidFill>
              </a:rPr>
              <a:t>Intercepts specific checked exceptions, prints clear diagnostic recovery guidance, and re-prompts without terminating.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The 'finally' Block: </a:t>
            </a:r>
            <a:r>
              <a:rPr>
                <a:solidFill>
                  <a:srgbClr val="334155"/>
                </a:solidFill>
              </a:rPr>
              <a:t>Guaranteed execution regardless of exception or normal completion: manages graceful resource shutdown and audit confirmation logs.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Defensive Input Handling: </a:t>
            </a:r>
            <a:r>
              <a:rPr>
                <a:solidFill>
                  <a:srgbClr val="334155"/>
                </a:solidFill>
              </a:rPr>
              <a:t>InputValidator wraps NumberFormatException, guaranteeing zero console crashes.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FEASIBILITY, VIABILITY &amp; EDUCATIONAL VERIFICATION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INFRASTRUCTURE READINESS, SCALABILITY &amp; ACADEMIC VALUE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FEASIBILITY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FEASIBILITY ANALYSIS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Zero External Dependencies: </a:t>
            </a:r>
            <a:r>
              <a:rPr>
                <a:solidFill>
                  <a:srgbClr val="334155"/>
                </a:solidFill>
              </a:rPr>
              <a:t>Built strictly with standard Java SE (JDK 8–26). No Maven/Gradle or third-party JARs required.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Dual-Mode Deployability: </a:t>
            </a:r>
            <a:r>
              <a:rPr>
                <a:solidFill>
                  <a:srgbClr val="334155"/>
                </a:solidFill>
              </a:rPr>
              <a:t>Runs seamlessly in terminal console (run.bat) or modern web browser (run_web.bat) via embedded HttpServer.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Cross-Platform Portability: </a:t>
            </a:r>
            <a:r>
              <a:rPr>
                <a:solidFill>
                  <a:srgbClr val="334155"/>
                </a:solidFill>
              </a:rPr>
              <a:t>Executes identically on Windows, Linux, and macOS runtimes.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Faculty Time Efficiency: </a:t>
            </a:r>
            <a:r>
              <a:rPr>
                <a:solidFill>
                  <a:srgbClr val="334155"/>
                </a:solidFill>
              </a:rPr>
              <a:t>Eliminates 100% of manual grading time and scorecard calculation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VIABILITY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VIABILITY &amp; TRUST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Proven Design Patterns: </a:t>
            </a:r>
            <a:r>
              <a:rPr>
                <a:solidFill>
                  <a:srgbClr val="334155"/>
                </a:solidFill>
              </a:rPr>
              <a:t>Builds on industry-standard Strategy Pattern and SOLID Object-Oriented principles.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Zero-Crash Guarantee: </a:t>
            </a:r>
            <a:r>
              <a:rPr>
                <a:solidFill>
                  <a:srgbClr val="334155"/>
                </a:solidFill>
              </a:rPr>
              <a:t>Defensive input validation prevents fatal session terminations on typographical mistakes.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Accountability &amp; Audits: </a:t>
            </a:r>
            <a:r>
              <a:rPr>
                <a:solidFill>
                  <a:srgbClr val="334155"/>
                </a:solidFill>
              </a:rPr>
              <a:t>Comprehensive question-by-question breakdown provides transparent verification for students.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Academic Alignment: </a:t>
            </a:r>
            <a:r>
              <a:rPr>
                <a:solidFill>
                  <a:srgbClr val="334155"/>
                </a:solidFill>
              </a:rPr>
              <a:t>100% compliant with SPPU / AIT Pune BIT25434A0X course outcomes (CO3, CO4).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EDUCATIONAL IMPACT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ACADEMIC POTENTIAL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Multi-Age Demographics: </a:t>
            </a:r>
            <a:r>
              <a:rPr>
                <a:solidFill>
                  <a:srgbClr val="334155"/>
                </a:solidFill>
              </a:rPr>
              <a:t>Serves 4 distinct learner tiers: Kids (8-12), Teens (13-17), College (18-22), and Pro (20+).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Department-Wide Scalability: </a:t>
            </a:r>
            <a:r>
              <a:rPr>
                <a:solidFill>
                  <a:srgbClr val="334155"/>
                </a:solidFill>
              </a:rPr>
              <a:t>Easily adoptable across all departments at Army Institute of Technology, Pune.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Competitive Exam Prep: </a:t>
            </a:r>
            <a:r>
              <a:rPr>
                <a:solidFill>
                  <a:srgbClr val="334155"/>
                </a:solidFill>
              </a:rPr>
              <a:t>Prepares engineering students for GATE / TCS NQT competitive negative marking examinations.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Extensible Roadmap: </a:t>
            </a:r>
            <a:r>
              <a:rPr>
                <a:solidFill>
                  <a:srgbClr val="334155"/>
                </a:solidFill>
              </a:rPr>
              <a:t>Provides an ideal prototype foundation for Phase 2/3 MySQL database and Spring Boot integration.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IMPACT AND BENEFITS: TRADITIONAL VS JAVA QUIZ SYSTEM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SYSTEM PERFORMANCE BENCHMARKS &amp; VALUE PROPOSITION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9</a:t>
            </a:r>
          </a:p>
        </p:txBody>
      </p:sp>
      <p:pic>
        <p:nvPicPr>
          <p:cNvPr id="7" name="Picture 6" descr="quiz_benefits_whee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438912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03520" y="1463040"/>
            <a:ext cx="61264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/>
          <a:lstStyle/>
          <a:p>
            <a:pPr algn="ctr">
              <a:spcAft>
                <a:spcPts val="10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ACADEMIC SCREENING: CURRENT VS ONLINE QUIZ SYSTEM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Grading Accuracy — </a:t>
            </a:r>
            <a:r>
              <a:rPr sz="900" b="1">
                <a:solidFill>
                  <a:srgbClr val="DC2626"/>
                </a:solidFill>
              </a:rPr>
              <a:t>[Manual: 70%] </a:t>
            </a:r>
            <a:r>
              <a:rPr sz="900" b="1">
                <a:solidFill>
                  <a:srgbClr val="16A34A"/>
                </a:solidFill>
              </a:rPr>
              <a:t>➔ [With Java System: 100%]
</a:t>
            </a:r>
            <a:r>
              <a:rPr sz="800">
                <a:solidFill>
                  <a:srgbClr val="64748B"/>
                </a:solidFill>
              </a:rPr>
              <a:t>   Human error vs Automated mathematical precision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Result Turnaround — </a:t>
            </a:r>
            <a:r>
              <a:rPr sz="900" b="1">
                <a:solidFill>
                  <a:srgbClr val="DC2626"/>
                </a:solidFill>
              </a:rPr>
              <a:t>[Manual: 3 to 7 Days] </a:t>
            </a:r>
            <a:r>
              <a:rPr sz="900" b="1">
                <a:solidFill>
                  <a:srgbClr val="16A34A"/>
                </a:solidFill>
              </a:rPr>
              <a:t>➔ [With Java System: &lt; 1 Second]
</a:t>
            </a:r>
            <a:r>
              <a:rPr sz="800">
                <a:solidFill>
                  <a:srgbClr val="64748B"/>
                </a:solidFill>
              </a:rPr>
              <a:t>   Paper collection vs Instant scorecard generation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Crash / Failure Rate — </a:t>
            </a:r>
            <a:r>
              <a:rPr sz="900" b="1">
                <a:solidFill>
                  <a:srgbClr val="DC2626"/>
                </a:solidFill>
              </a:rPr>
              <a:t>[Manual: 40% (Fatal)] </a:t>
            </a:r>
            <a:r>
              <a:rPr sz="900" b="1">
                <a:solidFill>
                  <a:srgbClr val="16A34A"/>
                </a:solidFill>
              </a:rPr>
              <a:t>➔ [With Java System: 0% (Immune)]
</a:t>
            </a:r>
            <a:r>
              <a:rPr sz="800">
                <a:solidFill>
                  <a:srgbClr val="64748B"/>
                </a:solidFill>
              </a:rPr>
              <a:t>   Typos crash app vs 5-tier exception recovery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Grading Flexibility — </a:t>
            </a:r>
            <a:r>
              <a:rPr sz="900" b="1">
                <a:solidFill>
                  <a:srgbClr val="DC2626"/>
                </a:solidFill>
              </a:rPr>
              <a:t>[Manual: Rigid Linear] </a:t>
            </a:r>
            <a:r>
              <a:rPr sz="900" b="1">
                <a:solidFill>
                  <a:srgbClr val="16A34A"/>
                </a:solidFill>
              </a:rPr>
              <a:t>➔ [With Java System: Dual Dynamic]
</a:t>
            </a:r>
            <a:r>
              <a:rPr sz="800">
                <a:solidFill>
                  <a:srgbClr val="64748B"/>
                </a:solidFill>
              </a:rPr>
              <a:t>   Single format vs Standard + Negative Marking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Performance Feedback — </a:t>
            </a:r>
            <a:r>
              <a:rPr sz="900" b="1">
                <a:solidFill>
                  <a:srgbClr val="DC2626"/>
                </a:solidFill>
              </a:rPr>
              <a:t>[Manual: Score Only] </a:t>
            </a:r>
            <a:r>
              <a:rPr sz="900" b="1">
                <a:solidFill>
                  <a:srgbClr val="16A34A"/>
                </a:solidFill>
              </a:rPr>
              <a:t>➔ [With Java System: Granular Audit]
</a:t>
            </a:r>
            <a:r>
              <a:rPr sz="800">
                <a:solidFill>
                  <a:srgbClr val="64748B"/>
                </a:solidFill>
              </a:rPr>
              <a:t>   Minimal review vs Question-by-question breakdown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Faculty Workload — </a:t>
            </a:r>
            <a:r>
              <a:rPr sz="900" b="1">
                <a:solidFill>
                  <a:srgbClr val="DC2626"/>
                </a:solidFill>
              </a:rPr>
              <a:t>[Manual: 15+ Hours] </a:t>
            </a:r>
            <a:r>
              <a:rPr sz="900" b="1">
                <a:solidFill>
                  <a:srgbClr val="16A34A"/>
                </a:solidFill>
              </a:rPr>
              <a:t>➔ [With Java System: Automated]
</a:t>
            </a:r>
            <a:r>
              <a:rPr sz="800">
                <a:solidFill>
                  <a:srgbClr val="64748B"/>
                </a:solidFill>
              </a:rPr>
              <a:t>   Manual grading burden vs Instant report tabulation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SYSTEM IMPLEMENTATION &amp; DEMONSTRATION HIGHLIGHTS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TRIPLE DELIVERY MODES &amp; REAL-TIME DEMONSTRATION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CONSOLE CLI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Mode 1: Interactive Terminal CLI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Launcher Script: </a:t>
            </a:r>
            <a:r>
              <a:rPr>
                <a:solidFill>
                  <a:srgbClr val="334155"/>
                </a:solidFill>
              </a:rPr>
              <a:t>run.bat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Pure Core Java: </a:t>
            </a:r>
            <a:r>
              <a:rPr>
                <a:solidFill>
                  <a:srgbClr val="334155"/>
                </a:solidFill>
              </a:rPr>
              <a:t>Works directly in Windows Command Prompt without external dependencies.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Diverse Library: </a:t>
            </a:r>
            <a:r>
              <a:rPr>
                <a:solidFill>
                  <a:srgbClr val="334155"/>
                </a:solidFill>
              </a:rPr>
              <a:t>9 pre-loaded quizzes across 4 age demographics with tabular age display.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Graceful Recovery: </a:t>
            </a:r>
            <a:r>
              <a:rPr>
                <a:solidFill>
                  <a:srgbClr val="334155"/>
                </a:solidFill>
              </a:rPr>
              <a:t>Try entering 'Z' on MCQ question 1 — system alerts and re-prompts.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Detailed Audit: </a:t>
            </a:r>
            <a:r>
              <a:rPr>
                <a:solidFill>
                  <a:srgbClr val="334155"/>
                </a:solidFill>
              </a:rPr>
              <a:t>Generates full item-by-item breakdown with earned marks and letter 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WEB BROWSER UI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Mode 2: Modern Web Application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Launcher Script: </a:t>
            </a:r>
            <a:r>
              <a:rPr>
                <a:solidFill>
                  <a:srgbClr val="334155"/>
                </a:solidFill>
              </a:rPr>
              <a:t>run_web.bat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Embedded Server: </a:t>
            </a:r>
            <a:r>
              <a:rPr>
                <a:solidFill>
                  <a:srgbClr val="334155"/>
                </a:solidFill>
              </a:rPr>
              <a:t>Custom QuizWebServer built using standard com.sun.net.httpserver.HttpServer.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Multi-Age Filter: </a:t>
            </a:r>
            <a:r>
              <a:rPr>
                <a:solidFill>
                  <a:srgbClr val="334155"/>
                </a:solidFill>
              </a:rPr>
              <a:t>Dynamic toolbar dropdown filters Kids, Teens, College, and Competitive Pro quizzes.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Interactive UI: </a:t>
            </a:r>
            <a:r>
              <a:rPr>
                <a:solidFill>
                  <a:srgbClr val="334155"/>
                </a:solidFill>
              </a:rPr>
              <a:t>10-minute live countdown timer, radio options, instant scorecard modal.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Faculty Panel: </a:t>
            </a:r>
            <a:r>
              <a:rPr>
                <a:solidFill>
                  <a:srgbClr val="334155"/>
                </a:solidFill>
              </a:rPr>
              <a:t>Dynamic modals to create multi-age quizzes, append questions, and view scorecards.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AUTOMATED TEST HARNESS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Mode 3: Automated Test Matrix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Launcher Script: </a:t>
            </a:r>
            <a:r>
              <a:rPr>
                <a:solidFill>
                  <a:srgbClr val="334155"/>
                </a:solidFill>
              </a:rPr>
              <a:t>run_tests.bat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Examiner Suite: </a:t>
            </a:r>
            <a:r>
              <a:rPr>
                <a:solidFill>
                  <a:srgbClr val="334155"/>
                </a:solidFill>
              </a:rPr>
              <a:t>Designed specifically for the 8-10 minute CIE-2 viva demonstration.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Concept Proof 1: </a:t>
            </a:r>
            <a:r>
              <a:rPr>
                <a:solidFill>
                  <a:srgbClr val="334155"/>
                </a:solidFill>
              </a:rPr>
              <a:t>Executes runtime polymorphism across MCQ, True/False, and Numeric questions.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Concept Proof 2: </a:t>
            </a:r>
            <a:r>
              <a:rPr>
                <a:solidFill>
                  <a:srgbClr val="334155"/>
                </a:solidFill>
              </a:rPr>
              <a:t>Compares Standard vs Negative Marking on identical test attempts.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Concept Proof 3: </a:t>
            </a:r>
            <a:r>
              <a:rPr>
                <a:solidFill>
                  <a:srgbClr val="334155"/>
                </a:solidFill>
              </a:rPr>
              <a:t>Systematically triggers and catches all 5 custom exceptions with try-catch-finally traces.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INDIVIDUAL CONTRIBUTION &amp; WORK ALLOCATION (SE IT B)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EXPLICIT RUBRIC RESPONSIBILITY MATRIX &amp; CLASS ASSIGNMENT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TEAM MEMBER (IT B)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Aditya Yadav (Roll No: 8108)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Assigned Role: </a:t>
            </a:r>
            <a:r>
              <a:rPr>
                <a:solidFill>
                  <a:srgbClr val="334155"/>
                </a:solidFill>
              </a:rPr>
              <a:t>Group Leader &amp; System Architect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Core Ownership: </a:t>
            </a:r>
            <a:r>
              <a:rPr>
                <a:solidFill>
                  <a:srgbClr val="334155"/>
                </a:solidFill>
              </a:rPr>
              <a:t>abstract class Question, abstract class User, Quiz aggregation model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Implementation: </a:t>
            </a:r>
            <a:r>
              <a:rPr>
                <a:solidFill>
                  <a:srgbClr val="334155"/>
                </a:solidFill>
              </a:rPr>
              <a:t>Encapsulated shared state, validated constructor bounds, defined abstract displayQuestion() &amp; checkAnswer() signatures.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Viva Defense Focus: </a:t>
            </a:r>
            <a:r>
              <a:rPr>
                <a:solidFill>
                  <a:srgbClr val="334155"/>
                </a:solidFill>
              </a:rPr>
              <a:t>Why use an abstract class? What is the difference between an abstract class and an interface?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TEAM MEMBER (IT B)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Abhishekh Singh (Roll No: 8104)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Assigned Role: </a:t>
            </a:r>
            <a:r>
              <a:rPr>
                <a:solidFill>
                  <a:srgbClr val="334155"/>
                </a:solidFill>
              </a:rPr>
              <a:t>Polymorphic Question Specialist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Core Ownership: </a:t>
            </a:r>
            <a:r>
              <a:rPr>
                <a:solidFill>
                  <a:srgbClr val="334155"/>
                </a:solidFill>
              </a:rPr>
              <a:t>MultipleChoiceQuestion, TrueFalseQuestion, NumericQuestion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Implementation: </a:t>
            </a:r>
            <a:r>
              <a:rPr>
                <a:solidFill>
                  <a:srgbClr val="334155"/>
                </a:solidFill>
              </a:rPr>
              <a:t>Implemented specialized option parsing (A–D), boolean validation (T/F), and mathematical floating-point tolerance delta comparisons.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Viva Defense Focus: </a:t>
            </a:r>
            <a:r>
              <a:rPr>
                <a:solidFill>
                  <a:srgbClr val="334155"/>
                </a:solidFill>
              </a:rPr>
              <a:t>Where is runtime polymorphism used? How does dynamic method dispatch resolve method calls via JVM vtable?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TEAM MEMBER (IT B)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Priyam Raj (Roll No: 8134)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Assigned Role: </a:t>
            </a:r>
            <a:r>
              <a:rPr>
                <a:solidFill>
                  <a:srgbClr val="334155"/>
                </a:solidFill>
              </a:rPr>
              <a:t>Service &amp; Strategy Pattern Engineer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Core Ownership: </a:t>
            </a:r>
            <a:r>
              <a:rPr>
                <a:solidFill>
                  <a:srgbClr val="334155"/>
                </a:solidFill>
              </a:rPr>
              <a:t>QuizOperations, QuizEvaluator, StandardGradingPolicy, NegativeMarkingGradingPolicy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Implementation: </a:t>
            </a:r>
            <a:r>
              <a:rPr>
                <a:solidFill>
                  <a:srgbClr val="334155"/>
                </a:solidFill>
              </a:rPr>
              <a:t>Architected Strategy Pattern for interchangeable linear vs 25% negative marking scoring models and letter grade generation (O, A+, A, B, F).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Viva Defense Focus: </a:t>
            </a:r>
            <a:r>
              <a:rPr>
                <a:solidFill>
                  <a:srgbClr val="334155"/>
                </a:solidFill>
              </a:rPr>
              <a:t>Why create the QuizEvaluator interface? How does it satisfy the Open/Closed Principle?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77639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TEAM MEMBER (IT B)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Utkarsh Chauhan (Roll No: 8154)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Assigned Role: </a:t>
            </a:r>
            <a:r>
              <a:rPr>
                <a:solidFill>
                  <a:srgbClr val="334155"/>
                </a:solidFill>
              </a:rPr>
              <a:t>Quality Assurance &amp; Exception Architect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Core Ownership: </a:t>
            </a:r>
            <a:r>
              <a:rPr>
                <a:solidFill>
                  <a:srgbClr val="334155"/>
                </a:solidFill>
              </a:rPr>
              <a:t>QuizException tree (5 checked exceptions), InputValidator, Automated Test Suite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Implementation: </a:t>
            </a:r>
            <a:r>
              <a:rPr>
                <a:solidFill>
                  <a:srgbClr val="334155"/>
                </a:solidFill>
              </a:rPr>
              <a:t>Engineered domain checked exceptions, try-catch-finally handlers, scanner buffer clearing, and the automated test harness (run_tests.bat).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Viva Defense Focus: </a:t>
            </a:r>
            <a:r>
              <a:rPr>
                <a:solidFill>
                  <a:srgbClr val="334155"/>
                </a:solidFill>
              </a:rPr>
              <a:t>What exceptions can occur and how are they handled? What is the purpose of try, catch, and finally?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CONTINUOUS PROJECT ROADMAP &amp; ACADEMIC REFERENCES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EXPANSION PHASES &amp; OFFICIAL COURSE CITATIONS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CONTINUOUS PROJECT PLAN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Ongoing Mini-Project Roadmap (CIE-2 Phase 1 to Phase 3 Expansion)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Phase 1 (Completed for CIE-2): </a:t>
            </a:r>
            <a:r>
              <a:rPr>
                <a:solidFill>
                  <a:srgbClr val="334155"/>
                </a:solidFill>
              </a:rPr>
              <a:t>Core Java OOP Prototype with Abstract Classes, Interfaces, Polymorphism, and 5-tier Custom Exceptions.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Phase 2 (Project Enhancement): </a:t>
            </a:r>
            <a:r>
              <a:rPr>
                <a:solidFill>
                  <a:srgbClr val="334155"/>
                </a:solidFill>
              </a:rPr>
              <a:t>Replace in-memory LinkedHashMap with Java Object Serialization or File I/O; add advanced Java Streams filtering.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Phase 3 (Full Mini-Project Expansion): </a:t>
            </a:r>
            <a:r>
              <a:rPr>
                <a:solidFill>
                  <a:srgbClr val="334155"/>
                </a:solidFill>
              </a:rPr>
              <a:t>JDBC connectivity with MySQL / PostgreSQL, Spring Boot REST migration, Multithreaded question timers (ScheduledExecutorService), and exportable PDF certificates.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10698480" cy="2560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82880"/>
          <a:lstStyle/>
          <a:p>
            <a:pPr algn="ctr">
              <a:spcAft>
                <a:spcPts val="800"/>
              </a:spcAft>
              <a:defRPr b="1" sz="1200">
                <a:solidFill>
                  <a:srgbClr val="EA580C"/>
                </a:solidFill>
              </a:defRPr>
            </a:pPr>
            <a:r>
              <a:t>OFFICIAL COURSE REFERENCES &amp; CITATIONS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Savitribai Phule Pune University (SPPU): </a:t>
            </a:r>
            <a:r>
              <a:rPr sz="950">
                <a:solidFill>
                  <a:srgbClr val="E2E8F0"/>
                </a:solidFill>
              </a:rPr>
              <a:t>Second Year Information Technology Syllabus (2024 Pattern) • Course: Skill Development Laboratory using Java (BIT25434A0X).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Army Institute of Technology, Pune (AIT): </a:t>
            </a:r>
            <a:r>
              <a:rPr sz="950">
                <a:solidFill>
                  <a:srgbClr val="E2E8F0"/>
                </a:solidFill>
              </a:rPr>
              <a:t>Continuous Internal Evaluation (CIE-2) Group Activity Instructions, Problem Allocation &amp; Evaluation Rubric (Mrs. Trupti Najan).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Oracle Corporation: </a:t>
            </a:r>
            <a:r>
              <a:rPr sz="950">
                <a:solidFill>
                  <a:srgbClr val="E2E8F0"/>
                </a:solidFill>
              </a:rPr>
              <a:t>The Java Language Specification (Java SE 26 Edition) • Concepts: Inheritance, Polymorphic Dispatch, Interfaces, and Exception Handling.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Design Patterns (Gang of Four): </a:t>
            </a:r>
            <a:r>
              <a:rPr sz="950">
                <a:solidFill>
                  <a:srgbClr val="E2E8F0"/>
                </a:solidFill>
              </a:rPr>
              <a:t>Elements of Reusable Object-Oriented Software • Behavioral Strategy Pattern for decoupled scoring and Open/Closed extensibility.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