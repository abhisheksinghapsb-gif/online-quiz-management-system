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ARMY INSTITUTE OF TECHNOLOGY, PUNE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DEPARTMENT OF INFORMATION TECHNOLOGY • SKILL DEVELOPMENT LAB (BIT25434A0X)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57200"/>
            <a:ext cx="1097280" cy="1097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737360"/>
            <a:ext cx="62179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600"/>
              </a:spcAft>
            </a:pPr>
            <a:r>
              <a:rPr b="1" sz="1100">
                <a:solidFill>
                  <a:srgbClr val="1B365D"/>
                </a:solidFill>
              </a:rPr>
              <a:t>• Project Title — </a:t>
            </a:r>
            <a:r>
              <a:rPr sz="1050" b="1">
                <a:solidFill>
                  <a:srgbClr val="2563EB"/>
                </a:solidFill>
              </a:rPr>
              <a:t>ONLINE QUIZ MANAGEMENT SYSTEM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B365D"/>
                </a:solidFill>
              </a:rPr>
              <a:t>• Assessment &amp; Mode — </a:t>
            </a:r>
            <a:r>
              <a:rPr sz="1050">
                <a:solidFill>
                  <a:srgbClr val="0F172A"/>
                </a:solidFill>
              </a:rPr>
              <a:t>CIE–2: Java Problem Solving (Unit III &amp; IV) | 20 Marks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B365D"/>
                </a:solidFill>
              </a:rPr>
              <a:t>• Course Name &amp; Code — </a:t>
            </a:r>
            <a:r>
              <a:rPr sz="1050">
                <a:solidFill>
                  <a:srgbClr val="0F172A"/>
                </a:solidFill>
              </a:rPr>
              <a:t>Skill Development Laboratory using Java (BIT25434A0X)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B365D"/>
                </a:solidFill>
              </a:rPr>
              <a:t>• Class &amp; Division — </a:t>
            </a:r>
            <a:r>
              <a:rPr sz="1050">
                <a:solidFill>
                  <a:srgbClr val="0F172A"/>
                </a:solidFill>
              </a:rPr>
              <a:t>SE IT B (Academic Year 2026–2027)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B365D"/>
                </a:solidFill>
              </a:rPr>
              <a:t>• Course In-Charge / Examiner — </a:t>
            </a:r>
            <a:r>
              <a:rPr sz="1050">
                <a:solidFill>
                  <a:srgbClr val="0F172A"/>
                </a:solidFill>
              </a:rPr>
              <a:t>Mrs. Trupti Najan (Assistant Professor, Dept of IT)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B365D"/>
                </a:solidFill>
              </a:rPr>
              <a:t>• Project Team Members (Class: IT B) — </a:t>
            </a:r>
            <a:r>
              <a:rPr sz="1050">
                <a:solidFill>
                  <a:srgbClr val="0F172A"/>
                </a:solidFill>
              </a:rPr>
              <a:t>
      1. Aditya Yadav — Roll No: 8108 (Group Leader)
      2. Abhishekh Singh — Roll No: 8104
      3. Priyam Raj — Roll No: 8134
      4. Utkarsh Chauhan — Roll No: 8154</a:t>
            </a:r>
          </a:p>
        </p:txBody>
      </p:sp>
      <p:pic>
        <p:nvPicPr>
          <p:cNvPr id="7" name="Picture 6" descr="quiz_tech_b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73736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ONLINE QUIZ SYSTEM: AUTOMATED &amp; ROBUST ACADEMIC ASSESSMENT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PROBLEM STATEMENT, CORE INNOVATION &amp; RISK-SOLUTION MATRIX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840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ACADEMIC PROBLEM STATEMENT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Real-World Problem &amp; Core Solution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REAL-WORLD ISSUE — </a:t>
            </a:r>
            <a:r>
              <a:rPr sz="900">
                <a:solidFill>
                  <a:srgbClr val="0F172A"/>
                </a:solidFill>
                <a:latin typeface="Arial"/>
              </a:rPr>
              <a:t>Colleges face heavy administrative overhead conducting manual paper tests. Subjective evaluation leads to grading delays, human scoring errors, and lack of immediate student performance analytics.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WHY IMPORTANT — </a:t>
            </a:r>
            <a:r>
              <a:rPr sz="900">
                <a:solidFill>
                  <a:srgbClr val="0F172A"/>
                </a:solidFill>
                <a:latin typeface="Arial"/>
              </a:rPr>
              <a:t>Faculty spend 15+ hours grading internal tests. Commercial tools fail on rigid formats, lack dual grading strategies (Standard vs Negative), and crash completely on typographic user input errors.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SOLUTION — </a:t>
            </a:r>
            <a:r>
              <a:rPr sz="900">
                <a:solidFill>
                  <a:srgbClr val="0F172A"/>
                </a:solidFill>
                <a:latin typeface="Arial"/>
              </a:rPr>
              <a:t>A modular Core Java assessment framework incorporating Unit III (Abstract Classes, Interfaces, Polymorphism) and Unit IV (5-tier Custom Checked Exceptions) for zero-crash immunity and instant scorecards.</a:t>
            </a:r>
          </a:p>
        </p:txBody>
      </p:sp>
      <p:pic>
        <p:nvPicPr>
          <p:cNvPr id="8" name="Picture 7" descr="quiz_core_inno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63040"/>
            <a:ext cx="3931920" cy="4754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69680" y="1463040"/>
            <a:ext cx="25603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OPERATIONAL RISK  ➔  TECHNICAL SOLUTION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Risk Mitigation Strategy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Risk: Input Mismatches / Typos — </a:t>
            </a:r>
            <a:r>
              <a:rPr sz="800">
                <a:solidFill>
                  <a:srgbClr val="0F172A"/>
                </a:solidFill>
                <a:latin typeface="Arial"/>
              </a:rPr>
              <a:t>Student enters non-numeric or illegal chars like 'Z' crashing console.
➔ Solution: 5-Tier Custom Exceptions
try-catch InvalidOptionException catches format, prompts retry safely.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Risk: Rigid Single-Format Que — </a:t>
            </a:r>
            <a:r>
              <a:rPr sz="800">
                <a:solidFill>
                  <a:srgbClr val="0F172A"/>
                </a:solidFill>
                <a:latin typeface="Arial"/>
              </a:rPr>
              <a:t>Traditional apps only allow standard single-type multiple choice.
➔ Solution: Polymorphic Archetypes
Abstract Question extended by MCQ, TrueFalse, and NumericQuestion.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Risk: Inflexible Scoring Rules — </a:t>
            </a:r>
            <a:r>
              <a:rPr sz="800">
                <a:solidFill>
                  <a:srgbClr val="0F172A"/>
                </a:solidFill>
                <a:latin typeface="Arial"/>
              </a:rPr>
              <a:t>University linear grading vs competitive exams require different math.
➔ Solution: Pluggable Strategy Pattern
QuizEvaluator swaps Standard vs 25% Negative Marking dynamically.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TECHNICAL APPROACH &amp; IMPLEMENTATION METHODOLOGY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PROCESS LIFECYCLE, PIPELINE STAGES &amp; ARCHITECTURE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926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PIPELINE STAGES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6-Stage Assessment Pipeline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[1] Multi-Tier Quiz Ingestion — </a:t>
            </a:r>
            <a:r>
              <a:rPr sz="850">
                <a:solidFill>
                  <a:srgbClr val="0F172A"/>
                </a:solidFill>
                <a:latin typeface="Arial"/>
              </a:rPr>
              <a:t>Validates unique ID, age demographic &amp; questionCount &gt; 0.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[2] Strategy Configuration — </a:t>
            </a:r>
            <a:r>
              <a:rPr sz="850">
                <a:solidFill>
                  <a:srgbClr val="0F172A"/>
                </a:solidFill>
                <a:latin typeface="Arial"/>
              </a:rPr>
              <a:t>Injects Standard or Competitive 25% negative marking.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[3] Dynamic Question Dispatch — </a:t>
            </a:r>
            <a:r>
              <a:rPr sz="850">
                <a:solidFill>
                  <a:srgbClr val="0F172A"/>
                </a:solidFill>
                <a:latin typeface="Arial"/>
              </a:rPr>
              <a:t>Iterates List&lt;Question&gt; invoking subclass display.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[4] Defensive Input Interception — </a:t>
            </a:r>
            <a:r>
              <a:rPr sz="850">
                <a:solidFill>
                  <a:srgbClr val="0F172A"/>
                </a:solidFill>
                <a:latin typeface="Arial"/>
              </a:rPr>
              <a:t>Guards parsing with try-catch InvalidOptionException.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[5] Strategy Evaluation — </a:t>
            </a:r>
            <a:r>
              <a:rPr sz="850">
                <a:solidFill>
                  <a:srgbClr val="0F172A"/>
                </a:solidFill>
                <a:latin typeface="Arial"/>
              </a:rPr>
              <a:t>Calculates net scores, percentages, and letter grades.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[6] Scorecard &amp; Audit Generation — </a:t>
            </a:r>
            <a:r>
              <a:rPr sz="850">
                <a:solidFill>
                  <a:srgbClr val="0F172A"/>
                </a:solidFill>
                <a:latin typeface="Arial"/>
              </a:rPr>
              <a:t>Generates detailed question-by-question breakdown.</a:t>
            </a:r>
          </a:p>
        </p:txBody>
      </p:sp>
      <p:pic>
        <p:nvPicPr>
          <p:cNvPr id="8" name="Picture 7" descr="quiz_process_workf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463040"/>
            <a:ext cx="4389120" cy="4754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463040"/>
            <a:ext cx="30175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DUAL-MODE EXECUTION MODEL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Execution Runtimes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Terminal CLI (run.bat) — </a:t>
            </a:r>
            <a:r>
              <a:rPr sz="800">
                <a:solidFill>
                  <a:srgbClr val="0F172A"/>
                </a:solidFill>
                <a:latin typeface="Arial"/>
              </a:rPr>
              <a:t>Interactive ANSI boxed console interface.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Web Application (run_web.bat) — </a:t>
            </a:r>
            <a:r>
              <a:rPr sz="800">
                <a:solidFill>
                  <a:srgbClr val="0F172A"/>
                </a:solidFill>
                <a:latin typeface="Arial"/>
              </a:rPr>
              <a:t>Embedded Java HttpServer at http://localhost:8080.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Automated Test Suite (run_tests.bat) — </a:t>
            </a:r>
            <a:r>
              <a:rPr sz="800">
                <a:solidFill>
                  <a:srgbClr val="0F172A"/>
                </a:solidFill>
                <a:latin typeface="Arial"/>
              </a:rPr>
              <a:t>60-second test harness for live viva demonstration.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3657600"/>
            <a:ext cx="30175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TECHNOLOGIES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Core Stack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Core Java — </a:t>
            </a:r>
            <a:r>
              <a:rPr sz="800">
                <a:solidFill>
                  <a:srgbClr val="0F172A"/>
                </a:solidFill>
                <a:latin typeface="Arial"/>
              </a:rPr>
              <a:t>JDK 26 SE runtime, OOP principles, dynamic binding.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Design Patterns — </a:t>
            </a:r>
            <a:r>
              <a:rPr sz="800">
                <a:solidFill>
                  <a:srgbClr val="0F172A"/>
                </a:solidFill>
                <a:latin typeface="Arial"/>
              </a:rPr>
              <a:t>Strategy Pattern (QuizEvaluator) &amp; Aggregation.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Exception Tree — </a:t>
            </a:r>
            <a:r>
              <a:rPr sz="800">
                <a:solidFill>
                  <a:srgbClr val="0F172A"/>
                </a:solidFill>
                <a:latin typeface="Arial"/>
              </a:rPr>
              <a:t>5-tier custom checked exception hierarchy.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Collections — </a:t>
            </a:r>
            <a:r>
              <a:rPr sz="800">
                <a:solidFill>
                  <a:srgbClr val="0F172A"/>
                </a:solidFill>
                <a:latin typeface="Arial"/>
              </a:rPr>
              <a:t>LinkedHashMap, ArrayList, and Map.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Java HttpServer — </a:t>
            </a:r>
            <a:r>
              <a:rPr sz="800">
                <a:solidFill>
                  <a:srgbClr val="0F172A"/>
                </a:solidFill>
                <a:latin typeface="Arial"/>
              </a:rPr>
              <a:t>Built-in com.sun.net.httpserver with zero external JARs.</a:t>
            </a:r>
          </a:p>
          <a:p>
            <a:pPr>
              <a:spcAft>
                <a:spcPts val="300"/>
              </a:spcAft>
            </a:pPr>
            <a:r>
              <a:rPr b="1" sz="800">
                <a:solidFill>
                  <a:srgbClr val="0F172A"/>
                </a:solidFill>
                <a:latin typeface="Arial"/>
              </a:rPr>
              <a:t>Web Frontend — </a:t>
            </a:r>
            <a:r>
              <a:rPr sz="800">
                <a:solidFill>
                  <a:srgbClr val="0F172A"/>
                </a:solidFill>
                <a:latin typeface="Arial"/>
              </a:rPr>
              <a:t>Modern HTML5, CSS3, and JavaScript Glassmorphism 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1: ABSTRACT CLASSES (QUESTION &amp; USER)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UML DOMAIN MODEL, ENCAPSULATED STATE &amp; FORCED SPECIALIZATION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7" name="Picture 6" descr="java_abstract_clas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146304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CORE DOMAIN MODEL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Abstract Base Class: Question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Why Abstract Class? — </a:t>
            </a:r>
            <a:r>
              <a:rPr sz="850">
                <a:solidFill>
                  <a:srgbClr val="0F172A"/>
                </a:solidFill>
                <a:latin typeface="Arial"/>
              </a:rPr>
              <a:t>Encapsulates shared fields (id, marks, topic, difficulty) and displayHeader(), but cannot be instantiated directly without choice logic.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Pure Abstract Methods — </a:t>
            </a:r>
            <a:r>
              <a:rPr sz="850">
                <a:solidFill>
                  <a:srgbClr val="0F172A"/>
                </a:solidFill>
                <a:latin typeface="Arial"/>
              </a:rPr>
              <a:t>abstract void displayQuestion(); abstract boolean checkAnswer(String ans) throws InvalidOptionException; abstract String getCorrectAnswerFormatted();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Subclass Archetypes — </a:t>
            </a:r>
            <a:r>
              <a:rPr sz="850">
                <a:solidFill>
                  <a:srgbClr val="0F172A"/>
                </a:solidFill>
                <a:latin typeface="Arial"/>
              </a:rPr>
              <a:t>MultipleChoiceQuestion (A-D options), TrueFalseQuestion (Boolean T/F), NumericQuestion (tolerance delta).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88620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INHERITANCE &amp; DASHBOARDS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Subclasses &amp; User Hierarchy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Abstract Class: User — </a:t>
            </a:r>
            <a:r>
              <a:rPr sz="850">
                <a:solidFill>
                  <a:srgbClr val="0F172A"/>
                </a:solidFill>
                <a:latin typeface="Arial"/>
              </a:rPr>
              <a:t>Encapsulates common user identity (userId, name, email) and enforces abstract void displayDashboard();.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Student (Subclass) — </a:t>
            </a:r>
            <a:r>
              <a:rPr sz="850">
                <a:solidFill>
                  <a:srgbClr val="0F172A"/>
                </a:solidFill>
                <a:latin typeface="Arial"/>
              </a:rPr>
              <a:t>Overrides displayDashboard() displaying total attempts, average percentage, and attempt history records.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Instructor (Subclass) — </a:t>
            </a:r>
            <a:r>
              <a:rPr sz="850">
                <a:solidFill>
                  <a:srgbClr val="0F172A"/>
                </a:solidFill>
                <a:latin typeface="Arial"/>
              </a:rPr>
              <a:t>Overrides displayDashboard() displaying faculty designation, department, and authoring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2: INTERFACES &amp; STRATEGY PATTERN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BEHAVIORAL CONTRACTS &amp; RUNTIME SCORING DECOUPLING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7" name="Picture 6" descr="java_strategy_patter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146304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CRUD LIFECYCLE CONTRACT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Interface: QuizOperations (Lifecycle Contract)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Contract Definition — </a:t>
            </a:r>
            <a:r>
              <a:rPr sz="850">
                <a:solidFill>
                  <a:srgbClr val="0F172A"/>
                </a:solidFill>
                <a:latin typeface="Arial"/>
              </a:rPr>
              <a:t>Defines createQuiz, addQuestionToQuiz, getQuiz, searchQuiz, deleteQuiz without coupling to persistence.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Checked Exceptions — </a:t>
            </a:r>
            <a:r>
              <a:rPr sz="850">
                <a:solidFill>
                  <a:srgbClr val="0F172A"/>
                </a:solidFill>
                <a:latin typeface="Arial"/>
              </a:rPr>
              <a:t>Declares checked exceptions in signatures (throws QuizNotFoundException, DuplicateQuizException).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Service Implementation — </a:t>
            </a:r>
            <a:r>
              <a:rPr sz="850">
                <a:solidFill>
                  <a:srgbClr val="0F172A"/>
                </a:solidFill>
                <a:latin typeface="Arial"/>
              </a:rPr>
              <a:t>Implemented by QuizManager using Collections Framework (LinkedHashMap and ArrayList).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88620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INTERCHANGEABLE GRADING STRATEGIES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Interface: QuizEvaluator (Pluggable Strategies)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The Strategy Design Pattern — </a:t>
            </a:r>
            <a:r>
              <a:rPr sz="850">
                <a:solidFill>
                  <a:srgbClr val="0F172A"/>
                </a:solidFill>
                <a:latin typeface="Arial"/>
              </a:rPr>
              <a:t>Decouples scoring logic from test conduction. Injected dynamically at runtime based on exam type.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StandardGradingPolicy — </a:t>
            </a:r>
            <a:r>
              <a:rPr sz="850">
                <a:solidFill>
                  <a:srgbClr val="0F172A"/>
                </a:solidFill>
                <a:latin typeface="Arial"/>
              </a:rPr>
              <a:t>Linear scoring (100% correct, 0% penalty) for regular university internal assessments.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NegativeMarkingGradingPolicy — </a:t>
            </a:r>
            <a:r>
              <a:rPr sz="850">
                <a:solidFill>
                  <a:srgbClr val="0F172A"/>
                </a:solidFill>
                <a:latin typeface="Arial"/>
              </a:rPr>
              <a:t>Competitive exam scoring (25% deduction for incorrect answers), satisfying the Open/Closed Principle.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3: POLYMORPHISM IN ACTION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DYNAMIC METHOD DISPATCH (vtable) &amp; STATIC METHOD OVERLOADING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java_polymorphis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146304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DYNAMIC BINDING (VTABLE)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Runtime Polymorphism (Dynamic Method Dispatch)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Dynamic Question Dispatch — </a:t>
            </a:r>
            <a:r>
              <a:rPr sz="850">
                <a:solidFill>
                  <a:srgbClr val="0F172A"/>
                </a:solidFill>
                <a:latin typeface="Arial"/>
              </a:rPr>
              <a:t>Iterating List&lt;Question&gt;: q.displayQuestion() and q.checkAnswer() dynamically resolve to MCQ, TrueFalse, or Numeric via JVM vtable.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Interface Strategy Dispatch — </a:t>
            </a:r>
            <a:r>
              <a:rPr sz="850">
                <a:solidFill>
                  <a:srgbClr val="0F172A"/>
                </a:solidFill>
                <a:latin typeface="Arial"/>
              </a:rPr>
              <a:t>QuizEvaluator evaluator = (mode == 1) ? new StandardGradingPolicy() : new NegativeMarkingGradingPolicy(); evaluator.evaluateScore(attempt);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Dashboard Dispatch — </a:t>
            </a:r>
            <a:r>
              <a:rPr sz="850">
                <a:solidFill>
                  <a:srgbClr val="0F172A"/>
                </a:solidFill>
                <a:latin typeface="Arial"/>
              </a:rPr>
              <a:t>User userRef = currentStudent; userRef.displayDashboard(); dynamically binds to Student's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88620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STATIC BINDING / OVERLOADING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Compile-Time Polymorphism (Method Overloading)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Overloaded searchQuiz — </a:t>
            </a:r>
            <a:r>
              <a:rPr sz="850">
                <a:solidFill>
                  <a:srgbClr val="0F172A"/>
                </a:solidFill>
                <a:latin typeface="Arial"/>
              </a:rPr>
              <a:t>searchQuiz(String topic); filters by topic; searchQuiz(String topic, DifficultyLevel level); filters topic &amp; difficulty.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Overloaded readInteger — </a:t>
            </a:r>
            <a:r>
              <a:rPr sz="850">
                <a:solidFill>
                  <a:srgbClr val="0F172A"/>
                </a:solidFill>
                <a:latin typeface="Arial"/>
              </a:rPr>
              <a:t>readInteger(scanner, prompt); and bounded readInteger(scanner, prompt, min, max); in InputValidator.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Overloaded evaluateScore — </a:t>
            </a:r>
            <a:r>
              <a:rPr sz="850">
                <a:solidFill>
                  <a:srgbClr val="0F172A"/>
                </a:solidFill>
                <a:latin typeface="Arial"/>
              </a:rPr>
              <a:t>evaluateScore(QuizAttempt) vs evaluateScore(earnedMarks, incorrectCount, penaltyPerIncorrect).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CORE JAVA CONCEPT 4: EXCEPTION HANDLING HIERARCHY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CUSTOM CHECKED EXCEPTIONS &amp; DEFENSIVE EXECUTION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7</a:t>
            </a:r>
          </a:p>
        </p:txBody>
      </p:sp>
      <p:pic>
        <p:nvPicPr>
          <p:cNvPr id="7" name="Picture 6" descr="java_exception_tre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146304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CUSTOM EXCEPTION TREE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Custom Checked Exception Hierarchy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Root: QuizException — </a:t>
            </a:r>
            <a:r>
              <a:rPr sz="850">
                <a:solidFill>
                  <a:srgbClr val="0F172A"/>
                </a:solidFill>
                <a:latin typeface="Arial"/>
              </a:rPr>
              <a:t>Extends java.lang.Exception. Root checked exception for domain integrity.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QuizNotFoundException — </a:t>
            </a:r>
            <a:r>
              <a:rPr sz="850">
                <a:solidFill>
                  <a:srgbClr val="0F172A"/>
                </a:solidFill>
                <a:latin typeface="Arial"/>
              </a:rPr>
              <a:t>Thrown when accessing or deleting an unmapped Quiz ID (e.g. 'GHOST-404').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DuplicateQuizException — </a:t>
            </a:r>
            <a:r>
              <a:rPr sz="850">
                <a:solidFill>
                  <a:srgbClr val="0F172A"/>
                </a:solidFill>
                <a:latin typeface="Arial"/>
              </a:rPr>
              <a:t>Thrown when faculty attempts to register a duplicate ID (e.g. 'JAVA-OOP').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InvalidOptionException — </a:t>
            </a:r>
            <a:r>
              <a:rPr sz="850">
                <a:solidFill>
                  <a:srgbClr val="0F172A"/>
                </a:solidFill>
                <a:latin typeface="Arial"/>
              </a:rPr>
              <a:t>Thrown when a student provides an out-of-range option (e.g. 'Z' on MCQ or text in numeric).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EmptyQuizException — </a:t>
            </a:r>
            <a:r>
              <a:rPr sz="850">
                <a:solidFill>
                  <a:srgbClr val="0F172A"/>
                </a:solidFill>
                <a:latin typeface="Arial"/>
              </a:rPr>
              <a:t>Thrown if an attempt is made to conduct a quiz containing zero questions.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886200"/>
            <a:ext cx="42976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FAULT-TOLERANT EXECUTION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Structured Try-Catch-Finally Architecture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The 'try' Block — </a:t>
            </a:r>
            <a:r>
              <a:rPr sz="850">
                <a:solidFill>
                  <a:srgbClr val="0F172A"/>
                </a:solidFill>
                <a:latin typeface="Arial"/>
              </a:rPr>
              <a:t>Isolates critical operations: reading console inputs, invoking domain services, and validating student answers.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The 'catch' Block — </a:t>
            </a:r>
            <a:r>
              <a:rPr sz="850">
                <a:solidFill>
                  <a:srgbClr val="0F172A"/>
                </a:solidFill>
                <a:latin typeface="Arial"/>
              </a:rPr>
              <a:t>Intercepts specific checked exceptions, prints clear diagnostic recovery guidance, and re-prompts without terminating.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The 'finally' Block — </a:t>
            </a:r>
            <a:r>
              <a:rPr sz="850">
                <a:solidFill>
                  <a:srgbClr val="0F172A"/>
                </a:solidFill>
                <a:latin typeface="Arial"/>
              </a:rPr>
              <a:t>Guaranteed execution regardless of exception or normal completion: manages graceful resource shutdown and audit confirmation logs.</a:t>
            </a:r>
          </a:p>
          <a:p>
            <a:pPr>
              <a:spcAft>
                <a:spcPts val="300"/>
              </a:spcAft>
            </a:pPr>
            <a:r>
              <a:rPr b="1" sz="850">
                <a:solidFill>
                  <a:srgbClr val="0F172A"/>
                </a:solidFill>
                <a:latin typeface="Arial"/>
              </a:rPr>
              <a:t>Defensive Input Handling — </a:t>
            </a:r>
            <a:r>
              <a:rPr sz="850">
                <a:solidFill>
                  <a:srgbClr val="0F172A"/>
                </a:solidFill>
                <a:latin typeface="Arial"/>
              </a:rPr>
              <a:t>InputValidator wraps NumberFormatException, guaranteeing zero console crashes.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FEASIBILITY, VIABILITY &amp; EDUCATIONAL VERIFICATION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INFRASTRUCTURE READINESS, SCALABILITY &amp; ACADEMIC VALUE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FEASIBILITY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FEASIBILITY ANALYSIS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Zero External Dependencies — </a:t>
            </a:r>
            <a:r>
              <a:rPr sz="900">
                <a:solidFill>
                  <a:srgbClr val="0F172A"/>
                </a:solidFill>
                <a:latin typeface="Arial"/>
              </a:rPr>
              <a:t>Built strictly with standard Java SE (JDK 8–26). No Maven/Gradle or third-party JARs required.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Dual-Mode Deployability — </a:t>
            </a:r>
            <a:r>
              <a:rPr sz="900">
                <a:solidFill>
                  <a:srgbClr val="0F172A"/>
                </a:solidFill>
                <a:latin typeface="Arial"/>
              </a:rPr>
              <a:t>Runs seamlessly in terminal console (run.bat) or modern web browser (run_web.bat) via embedded HttpServer.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Cross-Platform Portability — </a:t>
            </a:r>
            <a:r>
              <a:rPr sz="900">
                <a:solidFill>
                  <a:srgbClr val="0F172A"/>
                </a:solidFill>
                <a:latin typeface="Arial"/>
              </a:rPr>
              <a:t>Executes identically on Windows, Linux, and macOS runtimes.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Faculty Time Efficiency — </a:t>
            </a:r>
            <a:r>
              <a:rPr sz="900">
                <a:solidFill>
                  <a:srgbClr val="0F172A"/>
                </a:solidFill>
                <a:latin typeface="Arial"/>
              </a:rPr>
              <a:t>Eliminates 100% of manual grading time and scorecard calculation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VIABILITY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VIABILITY &amp; TRUST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Proven Design Patterns — </a:t>
            </a:r>
            <a:r>
              <a:rPr sz="900">
                <a:solidFill>
                  <a:srgbClr val="0F172A"/>
                </a:solidFill>
                <a:latin typeface="Arial"/>
              </a:rPr>
              <a:t>Builds on industry-standard Strategy Pattern and SOLID Object-Oriented principles.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Zero-Crash Guarantee — </a:t>
            </a:r>
            <a:r>
              <a:rPr sz="900">
                <a:solidFill>
                  <a:srgbClr val="0F172A"/>
                </a:solidFill>
                <a:latin typeface="Arial"/>
              </a:rPr>
              <a:t>Defensive input validation prevents fatal session terminations on typographical mistakes.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Accountability &amp; Audits — </a:t>
            </a:r>
            <a:r>
              <a:rPr sz="900">
                <a:solidFill>
                  <a:srgbClr val="0F172A"/>
                </a:solidFill>
                <a:latin typeface="Arial"/>
              </a:rPr>
              <a:t>Comprehensive question-by-question breakdown provides transparent verification for students.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Academic Alignment — </a:t>
            </a:r>
            <a:r>
              <a:rPr sz="900">
                <a:solidFill>
                  <a:srgbClr val="0F172A"/>
                </a:solidFill>
                <a:latin typeface="Arial"/>
              </a:rPr>
              <a:t>100% compliant with SPPU / AIT Pune BIT25434A0X course outcomes (CO3, CO4).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EDUCATIONAL IMPACT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ACADEMIC POTENTIAL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Multi-Age Demographics — </a:t>
            </a:r>
            <a:r>
              <a:rPr sz="900">
                <a:solidFill>
                  <a:srgbClr val="0F172A"/>
                </a:solidFill>
                <a:latin typeface="Arial"/>
              </a:rPr>
              <a:t>Serves 4 distinct learner tiers: Kids (8-12), Teens (13-17), College (18-22), and Pro (20+).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Department-Wide Scalability — </a:t>
            </a:r>
            <a:r>
              <a:rPr sz="900">
                <a:solidFill>
                  <a:srgbClr val="0F172A"/>
                </a:solidFill>
                <a:latin typeface="Arial"/>
              </a:rPr>
              <a:t>Easily adoptable across all departments at Army Institute of Technology, Pune.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Competitive Exam Prep — </a:t>
            </a:r>
            <a:r>
              <a:rPr sz="900">
                <a:solidFill>
                  <a:srgbClr val="0F172A"/>
                </a:solidFill>
                <a:latin typeface="Arial"/>
              </a:rPr>
              <a:t>Prepares engineering students for GATE / TCS NQT competitive negative marking examinations.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Extensible Roadmap — </a:t>
            </a:r>
            <a:r>
              <a:rPr sz="900">
                <a:solidFill>
                  <a:srgbClr val="0F172A"/>
                </a:solidFill>
                <a:latin typeface="Arial"/>
              </a:rPr>
              <a:t>Provides an ideal prototype foundation for Phase 2/3 MySQL database and Spring Boot integration.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IMPACT AND BENEFITS: TRADITIONAL VS JAVA QUIZ SYSTEM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SYSTEM PERFORMANCE BENCHMARKS &amp; VALUE PROPOSITION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9</a:t>
            </a:r>
          </a:p>
        </p:txBody>
      </p:sp>
      <p:pic>
        <p:nvPicPr>
          <p:cNvPr id="7" name="Picture 6" descr="quiz_benefits_whe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475488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607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EA580C"/>
                </a:solidFill>
              </a:defRPr>
            </a:pPr>
            <a:r>
              <a:t>ACADEMIC SCREENING: CURRENT VS ONLINE QUIZ SYSTEM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FFFF"/>
                </a:solidFill>
              </a:rPr>
              <a:t>Grading Accuracy — </a:t>
            </a:r>
            <a:r>
              <a:rPr sz="900">
                <a:solidFill>
                  <a:srgbClr val="16A34A"/>
                </a:solidFill>
              </a:rPr>
              <a:t>[Manual: 70%] ➔ [With Java System: 100%]
   </a:t>
            </a:r>
            <a:r>
              <a:rPr sz="850">
                <a:solidFill>
                  <a:srgbClr val="CBD5E1"/>
                </a:solidFill>
              </a:rPr>
              <a:t>Human error vs Automated mathematical precision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FFFF"/>
                </a:solidFill>
              </a:rPr>
              <a:t>Result Turnaround — </a:t>
            </a:r>
            <a:r>
              <a:rPr sz="900">
                <a:solidFill>
                  <a:srgbClr val="16A34A"/>
                </a:solidFill>
              </a:rPr>
              <a:t>[Manual: 3 to 7 Days] ➔ [With Java System: &lt; 1 Second]
   </a:t>
            </a:r>
            <a:r>
              <a:rPr sz="850">
                <a:solidFill>
                  <a:srgbClr val="CBD5E1"/>
                </a:solidFill>
              </a:rPr>
              <a:t>Paper collection vs Instant scorecard generation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FFFF"/>
                </a:solidFill>
              </a:rPr>
              <a:t>Crash / Failure Rate — </a:t>
            </a:r>
            <a:r>
              <a:rPr sz="900">
                <a:solidFill>
                  <a:srgbClr val="16A34A"/>
                </a:solidFill>
              </a:rPr>
              <a:t>[Manual: 40% (Fatal)] ➔ [With Java System: 0% (Immune)]
   </a:t>
            </a:r>
            <a:r>
              <a:rPr sz="850">
                <a:solidFill>
                  <a:srgbClr val="CBD5E1"/>
                </a:solidFill>
              </a:rPr>
              <a:t>Typos crash app vs 5-tier exception recovery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FFFF"/>
                </a:solidFill>
              </a:rPr>
              <a:t>Grading Flexibility — </a:t>
            </a:r>
            <a:r>
              <a:rPr sz="900">
                <a:solidFill>
                  <a:srgbClr val="2563EB"/>
                </a:solidFill>
              </a:rPr>
              <a:t>[Manual: Rigid Linear] ➔ [With Java System: Dual Dynamic]
   </a:t>
            </a:r>
            <a:r>
              <a:rPr sz="850">
                <a:solidFill>
                  <a:srgbClr val="CBD5E1"/>
                </a:solidFill>
              </a:rPr>
              <a:t>Single format vs Standard + Negative Marking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FFFF"/>
                </a:solidFill>
              </a:rPr>
              <a:t>Performance Feedback — </a:t>
            </a:r>
            <a:r>
              <a:rPr sz="900">
                <a:solidFill>
                  <a:srgbClr val="2563EB"/>
                </a:solidFill>
              </a:rPr>
              <a:t>[Manual: Score Only] ➔ [With Java System: Granular Audit]
   </a:t>
            </a:r>
            <a:r>
              <a:rPr sz="850">
                <a:solidFill>
                  <a:srgbClr val="CBD5E1"/>
                </a:solidFill>
              </a:rPr>
              <a:t>Minimal review vs Question-by-question breakdown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FFFFF"/>
                </a:solidFill>
              </a:rPr>
              <a:t>Faculty Workload — </a:t>
            </a:r>
            <a:r>
              <a:rPr sz="900">
                <a:solidFill>
                  <a:srgbClr val="2563EB"/>
                </a:solidFill>
              </a:rPr>
              <a:t>[Manual: 15+ Hours] ➔ [With Java System: Automated]
   </a:t>
            </a:r>
            <a:r>
              <a:rPr sz="850">
                <a:solidFill>
                  <a:srgbClr val="CBD5E1"/>
                </a:solidFill>
              </a:rPr>
              <a:t>Manual grading burden vs Instant report tabulation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SYSTEM IMPLEMENTATION &amp; DEMONSTRATION HIGHLIGHTS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TRIPLE DELIVERY MODES &amp; REAL-TIME DEMONSTRATION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CONSOLE CLI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1: Interactive Terminal CLI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Launcher Script — </a:t>
            </a:r>
            <a:r>
              <a:rPr sz="900">
                <a:solidFill>
                  <a:srgbClr val="0F172A"/>
                </a:solidFill>
                <a:latin typeface="Arial"/>
              </a:rPr>
              <a:t>run.bat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Pure Core Java — </a:t>
            </a:r>
            <a:r>
              <a:rPr sz="900">
                <a:solidFill>
                  <a:srgbClr val="0F172A"/>
                </a:solidFill>
                <a:latin typeface="Arial"/>
              </a:rPr>
              <a:t>Works directly in Windows Command Prompt without external dependencies.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Diverse Library — </a:t>
            </a:r>
            <a:r>
              <a:rPr sz="900">
                <a:solidFill>
                  <a:srgbClr val="0F172A"/>
                </a:solidFill>
                <a:latin typeface="Arial"/>
              </a:rPr>
              <a:t>9 pre-loaded quizzes across 4 age demographics with tabular age display.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Graceful Recovery — </a:t>
            </a:r>
            <a:r>
              <a:rPr sz="900">
                <a:solidFill>
                  <a:srgbClr val="0F172A"/>
                </a:solidFill>
                <a:latin typeface="Arial"/>
              </a:rPr>
              <a:t>Try entering 'Z' on MCQ question 1 — system alerts and re-prompts.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Detailed Audit — </a:t>
            </a:r>
            <a:r>
              <a:rPr sz="900">
                <a:solidFill>
                  <a:srgbClr val="0F172A"/>
                </a:solidFill>
                <a:latin typeface="Arial"/>
              </a:rPr>
              <a:t>Generates full item-by-item breakdown with earned marks and letter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WEB BROWSER UI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2: Modern Web Application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Launcher Script — </a:t>
            </a:r>
            <a:r>
              <a:rPr sz="900">
                <a:solidFill>
                  <a:srgbClr val="0F172A"/>
                </a:solidFill>
                <a:latin typeface="Arial"/>
              </a:rPr>
              <a:t>run_web.bat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Embedded Server — </a:t>
            </a:r>
            <a:r>
              <a:rPr sz="900">
                <a:solidFill>
                  <a:srgbClr val="0F172A"/>
                </a:solidFill>
                <a:latin typeface="Arial"/>
              </a:rPr>
              <a:t>Custom QuizWebServer built using standard com.sun.net.httpserver.HttpServer.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Multi-Age Filter — </a:t>
            </a:r>
            <a:r>
              <a:rPr sz="900">
                <a:solidFill>
                  <a:srgbClr val="0F172A"/>
                </a:solidFill>
                <a:latin typeface="Arial"/>
              </a:rPr>
              <a:t>Dynamic toolbar dropdown filters Kids, Teens, College, and Competitive Pro quizzes.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Interactive UI — </a:t>
            </a:r>
            <a:r>
              <a:rPr sz="900">
                <a:solidFill>
                  <a:srgbClr val="0F172A"/>
                </a:solidFill>
                <a:latin typeface="Arial"/>
              </a:rPr>
              <a:t>10-minute live countdown timer, radio options, instant scorecard modal.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Faculty Panel — </a:t>
            </a:r>
            <a:r>
              <a:rPr sz="900">
                <a:solidFill>
                  <a:srgbClr val="0F172A"/>
                </a:solidFill>
                <a:latin typeface="Arial"/>
              </a:rPr>
              <a:t>Dynamic modals to create multi-age quizzes, append questions, and view scorecards.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AUTOMATED TEST HARNESS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Mode 3: Automated Test Matrix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Launcher Script — </a:t>
            </a:r>
            <a:r>
              <a:rPr sz="900">
                <a:solidFill>
                  <a:srgbClr val="0F172A"/>
                </a:solidFill>
                <a:latin typeface="Arial"/>
              </a:rPr>
              <a:t>run_tests.bat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Examiner Suite — </a:t>
            </a:r>
            <a:r>
              <a:rPr sz="900">
                <a:solidFill>
                  <a:srgbClr val="0F172A"/>
                </a:solidFill>
                <a:latin typeface="Arial"/>
              </a:rPr>
              <a:t>Designed specifically for the 8-10 minute CIE-2 viva demonstration.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Concept Proof 1 — </a:t>
            </a:r>
            <a:r>
              <a:rPr sz="900">
                <a:solidFill>
                  <a:srgbClr val="0F172A"/>
                </a:solidFill>
                <a:latin typeface="Arial"/>
              </a:rPr>
              <a:t>Executes runtime polymorphism across MCQ, True/False, and Numeric questions.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Concept Proof 2 — </a:t>
            </a:r>
            <a:r>
              <a:rPr sz="900">
                <a:solidFill>
                  <a:srgbClr val="0F172A"/>
                </a:solidFill>
                <a:latin typeface="Arial"/>
              </a:rPr>
              <a:t>Compares Standard vs Negative Marking on identical test attempts.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Concept Proof 3 — </a:t>
            </a:r>
            <a:r>
              <a:rPr sz="900">
                <a:solidFill>
                  <a:srgbClr val="0F172A"/>
                </a:solidFill>
                <a:latin typeface="Arial"/>
              </a:rPr>
              <a:t>Systematically triggers and catches all 5 custom exceptions with try-catch-finally traces.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69848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9326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B365D"/>
                </a:solidFill>
                <a:latin typeface="Arial"/>
              </a:defRPr>
            </a:pPr>
            <a:r>
              <a:t>CONTINUOUS PROJECT ROADMAP &amp; ACADEMIC REFERENCES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EXPANSION PHASES &amp; OFFICIAL COURSE CITATIONS</a:t>
            </a:r>
          </a:p>
        </p:txBody>
      </p:sp>
      <p:pic>
        <p:nvPicPr>
          <p:cNvPr id="5" name="Picture 4" descr="ait_official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004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200"/>
              </a:spcAft>
              <a:defRPr sz="850" b="1">
                <a:solidFill>
                  <a:srgbClr val="2563EB"/>
                </a:solidFill>
                <a:latin typeface="Arial"/>
              </a:defRPr>
            </a:pPr>
            <a:r>
              <a:t>CONTINUOUS PROJECT PLAN</a:t>
            </a:r>
          </a:p>
          <a:p>
            <a:pPr>
              <a:spcAft>
                <a:spcPts val="4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Ongoing Mini-Project Roadmap (CIE-2 Phase 1 to Phase 3 Expansion)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Phase 1 (Completed for CIE-2) — </a:t>
            </a:r>
            <a:r>
              <a:rPr sz="900">
                <a:solidFill>
                  <a:srgbClr val="0F172A"/>
                </a:solidFill>
                <a:latin typeface="Arial"/>
              </a:rPr>
              <a:t>Core Java OOP Prototype with Abstract Classes, Interfaces, Polymorphism, and 5-tier Custom Exceptions.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Phase 2 (Project Enhancement) — </a:t>
            </a:r>
            <a:r>
              <a:rPr sz="900">
                <a:solidFill>
                  <a:srgbClr val="0F172A"/>
                </a:solidFill>
                <a:latin typeface="Arial"/>
              </a:rPr>
              <a:t>Replace in-memory LinkedHashMap with Java Object Serialization or File I/O; add advanced Java Streams filtering.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0F172A"/>
                </a:solidFill>
                <a:latin typeface="Arial"/>
              </a:rPr>
              <a:t>Phase 3 (Full Mini-Project Expansion) — </a:t>
            </a:r>
            <a:r>
              <a:rPr sz="900">
                <a:solidFill>
                  <a:srgbClr val="0F172A"/>
                </a:solidFill>
                <a:latin typeface="Arial"/>
              </a:rPr>
              <a:t>JDBC connectivity with MySQL / PostgreSQL, Spring Boot REST migration, Multithreaded question timers (ScheduledExecutorService), and exportable PDF certificates.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0698480" cy="2560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EA580C"/>
                </a:solidFill>
              </a:defRPr>
            </a:pPr>
            <a:r>
              <a:t>OFFICIAL COURSE REFERENCES &amp; CITATIONS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Savitribai Phule Pune University (SPPU): </a:t>
            </a:r>
            <a:r>
              <a:rPr sz="950">
                <a:solidFill>
                  <a:srgbClr val="E2E8F0"/>
                </a:solidFill>
              </a:rPr>
              <a:t>Second Year Information Technology Syllabus (2024 Pattern) • Course: Skill Development Laboratory using Java (BIT25434A0X).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Army Institute of Technology, Pune (AIT): </a:t>
            </a:r>
            <a:r>
              <a:rPr sz="950">
                <a:solidFill>
                  <a:srgbClr val="E2E8F0"/>
                </a:solidFill>
              </a:rPr>
              <a:t>Continuous Internal Evaluation (CIE-2) Group Activity Instructions, Problem Allocation &amp; Evaluation Rubric (Mrs. Trupti Najan).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Oracle Corporation: </a:t>
            </a:r>
            <a:r>
              <a:rPr sz="950">
                <a:solidFill>
                  <a:srgbClr val="E2E8F0"/>
                </a:solidFill>
              </a:rPr>
              <a:t>The Java Language Specification (Java SE 26 Edition) • Concepts: Inheritance, Polymorphic Dispatch, Interfaces, and Exception Handling.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60A5FA"/>
                </a:solidFill>
              </a:rPr>
              <a:t>➤ Design Patterns (Gang of Four): </a:t>
            </a:r>
            <a:r>
              <a:rPr sz="950">
                <a:solidFill>
                  <a:srgbClr val="E2E8F0"/>
                </a:solidFill>
              </a:rPr>
              <a:t>Elements of Reusable Object-Oriented Software • Behavioral Strategy Pattern for decoupled scoring and Open/Closed extensibility.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